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7" r:id="rId4"/>
    <p:sldId id="258" r:id="rId5"/>
    <p:sldId id="268" r:id="rId6"/>
    <p:sldId id="269" r:id="rId7"/>
    <p:sldId id="270" r:id="rId8"/>
    <p:sldId id="261" r:id="rId9"/>
    <p:sldId id="262" r:id="rId10"/>
    <p:sldId id="263" r:id="rId11"/>
    <p:sldId id="264" r:id="rId12"/>
    <p:sldId id="265" r:id="rId13"/>
    <p:sldId id="266" r:id="rId14"/>
    <p:sldId id="267" r:id="rId15"/>
    <p:sldId id="259" r:id="rId16"/>
    <p:sldId id="26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80" d="100"/>
          <a:sy n="80" d="100"/>
        </p:scale>
        <p:origin x="19"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AF0EE-22C6-0502-F832-4EA13673A50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8063571-5868-254C-2D07-2774AA0AAC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F41D93B-8A0F-295D-B3DB-63702CEE280B}"/>
              </a:ext>
            </a:extLst>
          </p:cNvPr>
          <p:cNvSpPr>
            <a:spLocks noGrp="1"/>
          </p:cNvSpPr>
          <p:nvPr>
            <p:ph type="dt" sz="half" idx="10"/>
          </p:nvPr>
        </p:nvSpPr>
        <p:spPr/>
        <p:txBody>
          <a:bodyPr/>
          <a:lstStyle/>
          <a:p>
            <a:fld id="{043151C4-D8F5-4FEF-B57B-8E3882B2C90D}" type="datetimeFigureOut">
              <a:rPr lang="en-US" smtClean="0"/>
              <a:t>5/27/2026</a:t>
            </a:fld>
            <a:endParaRPr lang="en-US"/>
          </a:p>
        </p:txBody>
      </p:sp>
      <p:sp>
        <p:nvSpPr>
          <p:cNvPr id="5" name="Footer Placeholder 4">
            <a:extLst>
              <a:ext uri="{FF2B5EF4-FFF2-40B4-BE49-F238E27FC236}">
                <a16:creationId xmlns:a16="http://schemas.microsoft.com/office/drawing/2014/main" id="{1CFD473F-D3C3-19F7-C0EB-A0483A701A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B321D2-B56F-4BC0-5D2B-968633593E27}"/>
              </a:ext>
            </a:extLst>
          </p:cNvPr>
          <p:cNvSpPr>
            <a:spLocks noGrp="1"/>
          </p:cNvSpPr>
          <p:nvPr>
            <p:ph type="sldNum" sz="quarter" idx="12"/>
          </p:nvPr>
        </p:nvSpPr>
        <p:spPr/>
        <p:txBody>
          <a:bodyPr/>
          <a:lstStyle/>
          <a:p>
            <a:fld id="{95926F0C-1358-4536-ACCE-08646B2FB075}" type="slidenum">
              <a:rPr lang="en-US" smtClean="0"/>
              <a:t>‹#›</a:t>
            </a:fld>
            <a:endParaRPr lang="en-US"/>
          </a:p>
        </p:txBody>
      </p:sp>
    </p:spTree>
    <p:extLst>
      <p:ext uri="{BB962C8B-B14F-4D97-AF65-F5344CB8AC3E}">
        <p14:creationId xmlns:p14="http://schemas.microsoft.com/office/powerpoint/2010/main" val="35989458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C67CD-DD56-EE2A-96F0-FC64E4026F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BE3A3B-659D-EB8B-4E38-0048823990A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1B6067-EFC4-D957-5CBA-B55F1191C53A}"/>
              </a:ext>
            </a:extLst>
          </p:cNvPr>
          <p:cNvSpPr>
            <a:spLocks noGrp="1"/>
          </p:cNvSpPr>
          <p:nvPr>
            <p:ph type="dt" sz="half" idx="10"/>
          </p:nvPr>
        </p:nvSpPr>
        <p:spPr/>
        <p:txBody>
          <a:bodyPr/>
          <a:lstStyle/>
          <a:p>
            <a:fld id="{043151C4-D8F5-4FEF-B57B-8E3882B2C90D}" type="datetimeFigureOut">
              <a:rPr lang="en-US" smtClean="0"/>
              <a:t>5/27/2026</a:t>
            </a:fld>
            <a:endParaRPr lang="en-US"/>
          </a:p>
        </p:txBody>
      </p:sp>
      <p:sp>
        <p:nvSpPr>
          <p:cNvPr id="5" name="Footer Placeholder 4">
            <a:extLst>
              <a:ext uri="{FF2B5EF4-FFF2-40B4-BE49-F238E27FC236}">
                <a16:creationId xmlns:a16="http://schemas.microsoft.com/office/drawing/2014/main" id="{9B03A365-387C-4EB5-1E81-C8DD5167F0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F68CC8-4AD0-62EF-DD72-17B7B2EA7018}"/>
              </a:ext>
            </a:extLst>
          </p:cNvPr>
          <p:cNvSpPr>
            <a:spLocks noGrp="1"/>
          </p:cNvSpPr>
          <p:nvPr>
            <p:ph type="sldNum" sz="quarter" idx="12"/>
          </p:nvPr>
        </p:nvSpPr>
        <p:spPr/>
        <p:txBody>
          <a:bodyPr/>
          <a:lstStyle/>
          <a:p>
            <a:fld id="{95926F0C-1358-4536-ACCE-08646B2FB075}" type="slidenum">
              <a:rPr lang="en-US" smtClean="0"/>
              <a:t>‹#›</a:t>
            </a:fld>
            <a:endParaRPr lang="en-US"/>
          </a:p>
        </p:txBody>
      </p:sp>
    </p:spTree>
    <p:extLst>
      <p:ext uri="{BB962C8B-B14F-4D97-AF65-F5344CB8AC3E}">
        <p14:creationId xmlns:p14="http://schemas.microsoft.com/office/powerpoint/2010/main" val="22679068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FB93F-4553-A079-D4A0-9F59DC4DF4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E3A6000-8F24-6AF5-2BE6-523D595768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11DAF9-2BA0-FB2E-0F69-E4ABB1F9EEAF}"/>
              </a:ext>
            </a:extLst>
          </p:cNvPr>
          <p:cNvSpPr>
            <a:spLocks noGrp="1"/>
          </p:cNvSpPr>
          <p:nvPr>
            <p:ph type="dt" sz="half" idx="10"/>
          </p:nvPr>
        </p:nvSpPr>
        <p:spPr/>
        <p:txBody>
          <a:bodyPr/>
          <a:lstStyle/>
          <a:p>
            <a:fld id="{043151C4-D8F5-4FEF-B57B-8E3882B2C90D}" type="datetimeFigureOut">
              <a:rPr lang="en-US" smtClean="0"/>
              <a:t>5/27/2026</a:t>
            </a:fld>
            <a:endParaRPr lang="en-US"/>
          </a:p>
        </p:txBody>
      </p:sp>
      <p:sp>
        <p:nvSpPr>
          <p:cNvPr id="5" name="Footer Placeholder 4">
            <a:extLst>
              <a:ext uri="{FF2B5EF4-FFF2-40B4-BE49-F238E27FC236}">
                <a16:creationId xmlns:a16="http://schemas.microsoft.com/office/drawing/2014/main" id="{8D1E9BEE-6EAF-167E-2B57-7F372C03C5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01CDCA-7B5F-8A52-7C1D-9583D7F0CFCB}"/>
              </a:ext>
            </a:extLst>
          </p:cNvPr>
          <p:cNvSpPr>
            <a:spLocks noGrp="1"/>
          </p:cNvSpPr>
          <p:nvPr>
            <p:ph type="sldNum" sz="quarter" idx="12"/>
          </p:nvPr>
        </p:nvSpPr>
        <p:spPr/>
        <p:txBody>
          <a:bodyPr/>
          <a:lstStyle/>
          <a:p>
            <a:fld id="{95926F0C-1358-4536-ACCE-08646B2FB075}" type="slidenum">
              <a:rPr lang="en-US" smtClean="0"/>
              <a:t>‹#›</a:t>
            </a:fld>
            <a:endParaRPr lang="en-US"/>
          </a:p>
        </p:txBody>
      </p:sp>
    </p:spTree>
    <p:extLst>
      <p:ext uri="{BB962C8B-B14F-4D97-AF65-F5344CB8AC3E}">
        <p14:creationId xmlns:p14="http://schemas.microsoft.com/office/powerpoint/2010/main" val="34820395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0009B-451B-17C0-8FBF-11624A424F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5D00C1-3C79-5DAC-F72E-5A4F5E99FF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329B6AC-261E-FFCC-C2B6-61D71CA037C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F69B93F-1002-F00D-1E0F-2AD03D5327D2}"/>
              </a:ext>
            </a:extLst>
          </p:cNvPr>
          <p:cNvSpPr>
            <a:spLocks noGrp="1"/>
          </p:cNvSpPr>
          <p:nvPr>
            <p:ph type="dt" sz="half" idx="10"/>
          </p:nvPr>
        </p:nvSpPr>
        <p:spPr/>
        <p:txBody>
          <a:bodyPr/>
          <a:lstStyle/>
          <a:p>
            <a:fld id="{043151C4-D8F5-4FEF-B57B-8E3882B2C90D}" type="datetimeFigureOut">
              <a:rPr lang="en-US" smtClean="0"/>
              <a:t>5/27/2026</a:t>
            </a:fld>
            <a:endParaRPr lang="en-US"/>
          </a:p>
        </p:txBody>
      </p:sp>
      <p:sp>
        <p:nvSpPr>
          <p:cNvPr id="6" name="Footer Placeholder 5">
            <a:extLst>
              <a:ext uri="{FF2B5EF4-FFF2-40B4-BE49-F238E27FC236}">
                <a16:creationId xmlns:a16="http://schemas.microsoft.com/office/drawing/2014/main" id="{4556C98A-4E01-7F21-7026-BBA362F6DC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98E4CF-1EFD-CB26-45B1-5ADA0B6CCB12}"/>
              </a:ext>
            </a:extLst>
          </p:cNvPr>
          <p:cNvSpPr>
            <a:spLocks noGrp="1"/>
          </p:cNvSpPr>
          <p:nvPr>
            <p:ph type="sldNum" sz="quarter" idx="12"/>
          </p:nvPr>
        </p:nvSpPr>
        <p:spPr/>
        <p:txBody>
          <a:bodyPr/>
          <a:lstStyle/>
          <a:p>
            <a:fld id="{95926F0C-1358-4536-ACCE-08646B2FB075}" type="slidenum">
              <a:rPr lang="en-US" smtClean="0"/>
              <a:t>‹#›</a:t>
            </a:fld>
            <a:endParaRPr lang="en-US"/>
          </a:p>
        </p:txBody>
      </p:sp>
    </p:spTree>
    <p:extLst>
      <p:ext uri="{BB962C8B-B14F-4D97-AF65-F5344CB8AC3E}">
        <p14:creationId xmlns:p14="http://schemas.microsoft.com/office/powerpoint/2010/main" val="3365595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CEA25-194F-2737-67A9-3A3DE618305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112F421-0EE2-34B1-BC6D-5F7A82BAD2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2B384F-60C2-4B09-8632-083CAE5094E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0BADE24-8E32-A23C-7944-504DE7EA2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24998C-7A11-386A-2481-0FB5A1A9E62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60F6D1-C2F1-8F0F-A10D-67F35527865E}"/>
              </a:ext>
            </a:extLst>
          </p:cNvPr>
          <p:cNvSpPr>
            <a:spLocks noGrp="1"/>
          </p:cNvSpPr>
          <p:nvPr>
            <p:ph type="dt" sz="half" idx="10"/>
          </p:nvPr>
        </p:nvSpPr>
        <p:spPr/>
        <p:txBody>
          <a:bodyPr/>
          <a:lstStyle/>
          <a:p>
            <a:fld id="{043151C4-D8F5-4FEF-B57B-8E3882B2C90D}" type="datetimeFigureOut">
              <a:rPr lang="en-US" smtClean="0"/>
              <a:t>5/27/2026</a:t>
            </a:fld>
            <a:endParaRPr lang="en-US"/>
          </a:p>
        </p:txBody>
      </p:sp>
      <p:sp>
        <p:nvSpPr>
          <p:cNvPr id="8" name="Footer Placeholder 7">
            <a:extLst>
              <a:ext uri="{FF2B5EF4-FFF2-40B4-BE49-F238E27FC236}">
                <a16:creationId xmlns:a16="http://schemas.microsoft.com/office/drawing/2014/main" id="{A6400634-B612-7E0B-B14C-D343B50DA78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0F991BF-F828-FF37-1C34-B033DE5CC49E}"/>
              </a:ext>
            </a:extLst>
          </p:cNvPr>
          <p:cNvSpPr>
            <a:spLocks noGrp="1"/>
          </p:cNvSpPr>
          <p:nvPr>
            <p:ph type="sldNum" sz="quarter" idx="12"/>
          </p:nvPr>
        </p:nvSpPr>
        <p:spPr/>
        <p:txBody>
          <a:bodyPr/>
          <a:lstStyle/>
          <a:p>
            <a:fld id="{95926F0C-1358-4536-ACCE-08646B2FB075}" type="slidenum">
              <a:rPr lang="en-US" smtClean="0"/>
              <a:t>‹#›</a:t>
            </a:fld>
            <a:endParaRPr lang="en-US"/>
          </a:p>
        </p:txBody>
      </p:sp>
    </p:spTree>
    <p:extLst>
      <p:ext uri="{BB962C8B-B14F-4D97-AF65-F5344CB8AC3E}">
        <p14:creationId xmlns:p14="http://schemas.microsoft.com/office/powerpoint/2010/main" val="1696378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6865E-CE81-20D0-1C72-4247D40926E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38F0CEC-7465-DB64-7767-1CDF50E22886}"/>
              </a:ext>
            </a:extLst>
          </p:cNvPr>
          <p:cNvSpPr>
            <a:spLocks noGrp="1"/>
          </p:cNvSpPr>
          <p:nvPr>
            <p:ph type="dt" sz="half" idx="10"/>
          </p:nvPr>
        </p:nvSpPr>
        <p:spPr/>
        <p:txBody>
          <a:bodyPr/>
          <a:lstStyle/>
          <a:p>
            <a:fld id="{043151C4-D8F5-4FEF-B57B-8E3882B2C90D}" type="datetimeFigureOut">
              <a:rPr lang="en-US" smtClean="0"/>
              <a:t>5/27/2026</a:t>
            </a:fld>
            <a:endParaRPr lang="en-US"/>
          </a:p>
        </p:txBody>
      </p:sp>
      <p:sp>
        <p:nvSpPr>
          <p:cNvPr id="4" name="Footer Placeholder 3">
            <a:extLst>
              <a:ext uri="{FF2B5EF4-FFF2-40B4-BE49-F238E27FC236}">
                <a16:creationId xmlns:a16="http://schemas.microsoft.com/office/drawing/2014/main" id="{39DC33EC-4C29-63AC-56ED-D4F69645BC9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53C5F94-86E3-9A51-E934-3C1DE1D12E90}"/>
              </a:ext>
            </a:extLst>
          </p:cNvPr>
          <p:cNvSpPr>
            <a:spLocks noGrp="1"/>
          </p:cNvSpPr>
          <p:nvPr>
            <p:ph type="sldNum" sz="quarter" idx="12"/>
          </p:nvPr>
        </p:nvSpPr>
        <p:spPr/>
        <p:txBody>
          <a:bodyPr/>
          <a:lstStyle/>
          <a:p>
            <a:fld id="{95926F0C-1358-4536-ACCE-08646B2FB075}" type="slidenum">
              <a:rPr lang="en-US" smtClean="0"/>
              <a:t>‹#›</a:t>
            </a:fld>
            <a:endParaRPr lang="en-US"/>
          </a:p>
        </p:txBody>
      </p:sp>
    </p:spTree>
    <p:extLst>
      <p:ext uri="{BB962C8B-B14F-4D97-AF65-F5344CB8AC3E}">
        <p14:creationId xmlns:p14="http://schemas.microsoft.com/office/powerpoint/2010/main" val="1989690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1BBDE4-9B4F-1FBF-91DF-F50D0D96B232}"/>
              </a:ext>
            </a:extLst>
          </p:cNvPr>
          <p:cNvSpPr>
            <a:spLocks noGrp="1"/>
          </p:cNvSpPr>
          <p:nvPr>
            <p:ph type="dt" sz="half" idx="10"/>
          </p:nvPr>
        </p:nvSpPr>
        <p:spPr/>
        <p:txBody>
          <a:bodyPr/>
          <a:lstStyle/>
          <a:p>
            <a:fld id="{043151C4-D8F5-4FEF-B57B-8E3882B2C90D}" type="datetimeFigureOut">
              <a:rPr lang="en-US" smtClean="0"/>
              <a:t>5/27/2026</a:t>
            </a:fld>
            <a:endParaRPr lang="en-US"/>
          </a:p>
        </p:txBody>
      </p:sp>
      <p:sp>
        <p:nvSpPr>
          <p:cNvPr id="3" name="Footer Placeholder 2">
            <a:extLst>
              <a:ext uri="{FF2B5EF4-FFF2-40B4-BE49-F238E27FC236}">
                <a16:creationId xmlns:a16="http://schemas.microsoft.com/office/drawing/2014/main" id="{FEFCBB62-AADB-B58A-DDF5-168B4BFDDC8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5EE7E79-A620-AA62-AB06-56C7BE723572}"/>
              </a:ext>
            </a:extLst>
          </p:cNvPr>
          <p:cNvSpPr>
            <a:spLocks noGrp="1"/>
          </p:cNvSpPr>
          <p:nvPr>
            <p:ph type="sldNum" sz="quarter" idx="12"/>
          </p:nvPr>
        </p:nvSpPr>
        <p:spPr/>
        <p:txBody>
          <a:bodyPr/>
          <a:lstStyle/>
          <a:p>
            <a:fld id="{95926F0C-1358-4536-ACCE-08646B2FB075}" type="slidenum">
              <a:rPr lang="en-US" smtClean="0"/>
              <a:t>‹#›</a:t>
            </a:fld>
            <a:endParaRPr lang="en-US"/>
          </a:p>
        </p:txBody>
      </p:sp>
    </p:spTree>
    <p:extLst>
      <p:ext uri="{BB962C8B-B14F-4D97-AF65-F5344CB8AC3E}">
        <p14:creationId xmlns:p14="http://schemas.microsoft.com/office/powerpoint/2010/main" val="3296526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B3547-898B-0252-CCA4-1551819A09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758990A-0220-E159-AA88-DB3E202AE9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2B491C-2405-6177-5A24-8D5CDFF142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76761A-9BAB-520E-C492-EE3C625D2C7F}"/>
              </a:ext>
            </a:extLst>
          </p:cNvPr>
          <p:cNvSpPr>
            <a:spLocks noGrp="1"/>
          </p:cNvSpPr>
          <p:nvPr>
            <p:ph type="dt" sz="half" idx="10"/>
          </p:nvPr>
        </p:nvSpPr>
        <p:spPr/>
        <p:txBody>
          <a:bodyPr/>
          <a:lstStyle/>
          <a:p>
            <a:fld id="{043151C4-D8F5-4FEF-B57B-8E3882B2C90D}" type="datetimeFigureOut">
              <a:rPr lang="en-US" smtClean="0"/>
              <a:t>5/27/2026</a:t>
            </a:fld>
            <a:endParaRPr lang="en-US"/>
          </a:p>
        </p:txBody>
      </p:sp>
      <p:sp>
        <p:nvSpPr>
          <p:cNvPr id="6" name="Footer Placeholder 5">
            <a:extLst>
              <a:ext uri="{FF2B5EF4-FFF2-40B4-BE49-F238E27FC236}">
                <a16:creationId xmlns:a16="http://schemas.microsoft.com/office/drawing/2014/main" id="{9FC68703-C8CD-02AD-8368-48417EC6AC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8F4682-4D4B-F2F0-84D2-6B0CF6CD1AC5}"/>
              </a:ext>
            </a:extLst>
          </p:cNvPr>
          <p:cNvSpPr>
            <a:spLocks noGrp="1"/>
          </p:cNvSpPr>
          <p:nvPr>
            <p:ph type="sldNum" sz="quarter" idx="12"/>
          </p:nvPr>
        </p:nvSpPr>
        <p:spPr/>
        <p:txBody>
          <a:bodyPr/>
          <a:lstStyle/>
          <a:p>
            <a:fld id="{95926F0C-1358-4536-ACCE-08646B2FB075}" type="slidenum">
              <a:rPr lang="en-US" smtClean="0"/>
              <a:t>‹#›</a:t>
            </a:fld>
            <a:endParaRPr lang="en-US"/>
          </a:p>
        </p:txBody>
      </p:sp>
    </p:spTree>
    <p:extLst>
      <p:ext uri="{BB962C8B-B14F-4D97-AF65-F5344CB8AC3E}">
        <p14:creationId xmlns:p14="http://schemas.microsoft.com/office/powerpoint/2010/main" val="24099943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BB67B-BACC-9D78-956B-78C02DDE97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EFBF126-6D40-B03D-3645-21C0F9A509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C23D8C1-210D-BC9E-B7B1-98FB620E5F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8D2DBB-E8BA-8112-3693-0ACC1C215D81}"/>
              </a:ext>
            </a:extLst>
          </p:cNvPr>
          <p:cNvSpPr>
            <a:spLocks noGrp="1"/>
          </p:cNvSpPr>
          <p:nvPr>
            <p:ph type="dt" sz="half" idx="10"/>
          </p:nvPr>
        </p:nvSpPr>
        <p:spPr/>
        <p:txBody>
          <a:bodyPr/>
          <a:lstStyle/>
          <a:p>
            <a:fld id="{043151C4-D8F5-4FEF-B57B-8E3882B2C90D}" type="datetimeFigureOut">
              <a:rPr lang="en-US" smtClean="0"/>
              <a:t>5/27/2026</a:t>
            </a:fld>
            <a:endParaRPr lang="en-US"/>
          </a:p>
        </p:txBody>
      </p:sp>
      <p:sp>
        <p:nvSpPr>
          <p:cNvPr id="6" name="Footer Placeholder 5">
            <a:extLst>
              <a:ext uri="{FF2B5EF4-FFF2-40B4-BE49-F238E27FC236}">
                <a16:creationId xmlns:a16="http://schemas.microsoft.com/office/drawing/2014/main" id="{A16324EC-A77F-3A3D-8D82-461B4C4177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CC608F-EEB6-FAF7-E7D4-EC96783BF8F0}"/>
              </a:ext>
            </a:extLst>
          </p:cNvPr>
          <p:cNvSpPr>
            <a:spLocks noGrp="1"/>
          </p:cNvSpPr>
          <p:nvPr>
            <p:ph type="sldNum" sz="quarter" idx="12"/>
          </p:nvPr>
        </p:nvSpPr>
        <p:spPr/>
        <p:txBody>
          <a:bodyPr/>
          <a:lstStyle/>
          <a:p>
            <a:fld id="{95926F0C-1358-4536-ACCE-08646B2FB075}" type="slidenum">
              <a:rPr lang="en-US" smtClean="0"/>
              <a:t>‹#›</a:t>
            </a:fld>
            <a:endParaRPr lang="en-US"/>
          </a:p>
        </p:txBody>
      </p:sp>
    </p:spTree>
    <p:extLst>
      <p:ext uri="{BB962C8B-B14F-4D97-AF65-F5344CB8AC3E}">
        <p14:creationId xmlns:p14="http://schemas.microsoft.com/office/powerpoint/2010/main" val="222062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36409-DDDB-3099-5B14-4281B8CC4E9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C86BFA-4069-ACF8-F08D-A14C1BE034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467D84-B2E0-05CC-AF1D-67FFFA2ED507}"/>
              </a:ext>
            </a:extLst>
          </p:cNvPr>
          <p:cNvSpPr>
            <a:spLocks noGrp="1"/>
          </p:cNvSpPr>
          <p:nvPr>
            <p:ph type="dt" sz="half" idx="10"/>
          </p:nvPr>
        </p:nvSpPr>
        <p:spPr/>
        <p:txBody>
          <a:bodyPr/>
          <a:lstStyle/>
          <a:p>
            <a:fld id="{043151C4-D8F5-4FEF-B57B-8E3882B2C90D}" type="datetimeFigureOut">
              <a:rPr lang="en-US" smtClean="0"/>
              <a:t>5/27/2026</a:t>
            </a:fld>
            <a:endParaRPr lang="en-US"/>
          </a:p>
        </p:txBody>
      </p:sp>
      <p:sp>
        <p:nvSpPr>
          <p:cNvPr id="5" name="Footer Placeholder 4">
            <a:extLst>
              <a:ext uri="{FF2B5EF4-FFF2-40B4-BE49-F238E27FC236}">
                <a16:creationId xmlns:a16="http://schemas.microsoft.com/office/drawing/2014/main" id="{3DBC3A2F-12E0-DBCD-8588-0F5AE5E047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9DF37C-24C0-8C5D-3D43-1EFC0A50D1EE}"/>
              </a:ext>
            </a:extLst>
          </p:cNvPr>
          <p:cNvSpPr>
            <a:spLocks noGrp="1"/>
          </p:cNvSpPr>
          <p:nvPr>
            <p:ph type="sldNum" sz="quarter" idx="12"/>
          </p:nvPr>
        </p:nvSpPr>
        <p:spPr/>
        <p:txBody>
          <a:bodyPr/>
          <a:lstStyle/>
          <a:p>
            <a:fld id="{95926F0C-1358-4536-ACCE-08646B2FB075}" type="slidenum">
              <a:rPr lang="en-US" smtClean="0"/>
              <a:t>‹#›</a:t>
            </a:fld>
            <a:endParaRPr lang="en-US"/>
          </a:p>
        </p:txBody>
      </p:sp>
    </p:spTree>
    <p:extLst>
      <p:ext uri="{BB962C8B-B14F-4D97-AF65-F5344CB8AC3E}">
        <p14:creationId xmlns:p14="http://schemas.microsoft.com/office/powerpoint/2010/main" val="25852835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353EA2-C0EC-7625-AE82-43233A958BB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6C25AD8-44B9-11F7-48C5-8703906C99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FE9B91-4F72-AAD1-8D5C-A084C38EA98F}"/>
              </a:ext>
            </a:extLst>
          </p:cNvPr>
          <p:cNvSpPr>
            <a:spLocks noGrp="1"/>
          </p:cNvSpPr>
          <p:nvPr>
            <p:ph type="dt" sz="half" idx="10"/>
          </p:nvPr>
        </p:nvSpPr>
        <p:spPr/>
        <p:txBody>
          <a:bodyPr/>
          <a:lstStyle/>
          <a:p>
            <a:fld id="{043151C4-D8F5-4FEF-B57B-8E3882B2C90D}" type="datetimeFigureOut">
              <a:rPr lang="en-US" smtClean="0"/>
              <a:t>5/27/2026</a:t>
            </a:fld>
            <a:endParaRPr lang="en-US"/>
          </a:p>
        </p:txBody>
      </p:sp>
      <p:sp>
        <p:nvSpPr>
          <p:cNvPr id="5" name="Footer Placeholder 4">
            <a:extLst>
              <a:ext uri="{FF2B5EF4-FFF2-40B4-BE49-F238E27FC236}">
                <a16:creationId xmlns:a16="http://schemas.microsoft.com/office/drawing/2014/main" id="{94E1E0B8-851D-1582-5596-5916F2BD6C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2A193C-2407-F310-7357-1BF3369CDDD4}"/>
              </a:ext>
            </a:extLst>
          </p:cNvPr>
          <p:cNvSpPr>
            <a:spLocks noGrp="1"/>
          </p:cNvSpPr>
          <p:nvPr>
            <p:ph type="sldNum" sz="quarter" idx="12"/>
          </p:nvPr>
        </p:nvSpPr>
        <p:spPr/>
        <p:txBody>
          <a:bodyPr/>
          <a:lstStyle/>
          <a:p>
            <a:fld id="{95926F0C-1358-4536-ACCE-08646B2FB075}" type="slidenum">
              <a:rPr lang="en-US" smtClean="0"/>
              <a:t>‹#›</a:t>
            </a:fld>
            <a:endParaRPr lang="en-US"/>
          </a:p>
        </p:txBody>
      </p:sp>
    </p:spTree>
    <p:extLst>
      <p:ext uri="{BB962C8B-B14F-4D97-AF65-F5344CB8AC3E}">
        <p14:creationId xmlns:p14="http://schemas.microsoft.com/office/powerpoint/2010/main" val="23956038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43151C4-D8F5-4FEF-B57B-8E3882B2C90D}"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926F0C-1358-4536-ACCE-08646B2FB075}" type="slidenum">
              <a:rPr lang="en-US" smtClean="0"/>
              <a:t>‹#›</a:t>
            </a:fld>
            <a:endParaRPr lang="en-US"/>
          </a:p>
        </p:txBody>
      </p:sp>
    </p:spTree>
    <p:extLst>
      <p:ext uri="{BB962C8B-B14F-4D97-AF65-F5344CB8AC3E}">
        <p14:creationId xmlns:p14="http://schemas.microsoft.com/office/powerpoint/2010/main" val="15108453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3151C4-D8F5-4FEF-B57B-8E3882B2C90D}"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926F0C-1358-4536-ACCE-08646B2FB075}" type="slidenum">
              <a:rPr lang="en-US" smtClean="0"/>
              <a:t>‹#›</a:t>
            </a:fld>
            <a:endParaRPr lang="en-US"/>
          </a:p>
        </p:txBody>
      </p:sp>
    </p:spTree>
    <p:extLst>
      <p:ext uri="{BB962C8B-B14F-4D97-AF65-F5344CB8AC3E}">
        <p14:creationId xmlns:p14="http://schemas.microsoft.com/office/powerpoint/2010/main" val="2786019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3151C4-D8F5-4FEF-B57B-8E3882B2C90D}"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926F0C-1358-4536-ACCE-08646B2FB075}" type="slidenum">
              <a:rPr lang="en-US" smtClean="0"/>
              <a:t>‹#›</a:t>
            </a:fld>
            <a:endParaRPr lang="en-US"/>
          </a:p>
        </p:txBody>
      </p:sp>
    </p:spTree>
    <p:extLst>
      <p:ext uri="{BB962C8B-B14F-4D97-AF65-F5344CB8AC3E}">
        <p14:creationId xmlns:p14="http://schemas.microsoft.com/office/powerpoint/2010/main" val="8178317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43151C4-D8F5-4FEF-B57B-8E3882B2C90D}"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926F0C-1358-4536-ACCE-08646B2FB075}" type="slidenum">
              <a:rPr lang="en-US" smtClean="0"/>
              <a:t>‹#›</a:t>
            </a:fld>
            <a:endParaRPr lang="en-US"/>
          </a:p>
        </p:txBody>
      </p:sp>
    </p:spTree>
    <p:extLst>
      <p:ext uri="{BB962C8B-B14F-4D97-AF65-F5344CB8AC3E}">
        <p14:creationId xmlns:p14="http://schemas.microsoft.com/office/powerpoint/2010/main" val="39511179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3151C4-D8F5-4FEF-B57B-8E3882B2C90D}" type="datetimeFigureOut">
              <a:rPr lang="en-US" smtClean="0"/>
              <a:t>5/27/2026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5926F0C-1358-4536-ACCE-08646B2FB075}" type="slidenum">
              <a:rPr lang="en-US" smtClean="0"/>
              <a:t>‹#›</a:t>
            </a:fld>
            <a:endParaRPr lang="en-US"/>
          </a:p>
        </p:txBody>
      </p:sp>
    </p:spTree>
    <p:extLst>
      <p:ext uri="{BB962C8B-B14F-4D97-AF65-F5344CB8AC3E}">
        <p14:creationId xmlns:p14="http://schemas.microsoft.com/office/powerpoint/2010/main" val="16250567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43151C4-D8F5-4FEF-B57B-8E3882B2C90D}" type="datetimeFigureOut">
              <a:rPr lang="en-US" smtClean="0"/>
              <a:t>5/27/2026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5926F0C-1358-4536-ACCE-08646B2FB075}" type="slidenum">
              <a:rPr lang="en-US" smtClean="0"/>
              <a:t>‹#›</a:t>
            </a:fld>
            <a:endParaRPr lang="en-US"/>
          </a:p>
        </p:txBody>
      </p:sp>
    </p:spTree>
    <p:extLst>
      <p:ext uri="{BB962C8B-B14F-4D97-AF65-F5344CB8AC3E}">
        <p14:creationId xmlns:p14="http://schemas.microsoft.com/office/powerpoint/2010/main" val="32550815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3151C4-D8F5-4FEF-B57B-8E3882B2C90D}" type="datetimeFigureOut">
              <a:rPr lang="en-US" smtClean="0"/>
              <a:t>5/27/2026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5926F0C-1358-4536-ACCE-08646B2FB075}" type="slidenum">
              <a:rPr lang="en-US" smtClean="0"/>
              <a:t>‹#›</a:t>
            </a:fld>
            <a:endParaRPr lang="en-US"/>
          </a:p>
        </p:txBody>
      </p:sp>
    </p:spTree>
    <p:extLst>
      <p:ext uri="{BB962C8B-B14F-4D97-AF65-F5344CB8AC3E}">
        <p14:creationId xmlns:p14="http://schemas.microsoft.com/office/powerpoint/2010/main" val="491239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3151C4-D8F5-4FEF-B57B-8E3882B2C90D}"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926F0C-1358-4536-ACCE-08646B2FB075}" type="slidenum">
              <a:rPr lang="en-US" smtClean="0"/>
              <a:t>‹#›</a:t>
            </a:fld>
            <a:endParaRPr lang="en-US"/>
          </a:p>
        </p:txBody>
      </p:sp>
    </p:spTree>
    <p:extLst>
      <p:ext uri="{BB962C8B-B14F-4D97-AF65-F5344CB8AC3E}">
        <p14:creationId xmlns:p14="http://schemas.microsoft.com/office/powerpoint/2010/main" val="29492149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3151C4-D8F5-4FEF-B57B-8E3882B2C90D}"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926F0C-1358-4536-ACCE-08646B2FB075}" type="slidenum">
              <a:rPr lang="en-US" smtClean="0"/>
              <a:t>‹#›</a:t>
            </a:fld>
            <a:endParaRPr lang="en-US"/>
          </a:p>
        </p:txBody>
      </p:sp>
    </p:spTree>
    <p:extLst>
      <p:ext uri="{BB962C8B-B14F-4D97-AF65-F5344CB8AC3E}">
        <p14:creationId xmlns:p14="http://schemas.microsoft.com/office/powerpoint/2010/main" val="31874156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43151C4-D8F5-4FEF-B57B-8E3882B2C90D}"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926F0C-1358-4536-ACCE-08646B2FB075}" type="slidenum">
              <a:rPr lang="en-US" smtClean="0"/>
              <a:t>‹#›</a:t>
            </a:fld>
            <a:endParaRPr lang="en-US"/>
          </a:p>
        </p:txBody>
      </p:sp>
    </p:spTree>
    <p:extLst>
      <p:ext uri="{BB962C8B-B14F-4D97-AF65-F5344CB8AC3E}">
        <p14:creationId xmlns:p14="http://schemas.microsoft.com/office/powerpoint/2010/main" val="17129393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43151C4-D8F5-4FEF-B57B-8E3882B2C90D}"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926F0C-1358-4536-ACCE-08646B2FB075}" type="slidenum">
              <a:rPr lang="en-US" smtClean="0"/>
              <a:t>‹#›</a:t>
            </a:fld>
            <a:endParaRPr lang="en-US"/>
          </a:p>
        </p:txBody>
      </p:sp>
    </p:spTree>
    <p:extLst>
      <p:ext uri="{BB962C8B-B14F-4D97-AF65-F5344CB8AC3E}">
        <p14:creationId xmlns:p14="http://schemas.microsoft.com/office/powerpoint/2010/main" val="42594120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43151C4-D8F5-4FEF-B57B-8E3882B2C90D}"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926F0C-1358-4536-ACCE-08646B2FB075}"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352957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43151C4-D8F5-4FEF-B57B-8E3882B2C90D}"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926F0C-1358-4536-ACCE-08646B2FB075}" type="slidenum">
              <a:rPr lang="en-US" smtClean="0"/>
              <a:t>‹#›</a:t>
            </a:fld>
            <a:endParaRPr lang="en-US"/>
          </a:p>
        </p:txBody>
      </p:sp>
    </p:spTree>
    <p:extLst>
      <p:ext uri="{BB962C8B-B14F-4D97-AF65-F5344CB8AC3E}">
        <p14:creationId xmlns:p14="http://schemas.microsoft.com/office/powerpoint/2010/main" val="151388679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43151C4-D8F5-4FEF-B57B-8E3882B2C90D}" type="datetimeFigureOut">
              <a:rPr lang="en-US" smtClean="0"/>
              <a:t>5/27/2026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5926F0C-1358-4536-ACCE-08646B2FB075}" type="slidenum">
              <a:rPr lang="en-US" smtClean="0"/>
              <a:t>‹#›</a:t>
            </a:fld>
            <a:endParaRPr lang="en-US"/>
          </a:p>
        </p:txBody>
      </p:sp>
    </p:spTree>
    <p:extLst>
      <p:ext uri="{BB962C8B-B14F-4D97-AF65-F5344CB8AC3E}">
        <p14:creationId xmlns:p14="http://schemas.microsoft.com/office/powerpoint/2010/main" val="362356151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43151C4-D8F5-4FEF-B57B-8E3882B2C90D}" type="datetimeFigureOut">
              <a:rPr lang="en-US" smtClean="0"/>
              <a:t>5/27/2026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5926F0C-1358-4536-ACCE-08646B2FB075}" type="slidenum">
              <a:rPr lang="en-US" smtClean="0"/>
              <a:t>‹#›</a:t>
            </a:fld>
            <a:endParaRPr lang="en-US"/>
          </a:p>
        </p:txBody>
      </p:sp>
    </p:spTree>
    <p:extLst>
      <p:ext uri="{BB962C8B-B14F-4D97-AF65-F5344CB8AC3E}">
        <p14:creationId xmlns:p14="http://schemas.microsoft.com/office/powerpoint/2010/main" val="24514494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3151C4-D8F5-4FEF-B57B-8E3882B2C90D}"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926F0C-1358-4536-ACCE-08646B2FB075}" type="slidenum">
              <a:rPr lang="en-US" smtClean="0"/>
              <a:t>‹#›</a:t>
            </a:fld>
            <a:endParaRPr lang="en-US"/>
          </a:p>
        </p:txBody>
      </p:sp>
    </p:spTree>
    <p:extLst>
      <p:ext uri="{BB962C8B-B14F-4D97-AF65-F5344CB8AC3E}">
        <p14:creationId xmlns:p14="http://schemas.microsoft.com/office/powerpoint/2010/main" val="28285434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3151C4-D8F5-4FEF-B57B-8E3882B2C90D}"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926F0C-1358-4536-ACCE-08646B2FB075}" type="slidenum">
              <a:rPr lang="en-US" smtClean="0"/>
              <a:t>‹#›</a:t>
            </a:fld>
            <a:endParaRPr lang="en-US"/>
          </a:p>
        </p:txBody>
      </p:sp>
    </p:spTree>
    <p:extLst>
      <p:ext uri="{BB962C8B-B14F-4D97-AF65-F5344CB8AC3E}">
        <p14:creationId xmlns:p14="http://schemas.microsoft.com/office/powerpoint/2010/main" val="9703752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05E8FD-A08C-B00F-3554-3F018175D7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22DA5B5-F0E9-B210-E77E-D45119AC2E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64F041-60BF-7BFA-1F26-FBF51966D5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3151C4-D8F5-4FEF-B57B-8E3882B2C90D}" type="datetimeFigureOut">
              <a:rPr lang="en-US" smtClean="0"/>
              <a:t>5/27/2026</a:t>
            </a:fld>
            <a:endParaRPr lang="en-US"/>
          </a:p>
        </p:txBody>
      </p:sp>
      <p:sp>
        <p:nvSpPr>
          <p:cNvPr id="5" name="Footer Placeholder 4">
            <a:extLst>
              <a:ext uri="{FF2B5EF4-FFF2-40B4-BE49-F238E27FC236}">
                <a16:creationId xmlns:a16="http://schemas.microsoft.com/office/drawing/2014/main" id="{27DA59CC-840C-68BD-AAE6-A13242E693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0B70164-B0CE-9084-8F60-41F1BACAD9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926F0C-1358-4536-ACCE-08646B2FB075}" type="slidenum">
              <a:rPr lang="en-US" smtClean="0"/>
              <a:t>‹#›</a:t>
            </a:fld>
            <a:endParaRPr lang="en-US"/>
          </a:p>
        </p:txBody>
      </p:sp>
    </p:spTree>
    <p:extLst>
      <p:ext uri="{BB962C8B-B14F-4D97-AF65-F5344CB8AC3E}">
        <p14:creationId xmlns:p14="http://schemas.microsoft.com/office/powerpoint/2010/main" val="571944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043151C4-D8F5-4FEF-B57B-8E3882B2C90D}" type="datetimeFigureOut">
              <a:rPr lang="en-US" smtClean="0"/>
              <a:t>5/27/2026</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95926F0C-1358-4536-ACCE-08646B2FB075}" type="slidenum">
              <a:rPr lang="en-US" smtClean="0"/>
              <a:t>‹#›</a:t>
            </a:fld>
            <a:endParaRPr lang="en-US"/>
          </a:p>
        </p:txBody>
      </p:sp>
    </p:spTree>
    <p:extLst>
      <p:ext uri="{BB962C8B-B14F-4D97-AF65-F5344CB8AC3E}">
        <p14:creationId xmlns:p14="http://schemas.microsoft.com/office/powerpoint/2010/main" val="165898938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13.xml"/><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13.xml"/><Relationship Id="rId4" Type="http://schemas.openxmlformats.org/officeDocument/2006/relationships/image" Target="../media/image14.jpeg"/></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13.xml"/><Relationship Id="rId4" Type="http://schemas.openxmlformats.org/officeDocument/2006/relationships/image" Target="../media/image17.jpeg"/></Relationships>
</file>

<file path=ppt/slides/_rels/slide1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13.xml"/><Relationship Id="rId4" Type="http://schemas.openxmlformats.org/officeDocument/2006/relationships/image" Target="../media/image20.jpeg"/></Relationships>
</file>

<file path=ppt/slides/_rels/slide1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13.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13.xml"/><Relationship Id="rId4" Type="http://schemas.openxmlformats.org/officeDocument/2006/relationships/image" Target="../media/image26.jpeg"/></Relationships>
</file>

<file path=ppt/slides/_rels/slide1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13.xml"/><Relationship Id="rId5" Type="http://schemas.openxmlformats.org/officeDocument/2006/relationships/image" Target="../media/image30.jpeg"/><Relationship Id="rId4" Type="http://schemas.openxmlformats.org/officeDocument/2006/relationships/image" Target="../media/image29.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4C16734F-4942-C2D4-4CF0-8784288CB555}"/>
              </a:ext>
            </a:extLst>
          </p:cNvPr>
          <p:cNvPicPr>
            <a:picLocks noChangeAspect="1" noChangeArrowheads="1"/>
          </p:cNvPicPr>
          <p:nvPr/>
        </p:nvPicPr>
        <p:blipFill>
          <a:blip r:embed="rId2">
            <a:alphaModFix amt="50000"/>
            <a:extLst>
              <a:ext uri="{28A0092B-C50C-407E-A947-70E740481C1C}">
                <a14:useLocalDpi xmlns:a14="http://schemas.microsoft.com/office/drawing/2010/main" val="0"/>
              </a:ext>
            </a:extLst>
          </a:blip>
          <a:srcRect t="25223" r="-1" b="18512"/>
          <a:stretch>
            <a:fillRect/>
          </a:stretch>
        </p:blipFill>
        <p:spPr bwMode="auto">
          <a:xfrm>
            <a:off x="20" y="10"/>
            <a:ext cx="1218893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DF5FFC4-1058-E919-0CAE-90DB5DAE8D52}"/>
              </a:ext>
            </a:extLst>
          </p:cNvPr>
          <p:cNvSpPr>
            <a:spLocks noGrp="1"/>
          </p:cNvSpPr>
          <p:nvPr>
            <p:ph type="ctrTitle"/>
          </p:nvPr>
        </p:nvSpPr>
        <p:spPr>
          <a:xfrm>
            <a:off x="1524000" y="1122363"/>
            <a:ext cx="9144000" cy="3063240"/>
          </a:xfrm>
        </p:spPr>
        <p:txBody>
          <a:bodyPr>
            <a:normAutofit/>
          </a:bodyPr>
          <a:lstStyle/>
          <a:p>
            <a:r>
              <a:rPr lang="en-US" sz="6600">
                <a:solidFill>
                  <a:schemeClr val="bg1"/>
                </a:solidFill>
              </a:rPr>
              <a:t>DATA608 Assignment 7</a:t>
            </a:r>
          </a:p>
        </p:txBody>
      </p:sp>
      <p:sp>
        <p:nvSpPr>
          <p:cNvPr id="3" name="Subtitle 2">
            <a:extLst>
              <a:ext uri="{FF2B5EF4-FFF2-40B4-BE49-F238E27FC236}">
                <a16:creationId xmlns:a16="http://schemas.microsoft.com/office/drawing/2014/main" id="{458FFC51-CB75-205F-6F1C-ABE516B1E837}"/>
              </a:ext>
            </a:extLst>
          </p:cNvPr>
          <p:cNvSpPr>
            <a:spLocks noGrp="1"/>
          </p:cNvSpPr>
          <p:nvPr>
            <p:ph type="subTitle" idx="1"/>
          </p:nvPr>
        </p:nvSpPr>
        <p:spPr>
          <a:xfrm>
            <a:off x="1527048" y="4599432"/>
            <a:ext cx="9144000" cy="1536192"/>
          </a:xfrm>
        </p:spPr>
        <p:txBody>
          <a:bodyPr>
            <a:normAutofit/>
          </a:bodyPr>
          <a:lstStyle/>
          <a:p>
            <a:r>
              <a:rPr lang="en-US">
                <a:solidFill>
                  <a:schemeClr val="bg1"/>
                </a:solidFill>
              </a:rPr>
              <a:t>Steven Gonzalez</a:t>
            </a:r>
          </a:p>
        </p:txBody>
      </p:sp>
      <p:sp>
        <p:nvSpPr>
          <p:cNvPr id="1033"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764030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97DAC-716F-6DFE-3B6A-0271E1CB7B13}"/>
              </a:ext>
            </a:extLst>
          </p:cNvPr>
          <p:cNvSpPr>
            <a:spLocks noGrp="1"/>
          </p:cNvSpPr>
          <p:nvPr>
            <p:ph type="title"/>
          </p:nvPr>
        </p:nvSpPr>
        <p:spPr/>
        <p:txBody>
          <a:bodyPr/>
          <a:lstStyle/>
          <a:p>
            <a:r>
              <a:rPr lang="en-US" dirty="0"/>
              <a:t>Prompt</a:t>
            </a:r>
          </a:p>
        </p:txBody>
      </p:sp>
      <p:sp>
        <p:nvSpPr>
          <p:cNvPr id="3" name="Content Placeholder 2">
            <a:extLst>
              <a:ext uri="{FF2B5EF4-FFF2-40B4-BE49-F238E27FC236}">
                <a16:creationId xmlns:a16="http://schemas.microsoft.com/office/drawing/2014/main" id="{D8F3D346-A615-9E07-8164-5F63F850EBA9}"/>
              </a:ext>
            </a:extLst>
          </p:cNvPr>
          <p:cNvSpPr>
            <a:spLocks noGrp="1"/>
          </p:cNvSpPr>
          <p:nvPr>
            <p:ph idx="1"/>
          </p:nvPr>
        </p:nvSpPr>
        <p:spPr/>
        <p:txBody>
          <a:bodyPr/>
          <a:lstStyle/>
          <a:p>
            <a:pPr marL="36900" indent="0">
              <a:buNone/>
            </a:pPr>
            <a:r>
              <a:rPr lang="en-US" dirty="0"/>
              <a:t>The US Geological Survey publishes a list of Strategic Minerals (https://www.usgs.gov/news/national-news-release/us-geological-survey-releases-2022-list-critical-minerals ). Having a secure supply of these minerals is essential to our security and economic prosperity. However, many of these minerals are sourced from outside of the US. This assignment is to develop a reference catalog of the source or sources of each of these minerals and a judgement on the reliability of each source under stressed circumstance (e.g. war, economic crisis, etc.).</a:t>
            </a:r>
          </a:p>
        </p:txBody>
      </p:sp>
    </p:spTree>
    <p:extLst>
      <p:ext uri="{BB962C8B-B14F-4D97-AF65-F5344CB8AC3E}">
        <p14:creationId xmlns:p14="http://schemas.microsoft.com/office/powerpoint/2010/main" val="1209749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37F84-DC0C-7C70-6BB4-EC8B30BA2E7A}"/>
              </a:ext>
            </a:extLst>
          </p:cNvPr>
          <p:cNvSpPr>
            <a:spLocks noGrp="1"/>
          </p:cNvSpPr>
          <p:nvPr>
            <p:ph type="title"/>
          </p:nvPr>
        </p:nvSpPr>
        <p:spPr/>
        <p:txBody>
          <a:bodyPr/>
          <a:lstStyle/>
          <a:p>
            <a:r>
              <a:rPr lang="en-US" dirty="0"/>
              <a:t>Prelude</a:t>
            </a:r>
          </a:p>
        </p:txBody>
      </p:sp>
      <p:sp>
        <p:nvSpPr>
          <p:cNvPr id="3" name="Content Placeholder 2">
            <a:extLst>
              <a:ext uri="{FF2B5EF4-FFF2-40B4-BE49-F238E27FC236}">
                <a16:creationId xmlns:a16="http://schemas.microsoft.com/office/drawing/2014/main" id="{719D3345-FEC9-A3B8-FDE5-6E7C195B1C13}"/>
              </a:ext>
            </a:extLst>
          </p:cNvPr>
          <p:cNvSpPr>
            <a:spLocks noGrp="1"/>
          </p:cNvSpPr>
          <p:nvPr>
            <p:ph idx="1"/>
          </p:nvPr>
        </p:nvSpPr>
        <p:spPr/>
        <p:txBody>
          <a:bodyPr/>
          <a:lstStyle/>
          <a:p>
            <a:pPr marL="36900" indent="0">
              <a:buNone/>
            </a:pPr>
            <a:r>
              <a:rPr lang="en-US" dirty="0"/>
              <a:t>Minerals and metal ores have always been essential for humanity. For thousands of years, we’ve collected them and molded them to our liking; whether it be for tools or for fashion. Recently, the subject of critical minerals has gained popularity mostly given to the importance of minerals and ores in modern technology. In this story, we go over the access the United States has to multiple minerals being mined across the world, paying attention to how our relationship with other nations can influence our acquisition of them or lack thereof.</a:t>
            </a:r>
          </a:p>
          <a:p>
            <a:pPr marL="36900" indent="0">
              <a:buNone/>
            </a:pPr>
            <a:r>
              <a:rPr lang="en-US" dirty="0"/>
              <a:t>We look into:</a:t>
            </a:r>
          </a:p>
          <a:p>
            <a:r>
              <a:rPr lang="en-US" sz="1800" dirty="0"/>
              <a:t>How many countries are mining each mineral</a:t>
            </a:r>
          </a:p>
          <a:p>
            <a:r>
              <a:rPr lang="en-US" sz="1800" dirty="0"/>
              <a:t>How reliable our access to these minerals are given our relationship with various countries</a:t>
            </a:r>
          </a:p>
          <a:p>
            <a:r>
              <a:rPr lang="en-US" sz="1800" dirty="0"/>
              <a:t>Finally, a snapshot at the status for each mineral given the circumstances</a:t>
            </a:r>
          </a:p>
        </p:txBody>
      </p:sp>
    </p:spTree>
    <p:extLst>
      <p:ext uri="{BB962C8B-B14F-4D97-AF65-F5344CB8AC3E}">
        <p14:creationId xmlns:p14="http://schemas.microsoft.com/office/powerpoint/2010/main" val="31055500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347E3C-27E0-654C-25DA-E33D64FAFA13}"/>
            </a:ext>
          </a:extLst>
        </p:cNvPr>
        <p:cNvGrpSpPr/>
        <p:nvPr/>
      </p:nvGrpSpPr>
      <p:grpSpPr>
        <a:xfrm>
          <a:off x="0" y="0"/>
          <a:ext cx="0" cy="0"/>
          <a:chOff x="0" y="0"/>
          <a:chExt cx="0" cy="0"/>
        </a:xfrm>
      </p:grpSpPr>
      <p:sp>
        <p:nvSpPr>
          <p:cNvPr id="9223" name="Rectangle 9222">
            <a:extLst>
              <a:ext uri="{FF2B5EF4-FFF2-40B4-BE49-F238E27FC236}">
                <a16:creationId xmlns:a16="http://schemas.microsoft.com/office/drawing/2014/main" id="{8E482A67-6CD8-49D7-9F85-52ECF99152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412199-381E-45C7-0AF0-90CE0DD184E2}"/>
              </a:ext>
            </a:extLst>
          </p:cNvPr>
          <p:cNvSpPr>
            <a:spLocks noGrp="1"/>
          </p:cNvSpPr>
          <p:nvPr>
            <p:ph type="title"/>
          </p:nvPr>
        </p:nvSpPr>
        <p:spPr>
          <a:xfrm>
            <a:off x="8094617" y="965196"/>
            <a:ext cx="3137262" cy="2633146"/>
          </a:xfrm>
        </p:spPr>
        <p:txBody>
          <a:bodyPr vert="horz" lIns="91440" tIns="45720" rIns="91440" bIns="45720" rtlCol="0" anchor="b">
            <a:normAutofit/>
          </a:bodyPr>
          <a:lstStyle/>
          <a:p>
            <a:r>
              <a:rPr lang="en-US" sz="2000" b="1" dirty="0">
                <a:solidFill>
                  <a:srgbClr val="DADADA"/>
                </a:solidFill>
                <a:highlight>
                  <a:srgbClr val="FF0000"/>
                </a:highlight>
              </a:rPr>
              <a:t>Chromium and Aluminum </a:t>
            </a:r>
            <a:r>
              <a:rPr lang="en-US" sz="2000" dirty="0">
                <a:solidFill>
                  <a:srgbClr val="DADADA"/>
                </a:solidFill>
              </a:rPr>
              <a:t>seem to be the minerals </a:t>
            </a:r>
            <a:r>
              <a:rPr lang="en-US" sz="2000" b="1" dirty="0">
                <a:solidFill>
                  <a:srgbClr val="DADADA"/>
                </a:solidFill>
                <a:highlight>
                  <a:srgbClr val="FF0000"/>
                </a:highlight>
              </a:rPr>
              <a:t>most countries mine after</a:t>
            </a:r>
            <a:r>
              <a:rPr lang="en-US" sz="2000" dirty="0">
                <a:solidFill>
                  <a:srgbClr val="DADADA"/>
                </a:solidFill>
              </a:rPr>
              <a:t>, followed by Tungsten, Zinc, and Manganese</a:t>
            </a:r>
          </a:p>
        </p:txBody>
      </p:sp>
      <p:sp>
        <p:nvSpPr>
          <p:cNvPr id="9225" name="Rectangle 9224">
            <a:extLst>
              <a:ext uri="{FF2B5EF4-FFF2-40B4-BE49-F238E27FC236}">
                <a16:creationId xmlns:a16="http://schemas.microsoft.com/office/drawing/2014/main" id="{418F941B-B7E9-44F2-9A2C-5D35ACF9A6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0614" y="965196"/>
            <a:ext cx="6476539" cy="4781641"/>
          </a:xfrm>
          <a:prstGeom prst="rect">
            <a:avLst/>
          </a:prstGeom>
          <a:solidFill>
            <a:schemeClr val="bg1"/>
          </a:solidFill>
          <a:ln w="190500">
            <a:solidFill>
              <a:srgbClr val="FFFFFF">
                <a:alpha val="7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18" name="Picture 2">
            <a:extLst>
              <a:ext uri="{FF2B5EF4-FFF2-40B4-BE49-F238E27FC236}">
                <a16:creationId xmlns:a16="http://schemas.microsoft.com/office/drawing/2014/main" id="{4D85A184-A8B4-9E51-D567-56F053BA080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88483" y="1070016"/>
            <a:ext cx="6400799" cy="4572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Rounded Corners 3">
            <a:extLst>
              <a:ext uri="{FF2B5EF4-FFF2-40B4-BE49-F238E27FC236}">
                <a16:creationId xmlns:a16="http://schemas.microsoft.com/office/drawing/2014/main" id="{0BC5A5DC-CCD4-5B24-5BD9-CFAA4FDEC98D}"/>
              </a:ext>
            </a:extLst>
          </p:cNvPr>
          <p:cNvSpPr/>
          <p:nvPr/>
        </p:nvSpPr>
        <p:spPr>
          <a:xfrm>
            <a:off x="2097740" y="1385046"/>
            <a:ext cx="4975413" cy="161365"/>
          </a:xfrm>
          <a:prstGeom prst="roundRect">
            <a:avLst/>
          </a:prstGeom>
          <a:noFill/>
          <a:ln>
            <a:solidFill>
              <a:srgbClr val="FF0000"/>
            </a:solidFill>
          </a:ln>
          <a:effectLst>
            <a:glow rad="635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657CDF85-B34A-1A8E-8EE4-CA474D970068}"/>
              </a:ext>
            </a:extLst>
          </p:cNvPr>
          <p:cNvSpPr/>
          <p:nvPr/>
        </p:nvSpPr>
        <p:spPr>
          <a:xfrm>
            <a:off x="2097739" y="1570548"/>
            <a:ext cx="4329955" cy="161365"/>
          </a:xfrm>
          <a:prstGeom prst="roundRect">
            <a:avLst/>
          </a:prstGeom>
          <a:noFill/>
          <a:ln>
            <a:solidFill>
              <a:srgbClr val="FF0000"/>
            </a:solidFill>
          </a:ln>
          <a:effectLst>
            <a:glow rad="635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98470467"/>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E773119-3F57-C8AD-94EF-293937BAF3A1}"/>
            </a:ext>
          </a:extLst>
        </p:cNvPr>
        <p:cNvGrpSpPr/>
        <p:nvPr/>
      </p:nvGrpSpPr>
      <p:grpSpPr>
        <a:xfrm>
          <a:off x="0" y="0"/>
          <a:ext cx="0" cy="0"/>
          <a:chOff x="0" y="0"/>
          <a:chExt cx="0" cy="0"/>
        </a:xfrm>
      </p:grpSpPr>
      <p:sp>
        <p:nvSpPr>
          <p:cNvPr id="9223" name="Rectangle 9222">
            <a:extLst>
              <a:ext uri="{FF2B5EF4-FFF2-40B4-BE49-F238E27FC236}">
                <a16:creationId xmlns:a16="http://schemas.microsoft.com/office/drawing/2014/main" id="{548346D2-558F-CC32-C8A1-9A9D92864E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12F18E-8200-50CD-C651-0C846684B7C0}"/>
              </a:ext>
            </a:extLst>
          </p:cNvPr>
          <p:cNvSpPr>
            <a:spLocks noGrp="1"/>
          </p:cNvSpPr>
          <p:nvPr>
            <p:ph type="title"/>
          </p:nvPr>
        </p:nvSpPr>
        <p:spPr>
          <a:xfrm>
            <a:off x="8094617" y="965196"/>
            <a:ext cx="3137262" cy="2633146"/>
          </a:xfrm>
        </p:spPr>
        <p:txBody>
          <a:bodyPr vert="horz" lIns="91440" tIns="45720" rIns="91440" bIns="45720" rtlCol="0" anchor="b">
            <a:normAutofit/>
          </a:bodyPr>
          <a:lstStyle/>
          <a:p>
            <a:r>
              <a:rPr lang="en-US" sz="2000" dirty="0">
                <a:solidFill>
                  <a:srgbClr val="DADADA"/>
                </a:solidFill>
              </a:rPr>
              <a:t>Interestingly enough, given our relationship with other countries, the </a:t>
            </a:r>
            <a:r>
              <a:rPr lang="en-US" sz="2000" b="1" dirty="0">
                <a:solidFill>
                  <a:srgbClr val="DADADA"/>
                </a:solidFill>
                <a:highlight>
                  <a:srgbClr val="FF0000"/>
                </a:highlight>
              </a:rPr>
              <a:t>least reliable mineral is also Chromium</a:t>
            </a:r>
            <a:r>
              <a:rPr lang="en-US" sz="2000" b="1" dirty="0">
                <a:solidFill>
                  <a:srgbClr val="DADADA"/>
                </a:solidFill>
              </a:rPr>
              <a:t>,</a:t>
            </a:r>
            <a:r>
              <a:rPr lang="en-US" sz="2000" dirty="0">
                <a:solidFill>
                  <a:srgbClr val="DADADA"/>
                </a:solidFill>
              </a:rPr>
              <a:t> followed by </a:t>
            </a:r>
            <a:r>
              <a:rPr lang="en-US" sz="2000" dirty="0" err="1">
                <a:solidFill>
                  <a:srgbClr val="DADADA"/>
                </a:solidFill>
              </a:rPr>
              <a:t>Platinum,and</a:t>
            </a:r>
            <a:r>
              <a:rPr lang="en-US" sz="2000" dirty="0">
                <a:solidFill>
                  <a:srgbClr val="DADADA"/>
                </a:solidFill>
              </a:rPr>
              <a:t> Niobium</a:t>
            </a:r>
          </a:p>
        </p:txBody>
      </p:sp>
      <p:sp>
        <p:nvSpPr>
          <p:cNvPr id="9225" name="Rectangle 9224">
            <a:extLst>
              <a:ext uri="{FF2B5EF4-FFF2-40B4-BE49-F238E27FC236}">
                <a16:creationId xmlns:a16="http://schemas.microsoft.com/office/drawing/2014/main" id="{4897CE0A-1682-0DAF-EF20-159DC285EF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0614" y="965196"/>
            <a:ext cx="6476539" cy="4781641"/>
          </a:xfrm>
          <a:prstGeom prst="rect">
            <a:avLst/>
          </a:prstGeom>
          <a:solidFill>
            <a:schemeClr val="bg1"/>
          </a:solidFill>
          <a:ln w="190500">
            <a:solidFill>
              <a:srgbClr val="FFFFFF">
                <a:alpha val="7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42" name="Picture 2">
            <a:extLst>
              <a:ext uri="{FF2B5EF4-FFF2-40B4-BE49-F238E27FC236}">
                <a16:creationId xmlns:a16="http://schemas.microsoft.com/office/drawing/2014/main" id="{7F12154C-E779-30E5-4E1E-BC807A02EF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8483" y="1070016"/>
            <a:ext cx="6400800" cy="4572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Rounded Corners 3">
            <a:extLst>
              <a:ext uri="{FF2B5EF4-FFF2-40B4-BE49-F238E27FC236}">
                <a16:creationId xmlns:a16="http://schemas.microsoft.com/office/drawing/2014/main" id="{BF334EA3-0A53-B3ED-D6C2-939FAC610B3A}"/>
              </a:ext>
            </a:extLst>
          </p:cNvPr>
          <p:cNvSpPr/>
          <p:nvPr/>
        </p:nvSpPr>
        <p:spPr>
          <a:xfrm>
            <a:off x="2096659" y="5052003"/>
            <a:ext cx="2444862" cy="161365"/>
          </a:xfrm>
          <a:prstGeom prst="roundRect">
            <a:avLst/>
          </a:prstGeom>
          <a:noFill/>
          <a:ln>
            <a:solidFill>
              <a:srgbClr val="FF0000"/>
            </a:solidFill>
          </a:ln>
          <a:effectLst>
            <a:glow rad="635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5337041"/>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BCBA6-DB70-00FB-A563-8DCFF6E12C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184609-FCCC-81A1-3697-896F0E885FD0}"/>
              </a:ext>
            </a:extLst>
          </p:cNvPr>
          <p:cNvSpPr>
            <a:spLocks noGrp="1"/>
          </p:cNvSpPr>
          <p:nvPr>
            <p:ph type="title"/>
          </p:nvPr>
        </p:nvSpPr>
        <p:spPr>
          <a:xfrm>
            <a:off x="919119" y="630676"/>
            <a:ext cx="10353762" cy="5596647"/>
          </a:xfrm>
        </p:spPr>
        <p:txBody>
          <a:bodyPr>
            <a:normAutofit/>
          </a:bodyPr>
          <a:lstStyle/>
          <a:p>
            <a:r>
              <a:rPr lang="en-US" sz="4800" dirty="0"/>
              <a:t>Let’s see how all</a:t>
            </a:r>
            <a:br>
              <a:rPr lang="en-US" sz="4800" dirty="0"/>
            </a:br>
            <a:r>
              <a:rPr lang="en-US" sz="4800" dirty="0"/>
              <a:t>the other minerals</a:t>
            </a:r>
            <a:br>
              <a:rPr lang="en-US" sz="4800" dirty="0"/>
            </a:br>
            <a:r>
              <a:rPr lang="en-US" sz="4800" dirty="0"/>
              <a:t>sum up</a:t>
            </a:r>
          </a:p>
        </p:txBody>
      </p:sp>
    </p:spTree>
    <p:extLst>
      <p:ext uri="{BB962C8B-B14F-4D97-AF65-F5344CB8AC3E}">
        <p14:creationId xmlns:p14="http://schemas.microsoft.com/office/powerpoint/2010/main" val="32982462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4EA13-A207-D11E-CBE8-9482261D57F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0F1D7FEC-F077-35B1-E5CE-1DD5758488D3}"/>
              </a:ext>
            </a:extLst>
          </p:cNvPr>
          <p:cNvSpPr/>
          <p:nvPr/>
        </p:nvSpPr>
        <p:spPr>
          <a:xfrm>
            <a:off x="293654" y="4581728"/>
            <a:ext cx="3657600" cy="1737360"/>
          </a:xfrm>
          <a:prstGeom prst="rect">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ADC6C27A-3DE4-0132-9CF4-FB5AD653755D}"/>
              </a:ext>
            </a:extLst>
          </p:cNvPr>
          <p:cNvSpPr/>
          <p:nvPr/>
        </p:nvSpPr>
        <p:spPr>
          <a:xfrm>
            <a:off x="307095" y="4067460"/>
            <a:ext cx="3630717" cy="514268"/>
          </a:xfrm>
          <a:prstGeom prst="triangle">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66" name="Picture 18" descr="Arsenopyrite, a sample of the element Arsenic in the Periodic Table">
            <a:extLst>
              <a:ext uri="{FF2B5EF4-FFF2-40B4-BE49-F238E27FC236}">
                <a16:creationId xmlns:a16="http://schemas.microsoft.com/office/drawing/2014/main" id="{8ADBECDF-6A29-BEE3-1BE2-E9363AFFD78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a:fillRect/>
          </a:stretch>
        </p:blipFill>
        <p:spPr bwMode="auto">
          <a:xfrm>
            <a:off x="8088346" y="409860"/>
            <a:ext cx="3657600" cy="3657600"/>
          </a:xfrm>
          <a:prstGeom prst="flowChartConnector">
            <a:avLst/>
          </a:prstGeom>
          <a:noFill/>
          <a:extLst>
            <a:ext uri="{909E8E84-426E-40DD-AFC4-6F175D3DCCD1}">
              <a14:hiddenFill xmlns:a14="http://schemas.microsoft.com/office/drawing/2010/main">
                <a:solidFill>
                  <a:srgbClr val="FFFFFF"/>
                </a:solidFill>
              </a14:hiddenFill>
            </a:ext>
          </a:extLst>
        </p:spPr>
      </p:pic>
      <p:pic>
        <p:nvPicPr>
          <p:cNvPr id="2064" name="Picture 16" descr="Antimony | Definition, Symbol, Uses, &amp; Facts | Britannica">
            <a:extLst>
              <a:ext uri="{FF2B5EF4-FFF2-40B4-BE49-F238E27FC236}">
                <a16:creationId xmlns:a16="http://schemas.microsoft.com/office/drawing/2014/main" id="{07F2D74B-165C-217D-4111-ED32004796F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654" r="15654"/>
          <a:stretch>
            <a:fillRect/>
          </a:stretch>
        </p:blipFill>
        <p:spPr bwMode="auto">
          <a:xfrm>
            <a:off x="4261876" y="2787300"/>
            <a:ext cx="3657600" cy="3657600"/>
          </a:xfrm>
          <a:prstGeom prst="flowChartConnector">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71121DB-4B7F-D9C4-FE76-A596B7689BF9}"/>
              </a:ext>
            </a:extLst>
          </p:cNvPr>
          <p:cNvSpPr>
            <a:spLocks noGrp="1"/>
          </p:cNvSpPr>
          <p:nvPr>
            <p:ph type="title"/>
          </p:nvPr>
        </p:nvSpPr>
        <p:spPr>
          <a:xfrm>
            <a:off x="307095" y="4581726"/>
            <a:ext cx="3630718" cy="1371601"/>
          </a:xfrm>
        </p:spPr>
        <p:txBody>
          <a:bodyPr>
            <a:noAutofit/>
          </a:bodyPr>
          <a:lstStyle/>
          <a:p>
            <a:r>
              <a:rPr lang="en-US" sz="2800" dirty="0">
                <a:solidFill>
                  <a:schemeClr val="tx1"/>
                </a:solidFill>
                <a:effectLst/>
              </a:rPr>
              <a:t>Highly sought after</a:t>
            </a:r>
            <a:br>
              <a:rPr lang="en-US" sz="2800" dirty="0">
                <a:solidFill>
                  <a:schemeClr val="tx1"/>
                </a:solidFill>
                <a:effectLst/>
              </a:rPr>
            </a:br>
            <a:r>
              <a:rPr lang="en-US" sz="2800" dirty="0">
                <a:solidFill>
                  <a:schemeClr val="tx1"/>
                </a:solidFill>
                <a:effectLst/>
              </a:rPr>
              <a:t>Reliable access</a:t>
            </a:r>
          </a:p>
        </p:txBody>
      </p:sp>
      <p:pic>
        <p:nvPicPr>
          <p:cNvPr id="2060" name="Picture 12" descr="Premium Photo | Aluminum Ore With Jagged Irregular Shape Grayish White ...">
            <a:extLst>
              <a:ext uri="{FF2B5EF4-FFF2-40B4-BE49-F238E27FC236}">
                <a16:creationId xmlns:a16="http://schemas.microsoft.com/office/drawing/2014/main" id="{5C3D1414-41EA-8E5A-301A-875BFB4714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654" y="409860"/>
            <a:ext cx="3657600" cy="3657600"/>
          </a:xfrm>
          <a:prstGeom prst="flowChartConnector">
            <a:avLst/>
          </a:prstGeom>
          <a:noFill/>
          <a:extLst>
            <a:ext uri="{909E8E84-426E-40DD-AFC4-6F175D3DCCD1}">
              <a14:hiddenFill xmlns:a14="http://schemas.microsoft.com/office/drawing/2010/main">
                <a:solidFill>
                  <a:srgbClr val="FFFFFF"/>
                </a:solidFill>
              </a14:hiddenFill>
            </a:ext>
          </a:extLst>
        </p:spPr>
      </p:pic>
      <p:sp>
        <p:nvSpPr>
          <p:cNvPr id="7" name="Rectangle: Rounded Corners 6">
            <a:extLst>
              <a:ext uri="{FF2B5EF4-FFF2-40B4-BE49-F238E27FC236}">
                <a16:creationId xmlns:a16="http://schemas.microsoft.com/office/drawing/2014/main" id="{9B5723BA-EF8F-451B-00B4-BC0E71014137}"/>
              </a:ext>
            </a:extLst>
          </p:cNvPr>
          <p:cNvSpPr/>
          <p:nvPr/>
        </p:nvSpPr>
        <p:spPr>
          <a:xfrm>
            <a:off x="293654" y="3427380"/>
            <a:ext cx="3657600" cy="640080"/>
          </a:xfrm>
          <a:prstGeom prst="roundRect">
            <a:avLst>
              <a:gd name="adj" fmla="val 50000"/>
            </a:avLst>
          </a:prstGeom>
          <a:gradFill flip="none" rotWithShape="1">
            <a:gsLst>
              <a:gs pos="0">
                <a:schemeClr val="tx1"/>
              </a:gs>
              <a:gs pos="100000">
                <a:schemeClr val="tx2">
                  <a:lumMod val="10000"/>
                </a:schemeClr>
              </a:gs>
            </a:gsLst>
            <a:path path="rect">
              <a:fillToRect l="50000" t="50000" r="50000" b="50000"/>
            </a:path>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effectLst>
                  <a:outerShdw blurRad="38100" dist="38100" dir="2700000" algn="tl">
                    <a:srgbClr val="000000">
                      <a:alpha val="43137"/>
                    </a:srgbClr>
                  </a:outerShdw>
                </a:effectLst>
              </a:rPr>
              <a:t>ALUMINUM</a:t>
            </a:r>
          </a:p>
        </p:txBody>
      </p:sp>
      <p:sp>
        <p:nvSpPr>
          <p:cNvPr id="8" name="Rectangle: Rounded Corners 7">
            <a:extLst>
              <a:ext uri="{FF2B5EF4-FFF2-40B4-BE49-F238E27FC236}">
                <a16:creationId xmlns:a16="http://schemas.microsoft.com/office/drawing/2014/main" id="{90FA89FD-3274-E239-2D26-CE1F8B593FAA}"/>
              </a:ext>
            </a:extLst>
          </p:cNvPr>
          <p:cNvSpPr/>
          <p:nvPr/>
        </p:nvSpPr>
        <p:spPr>
          <a:xfrm>
            <a:off x="4261876" y="2787300"/>
            <a:ext cx="3657600" cy="640080"/>
          </a:xfrm>
          <a:prstGeom prst="roundRect">
            <a:avLst>
              <a:gd name="adj" fmla="val 50000"/>
            </a:avLst>
          </a:prstGeom>
          <a:gradFill flip="none" rotWithShape="1">
            <a:gsLst>
              <a:gs pos="0">
                <a:schemeClr val="tx1"/>
              </a:gs>
              <a:gs pos="100000">
                <a:schemeClr val="tx2">
                  <a:lumMod val="10000"/>
                </a:schemeClr>
              </a:gs>
            </a:gsLst>
            <a:path path="rect">
              <a:fillToRect l="50000" t="50000" r="50000" b="50000"/>
            </a:path>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effectLst>
                  <a:outerShdw blurRad="38100" dist="38100" dir="2700000" algn="tl">
                    <a:srgbClr val="000000">
                      <a:alpha val="43137"/>
                    </a:srgbClr>
                  </a:outerShdw>
                </a:effectLst>
              </a:rPr>
              <a:t>ANTIMONY</a:t>
            </a:r>
          </a:p>
        </p:txBody>
      </p:sp>
      <p:sp>
        <p:nvSpPr>
          <p:cNvPr id="9" name="Rectangle: Rounded Corners 8">
            <a:extLst>
              <a:ext uri="{FF2B5EF4-FFF2-40B4-BE49-F238E27FC236}">
                <a16:creationId xmlns:a16="http://schemas.microsoft.com/office/drawing/2014/main" id="{CF2D7E85-10D7-5197-B1BB-DCF992471AE9}"/>
              </a:ext>
            </a:extLst>
          </p:cNvPr>
          <p:cNvSpPr/>
          <p:nvPr/>
        </p:nvSpPr>
        <p:spPr>
          <a:xfrm>
            <a:off x="8088346" y="3427380"/>
            <a:ext cx="3657600" cy="640080"/>
          </a:xfrm>
          <a:prstGeom prst="roundRect">
            <a:avLst>
              <a:gd name="adj" fmla="val 50000"/>
            </a:avLst>
          </a:prstGeom>
          <a:gradFill flip="none" rotWithShape="1">
            <a:gsLst>
              <a:gs pos="0">
                <a:schemeClr val="tx1"/>
              </a:gs>
              <a:gs pos="100000">
                <a:schemeClr val="tx2">
                  <a:lumMod val="10000"/>
                </a:schemeClr>
              </a:gs>
            </a:gsLst>
            <a:path path="rect">
              <a:fillToRect l="50000" t="50000" r="50000" b="50000"/>
            </a:path>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effectLst>
                  <a:outerShdw blurRad="38100" dist="38100" dir="2700000" algn="tl">
                    <a:srgbClr val="000000">
                      <a:alpha val="43137"/>
                    </a:srgbClr>
                  </a:outerShdw>
                </a:effectLst>
              </a:rPr>
              <a:t>ARSENIC</a:t>
            </a:r>
          </a:p>
        </p:txBody>
      </p:sp>
      <p:sp>
        <p:nvSpPr>
          <p:cNvPr id="12" name="Rectangle 11">
            <a:extLst>
              <a:ext uri="{FF2B5EF4-FFF2-40B4-BE49-F238E27FC236}">
                <a16:creationId xmlns:a16="http://schemas.microsoft.com/office/drawing/2014/main" id="{02B6623A-2802-1B78-44FA-78872127A893}"/>
              </a:ext>
            </a:extLst>
          </p:cNvPr>
          <p:cNvSpPr/>
          <p:nvPr/>
        </p:nvSpPr>
        <p:spPr>
          <a:xfrm>
            <a:off x="8227305" y="4581728"/>
            <a:ext cx="3657600" cy="1737360"/>
          </a:xfrm>
          <a:prstGeom prst="rect">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Isosceles Triangle 12">
            <a:extLst>
              <a:ext uri="{FF2B5EF4-FFF2-40B4-BE49-F238E27FC236}">
                <a16:creationId xmlns:a16="http://schemas.microsoft.com/office/drawing/2014/main" id="{1028C6A4-79CD-F04C-7E65-894DBDC039BE}"/>
              </a:ext>
            </a:extLst>
          </p:cNvPr>
          <p:cNvSpPr/>
          <p:nvPr/>
        </p:nvSpPr>
        <p:spPr>
          <a:xfrm>
            <a:off x="8240746" y="4067460"/>
            <a:ext cx="3630717" cy="514268"/>
          </a:xfrm>
          <a:prstGeom prst="triangle">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50B8047-A726-7F55-FA67-C7192C8D3C79}"/>
              </a:ext>
            </a:extLst>
          </p:cNvPr>
          <p:cNvSpPr/>
          <p:nvPr/>
        </p:nvSpPr>
        <p:spPr>
          <a:xfrm rot="10800000">
            <a:off x="4240317" y="535671"/>
            <a:ext cx="3657600" cy="1737360"/>
          </a:xfrm>
          <a:prstGeom prst="rect">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Isosceles Triangle 14">
            <a:extLst>
              <a:ext uri="{FF2B5EF4-FFF2-40B4-BE49-F238E27FC236}">
                <a16:creationId xmlns:a16="http://schemas.microsoft.com/office/drawing/2014/main" id="{9D8E64FB-39B4-14FB-F00D-B741447A4333}"/>
              </a:ext>
            </a:extLst>
          </p:cNvPr>
          <p:cNvSpPr/>
          <p:nvPr/>
        </p:nvSpPr>
        <p:spPr>
          <a:xfrm rot="10800000">
            <a:off x="4204441" y="2273032"/>
            <a:ext cx="3630717" cy="514268"/>
          </a:xfrm>
          <a:prstGeom prst="triangle">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itle 1">
            <a:extLst>
              <a:ext uri="{FF2B5EF4-FFF2-40B4-BE49-F238E27FC236}">
                <a16:creationId xmlns:a16="http://schemas.microsoft.com/office/drawing/2014/main" id="{2899D05B-B3CA-4D11-C42F-DEDE53E8D98F}"/>
              </a:ext>
            </a:extLst>
          </p:cNvPr>
          <p:cNvSpPr txBox="1">
            <a:spLocks/>
          </p:cNvSpPr>
          <p:nvPr/>
        </p:nvSpPr>
        <p:spPr>
          <a:xfrm>
            <a:off x="4253758" y="901429"/>
            <a:ext cx="3630718" cy="1371601"/>
          </a:xfrm>
          <a:prstGeom prst="rect">
            <a:avLst/>
          </a:prstGeom>
          <a:effectLst>
            <a:outerShdw blurRad="25400" dir="17880000">
              <a:srgbClr val="000000">
                <a:alpha val="46000"/>
              </a:srgbClr>
            </a:outerShdw>
          </a:effectLst>
        </p:spPr>
        <p:txBody>
          <a:bodyPr vert="horz" lIns="91440" tIns="45720" rIns="91440" bIns="45720" rtlCol="0" anchor="ctr">
            <a:noAutofit/>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dirty="0">
                <a:solidFill>
                  <a:schemeClr val="tx1"/>
                </a:solidFill>
                <a:effectLst/>
              </a:rPr>
              <a:t>Little sought after</a:t>
            </a:r>
            <a:br>
              <a:rPr lang="en-US" sz="2800" dirty="0">
                <a:solidFill>
                  <a:schemeClr val="tx1"/>
                </a:solidFill>
                <a:effectLst/>
              </a:rPr>
            </a:br>
            <a:r>
              <a:rPr lang="en-US" sz="2800" dirty="0">
                <a:solidFill>
                  <a:schemeClr val="tx1"/>
                </a:solidFill>
                <a:effectLst/>
              </a:rPr>
              <a:t>Somewhat reliable access</a:t>
            </a:r>
          </a:p>
        </p:txBody>
      </p:sp>
      <p:sp>
        <p:nvSpPr>
          <p:cNvPr id="19" name="Title 1">
            <a:extLst>
              <a:ext uri="{FF2B5EF4-FFF2-40B4-BE49-F238E27FC236}">
                <a16:creationId xmlns:a16="http://schemas.microsoft.com/office/drawing/2014/main" id="{02C92363-F9D6-EA3F-6E68-B173FA570BD7}"/>
              </a:ext>
            </a:extLst>
          </p:cNvPr>
          <p:cNvSpPr txBox="1">
            <a:spLocks/>
          </p:cNvSpPr>
          <p:nvPr/>
        </p:nvSpPr>
        <p:spPr>
          <a:xfrm>
            <a:off x="8227304" y="4536007"/>
            <a:ext cx="3630718" cy="1371601"/>
          </a:xfrm>
          <a:prstGeom prst="rect">
            <a:avLst/>
          </a:prstGeom>
          <a:effectLst>
            <a:outerShdw blurRad="25400" dir="17880000">
              <a:srgbClr val="000000">
                <a:alpha val="46000"/>
              </a:srgbClr>
            </a:outerShdw>
          </a:effectLst>
        </p:spPr>
        <p:txBody>
          <a:bodyPr vert="horz" lIns="91440" tIns="45720" rIns="91440" bIns="45720" rtlCol="0" anchor="ctr">
            <a:noAutofit/>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dirty="0">
                <a:solidFill>
                  <a:schemeClr val="tx1"/>
                </a:solidFill>
                <a:effectLst/>
              </a:rPr>
              <a:t>Little sought after</a:t>
            </a:r>
            <a:br>
              <a:rPr lang="en-US" sz="2800" dirty="0">
                <a:solidFill>
                  <a:schemeClr val="tx1"/>
                </a:solidFill>
                <a:effectLst/>
              </a:rPr>
            </a:br>
            <a:r>
              <a:rPr lang="en-US" sz="2800" dirty="0">
                <a:solidFill>
                  <a:schemeClr val="tx1"/>
                </a:solidFill>
                <a:effectLst/>
              </a:rPr>
              <a:t>Somewhat reliable access</a:t>
            </a:r>
          </a:p>
        </p:txBody>
      </p:sp>
    </p:spTree>
    <p:extLst>
      <p:ext uri="{BB962C8B-B14F-4D97-AF65-F5344CB8AC3E}">
        <p14:creationId xmlns:p14="http://schemas.microsoft.com/office/powerpoint/2010/main" val="731827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9F997-53EF-2FF5-9A02-9A726FDDA006}"/>
            </a:ext>
          </a:extLst>
        </p:cNvPr>
        <p:cNvGrpSpPr/>
        <p:nvPr/>
      </p:nvGrpSpPr>
      <p:grpSpPr>
        <a:xfrm>
          <a:off x="0" y="0"/>
          <a:ext cx="0" cy="0"/>
          <a:chOff x="0" y="0"/>
          <a:chExt cx="0" cy="0"/>
        </a:xfrm>
      </p:grpSpPr>
      <p:pic>
        <p:nvPicPr>
          <p:cNvPr id="8202" name="Picture 10" descr="High Grade Cobalt Ore at best price in Mumbai by Shakti Techno Vation ...">
            <a:extLst>
              <a:ext uri="{FF2B5EF4-FFF2-40B4-BE49-F238E27FC236}">
                <a16:creationId xmlns:a16="http://schemas.microsoft.com/office/drawing/2014/main" id="{BFD3DC7F-CCF4-283B-6892-8E501AE2089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979" r="11979"/>
          <a:stretch>
            <a:fillRect/>
          </a:stretch>
        </p:blipFill>
        <p:spPr bwMode="auto">
          <a:xfrm>
            <a:off x="8088346" y="409860"/>
            <a:ext cx="3657600" cy="3657600"/>
          </a:xfrm>
          <a:prstGeom prst="flowChartConnector">
            <a:avLst/>
          </a:prstGeom>
          <a:noFill/>
          <a:extLst>
            <a:ext uri="{909E8E84-426E-40DD-AFC4-6F175D3DCCD1}">
              <a14:hiddenFill xmlns:a14="http://schemas.microsoft.com/office/drawing/2010/main">
                <a:solidFill>
                  <a:srgbClr val="FFFFFF"/>
                </a:solidFill>
              </a14:hiddenFill>
            </a:ext>
          </a:extLst>
        </p:spPr>
      </p:pic>
      <p:pic>
        <p:nvPicPr>
          <p:cNvPr id="8200" name="Picture 8" descr="In-depth Analysis of Chrome Ore - JXSC Machine">
            <a:extLst>
              <a:ext uri="{FF2B5EF4-FFF2-40B4-BE49-F238E27FC236}">
                <a16:creationId xmlns:a16="http://schemas.microsoft.com/office/drawing/2014/main" id="{D15B55D5-4118-03E8-9D02-3E6400A67DE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881" r="14881"/>
          <a:stretch>
            <a:fillRect/>
          </a:stretch>
        </p:blipFill>
        <p:spPr bwMode="auto">
          <a:xfrm>
            <a:off x="4261876" y="2787300"/>
            <a:ext cx="3657600" cy="3657600"/>
          </a:xfrm>
          <a:prstGeom prst="flowChartConnector">
            <a:avLst/>
          </a:prstGeom>
          <a:noFill/>
          <a:extLst>
            <a:ext uri="{909E8E84-426E-40DD-AFC4-6F175D3DCCD1}">
              <a14:hiddenFill xmlns:a14="http://schemas.microsoft.com/office/drawing/2010/main">
                <a:solidFill>
                  <a:srgbClr val="FFFFFF"/>
                </a:solidFill>
              </a14:hiddenFill>
            </a:ext>
          </a:extLst>
        </p:spPr>
      </p:pic>
      <p:pic>
        <p:nvPicPr>
          <p:cNvPr id="8194" name="Picture 2" descr="Barite crystals, an ore of Barium - Stock Image - C022/4439 - Science ...">
            <a:extLst>
              <a:ext uri="{FF2B5EF4-FFF2-40B4-BE49-F238E27FC236}">
                <a16:creationId xmlns:a16="http://schemas.microsoft.com/office/drawing/2014/main" id="{7E3D07F7-C53F-C71A-AADF-CB02253565B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6688" r="16688"/>
          <a:stretch>
            <a:fillRect/>
          </a:stretch>
        </p:blipFill>
        <p:spPr bwMode="auto">
          <a:xfrm>
            <a:off x="293654" y="409860"/>
            <a:ext cx="3657600" cy="3657600"/>
          </a:xfrm>
          <a:prstGeom prst="flowChartConnector">
            <a:avLst/>
          </a:prstGeom>
          <a:noFill/>
          <a:extLst>
            <a:ext uri="{909E8E84-426E-40DD-AFC4-6F175D3DCCD1}">
              <a14:hiddenFill xmlns:a14="http://schemas.microsoft.com/office/drawing/2010/main">
                <a:solidFill>
                  <a:srgbClr val="FFFFFF"/>
                </a:solidFill>
              </a14:hiddenFill>
            </a:ext>
          </a:extLst>
        </p:spPr>
      </p:pic>
      <p:sp>
        <p:nvSpPr>
          <p:cNvPr id="4" name="Rectangle: Rounded Corners 3">
            <a:extLst>
              <a:ext uri="{FF2B5EF4-FFF2-40B4-BE49-F238E27FC236}">
                <a16:creationId xmlns:a16="http://schemas.microsoft.com/office/drawing/2014/main" id="{D1EFF69D-33BA-F38D-8751-9EEB4965E1B6}"/>
              </a:ext>
            </a:extLst>
          </p:cNvPr>
          <p:cNvSpPr/>
          <p:nvPr/>
        </p:nvSpPr>
        <p:spPr>
          <a:xfrm>
            <a:off x="293654" y="3427380"/>
            <a:ext cx="3657600" cy="640080"/>
          </a:xfrm>
          <a:prstGeom prst="roundRect">
            <a:avLst>
              <a:gd name="adj" fmla="val 50000"/>
            </a:avLst>
          </a:prstGeom>
          <a:gradFill flip="none" rotWithShape="1">
            <a:gsLst>
              <a:gs pos="0">
                <a:schemeClr val="tx1"/>
              </a:gs>
              <a:gs pos="100000">
                <a:schemeClr val="tx2">
                  <a:lumMod val="10000"/>
                </a:schemeClr>
              </a:gs>
            </a:gsLst>
            <a:path path="rect">
              <a:fillToRect l="50000" t="50000" r="50000" b="50000"/>
            </a:path>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effectLst>
                  <a:outerShdw blurRad="38100" dist="38100" dir="2700000" algn="tl">
                    <a:srgbClr val="000000">
                      <a:alpha val="43137"/>
                    </a:srgbClr>
                  </a:outerShdw>
                </a:effectLst>
              </a:rPr>
              <a:t>BARITE</a:t>
            </a:r>
          </a:p>
        </p:txBody>
      </p:sp>
      <p:sp>
        <p:nvSpPr>
          <p:cNvPr id="5" name="Rectangle: Rounded Corners 4">
            <a:extLst>
              <a:ext uri="{FF2B5EF4-FFF2-40B4-BE49-F238E27FC236}">
                <a16:creationId xmlns:a16="http://schemas.microsoft.com/office/drawing/2014/main" id="{006151B2-FF0D-FB5D-590B-6A2E4670753B}"/>
              </a:ext>
            </a:extLst>
          </p:cNvPr>
          <p:cNvSpPr/>
          <p:nvPr/>
        </p:nvSpPr>
        <p:spPr>
          <a:xfrm>
            <a:off x="4261876" y="2787300"/>
            <a:ext cx="3657600" cy="640080"/>
          </a:xfrm>
          <a:prstGeom prst="roundRect">
            <a:avLst>
              <a:gd name="adj" fmla="val 50000"/>
            </a:avLst>
          </a:prstGeom>
          <a:gradFill flip="none" rotWithShape="1">
            <a:gsLst>
              <a:gs pos="0">
                <a:schemeClr val="tx1"/>
              </a:gs>
              <a:gs pos="100000">
                <a:schemeClr val="tx2">
                  <a:lumMod val="10000"/>
                </a:schemeClr>
              </a:gs>
            </a:gsLst>
            <a:path path="rect">
              <a:fillToRect l="50000" t="50000" r="50000" b="50000"/>
            </a:path>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effectLst>
                  <a:outerShdw blurRad="38100" dist="38100" dir="2700000" algn="tl">
                    <a:srgbClr val="000000">
                      <a:alpha val="43137"/>
                    </a:srgbClr>
                  </a:outerShdw>
                </a:effectLst>
              </a:rPr>
              <a:t>CHROMIUM</a:t>
            </a:r>
          </a:p>
        </p:txBody>
      </p:sp>
      <p:sp>
        <p:nvSpPr>
          <p:cNvPr id="6" name="Rectangle: Rounded Corners 5">
            <a:extLst>
              <a:ext uri="{FF2B5EF4-FFF2-40B4-BE49-F238E27FC236}">
                <a16:creationId xmlns:a16="http://schemas.microsoft.com/office/drawing/2014/main" id="{164EC815-B9C3-6AF2-2CE5-86147D25C14B}"/>
              </a:ext>
            </a:extLst>
          </p:cNvPr>
          <p:cNvSpPr/>
          <p:nvPr/>
        </p:nvSpPr>
        <p:spPr>
          <a:xfrm>
            <a:off x="8088346" y="3427380"/>
            <a:ext cx="3657600" cy="640080"/>
          </a:xfrm>
          <a:prstGeom prst="roundRect">
            <a:avLst>
              <a:gd name="adj" fmla="val 50000"/>
            </a:avLst>
          </a:prstGeom>
          <a:gradFill flip="none" rotWithShape="1">
            <a:gsLst>
              <a:gs pos="0">
                <a:schemeClr val="tx1"/>
              </a:gs>
              <a:gs pos="100000">
                <a:schemeClr val="tx2">
                  <a:lumMod val="10000"/>
                </a:schemeClr>
              </a:gs>
            </a:gsLst>
            <a:path path="rect">
              <a:fillToRect l="50000" t="50000" r="50000" b="50000"/>
            </a:path>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effectLst>
                  <a:outerShdw blurRad="38100" dist="38100" dir="2700000" algn="tl">
                    <a:srgbClr val="000000">
                      <a:alpha val="43137"/>
                    </a:srgbClr>
                  </a:outerShdw>
                </a:effectLst>
              </a:rPr>
              <a:t>COBALT</a:t>
            </a:r>
          </a:p>
        </p:txBody>
      </p:sp>
      <p:sp>
        <p:nvSpPr>
          <p:cNvPr id="9" name="Rectangle 8">
            <a:extLst>
              <a:ext uri="{FF2B5EF4-FFF2-40B4-BE49-F238E27FC236}">
                <a16:creationId xmlns:a16="http://schemas.microsoft.com/office/drawing/2014/main" id="{C3324805-D810-B638-9104-C9B6848FA702}"/>
              </a:ext>
            </a:extLst>
          </p:cNvPr>
          <p:cNvSpPr/>
          <p:nvPr/>
        </p:nvSpPr>
        <p:spPr>
          <a:xfrm>
            <a:off x="4240317" y="535021"/>
            <a:ext cx="3657600" cy="1738010"/>
          </a:xfrm>
          <a:prstGeom prst="rect">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mj-lt"/>
              </a:rPr>
              <a:t>Highly sought after</a:t>
            </a:r>
          </a:p>
          <a:p>
            <a:pPr algn="ctr"/>
            <a:r>
              <a:rPr lang="en-US" sz="2800" dirty="0">
                <a:latin typeface="+mj-lt"/>
              </a:rPr>
              <a:t>Unreliable access</a:t>
            </a:r>
          </a:p>
        </p:txBody>
      </p:sp>
      <p:sp>
        <p:nvSpPr>
          <p:cNvPr id="10" name="Isosceles Triangle 9">
            <a:extLst>
              <a:ext uri="{FF2B5EF4-FFF2-40B4-BE49-F238E27FC236}">
                <a16:creationId xmlns:a16="http://schemas.microsoft.com/office/drawing/2014/main" id="{DE8CB6D9-74EB-4827-F751-F0759DDCFC2C}"/>
              </a:ext>
            </a:extLst>
          </p:cNvPr>
          <p:cNvSpPr/>
          <p:nvPr/>
        </p:nvSpPr>
        <p:spPr>
          <a:xfrm rot="10800000">
            <a:off x="4204441" y="2273032"/>
            <a:ext cx="3630717" cy="514268"/>
          </a:xfrm>
          <a:prstGeom prst="triangle">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86D9A9A-5569-9013-5D3C-E7C413536D25}"/>
              </a:ext>
            </a:extLst>
          </p:cNvPr>
          <p:cNvSpPr/>
          <p:nvPr/>
        </p:nvSpPr>
        <p:spPr>
          <a:xfrm>
            <a:off x="8227305" y="4581728"/>
            <a:ext cx="3657600" cy="1737360"/>
          </a:xfrm>
          <a:prstGeom prst="rect">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mj-lt"/>
              </a:rPr>
              <a:t>Little sought after</a:t>
            </a:r>
          </a:p>
          <a:p>
            <a:pPr algn="ctr"/>
            <a:r>
              <a:rPr lang="en-US" sz="2800" dirty="0">
                <a:latin typeface="+mj-lt"/>
              </a:rPr>
              <a:t>Somewhat reliable access</a:t>
            </a:r>
          </a:p>
        </p:txBody>
      </p:sp>
      <p:sp>
        <p:nvSpPr>
          <p:cNvPr id="12" name="Isosceles Triangle 11">
            <a:extLst>
              <a:ext uri="{FF2B5EF4-FFF2-40B4-BE49-F238E27FC236}">
                <a16:creationId xmlns:a16="http://schemas.microsoft.com/office/drawing/2014/main" id="{6F508512-0CFC-08C0-625C-24787A8950EC}"/>
              </a:ext>
            </a:extLst>
          </p:cNvPr>
          <p:cNvSpPr/>
          <p:nvPr/>
        </p:nvSpPr>
        <p:spPr>
          <a:xfrm>
            <a:off x="8240746" y="4067460"/>
            <a:ext cx="3630717" cy="514268"/>
          </a:xfrm>
          <a:prstGeom prst="triangle">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1183D31-0F24-2094-A1FC-10F18D699842}"/>
              </a:ext>
            </a:extLst>
          </p:cNvPr>
          <p:cNvSpPr/>
          <p:nvPr/>
        </p:nvSpPr>
        <p:spPr>
          <a:xfrm>
            <a:off x="280212" y="4581728"/>
            <a:ext cx="3657600" cy="1737360"/>
          </a:xfrm>
          <a:prstGeom prst="rect">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7B094C60-2405-D845-F420-62A99E53031B}"/>
              </a:ext>
            </a:extLst>
          </p:cNvPr>
          <p:cNvSpPr/>
          <p:nvPr/>
        </p:nvSpPr>
        <p:spPr>
          <a:xfrm>
            <a:off x="293653" y="4067460"/>
            <a:ext cx="3630717" cy="514268"/>
          </a:xfrm>
          <a:prstGeom prst="triangle">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38BBC7B8-F7B6-6D1A-9246-F10CB363468A}"/>
              </a:ext>
            </a:extLst>
          </p:cNvPr>
          <p:cNvSpPr>
            <a:spLocks noGrp="1"/>
          </p:cNvSpPr>
          <p:nvPr>
            <p:ph type="title"/>
          </p:nvPr>
        </p:nvSpPr>
        <p:spPr>
          <a:xfrm>
            <a:off x="307095" y="4581726"/>
            <a:ext cx="3630718" cy="1737360"/>
          </a:xfrm>
        </p:spPr>
        <p:txBody>
          <a:bodyPr>
            <a:noAutofit/>
          </a:bodyPr>
          <a:lstStyle/>
          <a:p>
            <a:r>
              <a:rPr lang="en-US" sz="2800" dirty="0">
                <a:solidFill>
                  <a:schemeClr val="tx1"/>
                </a:solidFill>
                <a:effectLst/>
              </a:rPr>
              <a:t>Moderately sought after</a:t>
            </a:r>
            <a:br>
              <a:rPr lang="en-US" sz="2800" dirty="0">
                <a:solidFill>
                  <a:schemeClr val="tx1"/>
                </a:solidFill>
                <a:effectLst/>
              </a:rPr>
            </a:br>
            <a:r>
              <a:rPr lang="en-US" sz="2800" dirty="0">
                <a:solidFill>
                  <a:schemeClr val="tx1"/>
                </a:solidFill>
                <a:effectLst/>
              </a:rPr>
              <a:t>Somewhat reliable access</a:t>
            </a:r>
          </a:p>
        </p:txBody>
      </p:sp>
    </p:spTree>
    <p:extLst>
      <p:ext uri="{BB962C8B-B14F-4D97-AF65-F5344CB8AC3E}">
        <p14:creationId xmlns:p14="http://schemas.microsoft.com/office/powerpoint/2010/main" val="3306363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BF560-4F43-2E5E-4DDF-626EC4171419}"/>
            </a:ext>
          </a:extLst>
        </p:cNvPr>
        <p:cNvGrpSpPr/>
        <p:nvPr/>
      </p:nvGrpSpPr>
      <p:grpSpPr>
        <a:xfrm>
          <a:off x="0" y="0"/>
          <a:ext cx="0" cy="0"/>
          <a:chOff x="0" y="0"/>
          <a:chExt cx="0" cy="0"/>
        </a:xfrm>
      </p:grpSpPr>
      <p:pic>
        <p:nvPicPr>
          <p:cNvPr id="7174" name="Picture 6" descr="Lithium">
            <a:extLst>
              <a:ext uri="{FF2B5EF4-FFF2-40B4-BE49-F238E27FC236}">
                <a16:creationId xmlns:a16="http://schemas.microsoft.com/office/drawing/2014/main" id="{3ABFA4CE-E8D1-6481-3DD2-CEF091B7813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562" r="16562"/>
          <a:stretch>
            <a:fillRect/>
          </a:stretch>
        </p:blipFill>
        <p:spPr bwMode="auto">
          <a:xfrm>
            <a:off x="8088346" y="409860"/>
            <a:ext cx="3657600" cy="3657600"/>
          </a:xfrm>
          <a:prstGeom prst="flowChartConnector">
            <a:avLst/>
          </a:prstGeom>
          <a:noFill/>
          <a:extLst>
            <a:ext uri="{909E8E84-426E-40DD-AFC4-6F175D3DCCD1}">
              <a14:hiddenFill xmlns:a14="http://schemas.microsoft.com/office/drawing/2010/main">
                <a:solidFill>
                  <a:srgbClr val="FFFFFF"/>
                </a:solidFill>
              </a14:hiddenFill>
            </a:ext>
          </a:extLst>
        </p:spPr>
      </p:pic>
      <p:pic>
        <p:nvPicPr>
          <p:cNvPr id="7172" name="Picture 4" descr="Graphite Mineral Color">
            <a:extLst>
              <a:ext uri="{FF2B5EF4-FFF2-40B4-BE49-F238E27FC236}">
                <a16:creationId xmlns:a16="http://schemas.microsoft.com/office/drawing/2014/main" id="{104D6071-2C61-6025-F600-E218B67A631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603" r="4603"/>
          <a:stretch>
            <a:fillRect/>
          </a:stretch>
        </p:blipFill>
        <p:spPr bwMode="auto">
          <a:xfrm>
            <a:off x="4261876" y="2787300"/>
            <a:ext cx="3657600" cy="3657600"/>
          </a:xfrm>
          <a:prstGeom prst="flowChartConnector">
            <a:avLst/>
          </a:prstGeom>
          <a:noFill/>
          <a:extLst>
            <a:ext uri="{909E8E84-426E-40DD-AFC4-6F175D3DCCD1}">
              <a14:hiddenFill xmlns:a14="http://schemas.microsoft.com/office/drawing/2010/main">
                <a:solidFill>
                  <a:srgbClr val="FFFFFF"/>
                </a:solidFill>
              </a14:hiddenFill>
            </a:ext>
          </a:extLst>
        </p:spPr>
      </p:pic>
      <p:pic>
        <p:nvPicPr>
          <p:cNvPr id="7170" name="Picture 2" descr="Minerals – MK Metals Maroc">
            <a:extLst>
              <a:ext uri="{FF2B5EF4-FFF2-40B4-BE49-F238E27FC236}">
                <a16:creationId xmlns:a16="http://schemas.microsoft.com/office/drawing/2014/main" id="{CDC654B6-8BFD-B8B3-57DB-2C0B1BF725B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5478" r="15478"/>
          <a:stretch>
            <a:fillRect/>
          </a:stretch>
        </p:blipFill>
        <p:spPr bwMode="auto">
          <a:xfrm>
            <a:off x="293654" y="409860"/>
            <a:ext cx="3657600" cy="3657600"/>
          </a:xfrm>
          <a:prstGeom prst="flowChartConnector">
            <a:avLst/>
          </a:prstGeom>
          <a:noFill/>
          <a:extLst>
            <a:ext uri="{909E8E84-426E-40DD-AFC4-6F175D3DCCD1}">
              <a14:hiddenFill xmlns:a14="http://schemas.microsoft.com/office/drawing/2010/main">
                <a:solidFill>
                  <a:srgbClr val="FFFFFF"/>
                </a:solidFill>
              </a14:hiddenFill>
            </a:ext>
          </a:extLst>
        </p:spPr>
      </p:pic>
      <p:sp>
        <p:nvSpPr>
          <p:cNvPr id="4" name="Rectangle: Rounded Corners 3">
            <a:extLst>
              <a:ext uri="{FF2B5EF4-FFF2-40B4-BE49-F238E27FC236}">
                <a16:creationId xmlns:a16="http://schemas.microsoft.com/office/drawing/2014/main" id="{A93FEE5A-1F06-6743-061E-50881FEB80BB}"/>
              </a:ext>
            </a:extLst>
          </p:cNvPr>
          <p:cNvSpPr/>
          <p:nvPr/>
        </p:nvSpPr>
        <p:spPr>
          <a:xfrm>
            <a:off x="293654" y="3427380"/>
            <a:ext cx="3657600" cy="640080"/>
          </a:xfrm>
          <a:prstGeom prst="roundRect">
            <a:avLst>
              <a:gd name="adj" fmla="val 50000"/>
            </a:avLst>
          </a:prstGeom>
          <a:gradFill flip="none" rotWithShape="1">
            <a:gsLst>
              <a:gs pos="0">
                <a:schemeClr val="tx1"/>
              </a:gs>
              <a:gs pos="100000">
                <a:schemeClr val="tx2">
                  <a:lumMod val="10000"/>
                </a:schemeClr>
              </a:gs>
            </a:gsLst>
            <a:path path="rect">
              <a:fillToRect l="50000" t="50000" r="50000" b="50000"/>
            </a:path>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effectLst>
                  <a:outerShdw blurRad="38100" dist="38100" dir="2700000" algn="tl">
                    <a:srgbClr val="000000">
                      <a:alpha val="43137"/>
                    </a:srgbClr>
                  </a:outerShdw>
                </a:effectLst>
              </a:rPr>
              <a:t>FLUORSPAR</a:t>
            </a:r>
          </a:p>
        </p:txBody>
      </p:sp>
      <p:sp>
        <p:nvSpPr>
          <p:cNvPr id="5" name="Rectangle: Rounded Corners 4">
            <a:extLst>
              <a:ext uri="{FF2B5EF4-FFF2-40B4-BE49-F238E27FC236}">
                <a16:creationId xmlns:a16="http://schemas.microsoft.com/office/drawing/2014/main" id="{C896DE9F-0BF8-3393-0261-3EE60D74ABC0}"/>
              </a:ext>
            </a:extLst>
          </p:cNvPr>
          <p:cNvSpPr/>
          <p:nvPr/>
        </p:nvSpPr>
        <p:spPr>
          <a:xfrm>
            <a:off x="4261876" y="2787300"/>
            <a:ext cx="3657600" cy="640080"/>
          </a:xfrm>
          <a:prstGeom prst="roundRect">
            <a:avLst>
              <a:gd name="adj" fmla="val 50000"/>
            </a:avLst>
          </a:prstGeom>
          <a:gradFill flip="none" rotWithShape="1">
            <a:gsLst>
              <a:gs pos="0">
                <a:schemeClr val="tx1"/>
              </a:gs>
              <a:gs pos="100000">
                <a:schemeClr val="tx2">
                  <a:lumMod val="10000"/>
                </a:schemeClr>
              </a:gs>
            </a:gsLst>
            <a:path path="rect">
              <a:fillToRect l="50000" t="50000" r="50000" b="50000"/>
            </a:path>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effectLst>
                  <a:outerShdw blurRad="38100" dist="38100" dir="2700000" algn="tl">
                    <a:srgbClr val="000000">
                      <a:alpha val="43137"/>
                    </a:srgbClr>
                  </a:outerShdw>
                </a:effectLst>
              </a:rPr>
              <a:t>GRAPHITE</a:t>
            </a:r>
          </a:p>
        </p:txBody>
      </p:sp>
      <p:sp>
        <p:nvSpPr>
          <p:cNvPr id="6" name="Rectangle: Rounded Corners 5">
            <a:extLst>
              <a:ext uri="{FF2B5EF4-FFF2-40B4-BE49-F238E27FC236}">
                <a16:creationId xmlns:a16="http://schemas.microsoft.com/office/drawing/2014/main" id="{E3FAFD4C-6EAE-2CFA-A5C2-2EB7CFEF00DF}"/>
              </a:ext>
            </a:extLst>
          </p:cNvPr>
          <p:cNvSpPr/>
          <p:nvPr/>
        </p:nvSpPr>
        <p:spPr>
          <a:xfrm>
            <a:off x="8088346" y="3427380"/>
            <a:ext cx="3657600" cy="640080"/>
          </a:xfrm>
          <a:prstGeom prst="roundRect">
            <a:avLst>
              <a:gd name="adj" fmla="val 50000"/>
            </a:avLst>
          </a:prstGeom>
          <a:gradFill flip="none" rotWithShape="1">
            <a:gsLst>
              <a:gs pos="0">
                <a:schemeClr val="tx1"/>
              </a:gs>
              <a:gs pos="100000">
                <a:schemeClr val="tx2">
                  <a:lumMod val="10000"/>
                </a:schemeClr>
              </a:gs>
            </a:gsLst>
            <a:path path="rect">
              <a:fillToRect l="50000" t="50000" r="50000" b="50000"/>
            </a:path>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effectLst>
                  <a:outerShdw blurRad="38100" dist="38100" dir="2700000" algn="tl">
                    <a:srgbClr val="000000">
                      <a:alpha val="43137"/>
                    </a:srgbClr>
                  </a:outerShdw>
                </a:effectLst>
              </a:rPr>
              <a:t>LITHIUM</a:t>
            </a:r>
          </a:p>
        </p:txBody>
      </p:sp>
      <p:sp>
        <p:nvSpPr>
          <p:cNvPr id="7" name="Rectangle 6">
            <a:extLst>
              <a:ext uri="{FF2B5EF4-FFF2-40B4-BE49-F238E27FC236}">
                <a16:creationId xmlns:a16="http://schemas.microsoft.com/office/drawing/2014/main" id="{C7DFC47D-17FB-A67B-7AE4-24797CDE7DC9}"/>
              </a:ext>
            </a:extLst>
          </p:cNvPr>
          <p:cNvSpPr/>
          <p:nvPr/>
        </p:nvSpPr>
        <p:spPr>
          <a:xfrm>
            <a:off x="4240317" y="535671"/>
            <a:ext cx="3657600" cy="1737360"/>
          </a:xfrm>
          <a:prstGeom prst="rect">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mj-lt"/>
              </a:rPr>
              <a:t>Moderately sought after</a:t>
            </a:r>
          </a:p>
          <a:p>
            <a:pPr algn="ctr"/>
            <a:r>
              <a:rPr lang="en-US" sz="2800" dirty="0">
                <a:latin typeface="+mj-lt"/>
              </a:rPr>
              <a:t>Reliable access</a:t>
            </a:r>
          </a:p>
        </p:txBody>
      </p:sp>
      <p:sp>
        <p:nvSpPr>
          <p:cNvPr id="8" name="Isosceles Triangle 7">
            <a:extLst>
              <a:ext uri="{FF2B5EF4-FFF2-40B4-BE49-F238E27FC236}">
                <a16:creationId xmlns:a16="http://schemas.microsoft.com/office/drawing/2014/main" id="{0BCA3444-9FD1-77EF-CC8B-9E3BD8B44245}"/>
              </a:ext>
            </a:extLst>
          </p:cNvPr>
          <p:cNvSpPr/>
          <p:nvPr/>
        </p:nvSpPr>
        <p:spPr>
          <a:xfrm rot="10800000">
            <a:off x="4204441" y="2273032"/>
            <a:ext cx="3630717" cy="514268"/>
          </a:xfrm>
          <a:prstGeom prst="triangle">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79CD51D-95E8-552F-A4A6-96782B749161}"/>
              </a:ext>
            </a:extLst>
          </p:cNvPr>
          <p:cNvSpPr/>
          <p:nvPr/>
        </p:nvSpPr>
        <p:spPr>
          <a:xfrm>
            <a:off x="8227305" y="4581728"/>
            <a:ext cx="3657600" cy="1737360"/>
          </a:xfrm>
          <a:prstGeom prst="rect">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mj-lt"/>
              </a:rPr>
              <a:t>Little sought after</a:t>
            </a:r>
          </a:p>
          <a:p>
            <a:pPr algn="ctr"/>
            <a:r>
              <a:rPr lang="en-US" sz="2800" dirty="0"/>
              <a:t>Somewhat reliable access</a:t>
            </a:r>
          </a:p>
        </p:txBody>
      </p:sp>
      <p:sp>
        <p:nvSpPr>
          <p:cNvPr id="10" name="Isosceles Triangle 9">
            <a:extLst>
              <a:ext uri="{FF2B5EF4-FFF2-40B4-BE49-F238E27FC236}">
                <a16:creationId xmlns:a16="http://schemas.microsoft.com/office/drawing/2014/main" id="{6C7A79CD-6020-32B0-930C-BCD9A72F17DC}"/>
              </a:ext>
            </a:extLst>
          </p:cNvPr>
          <p:cNvSpPr/>
          <p:nvPr/>
        </p:nvSpPr>
        <p:spPr>
          <a:xfrm>
            <a:off x="8240746" y="4067460"/>
            <a:ext cx="3630717" cy="514268"/>
          </a:xfrm>
          <a:prstGeom prst="triangle">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27F0BAF-B0FA-980B-A460-6C4548F503A5}"/>
              </a:ext>
            </a:extLst>
          </p:cNvPr>
          <p:cNvSpPr/>
          <p:nvPr/>
        </p:nvSpPr>
        <p:spPr>
          <a:xfrm>
            <a:off x="280212" y="4581728"/>
            <a:ext cx="3657600" cy="1737360"/>
          </a:xfrm>
          <a:prstGeom prst="rect">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mj-lt"/>
              </a:rPr>
              <a:t>Little sought after</a:t>
            </a:r>
          </a:p>
          <a:p>
            <a:pPr algn="ctr"/>
            <a:r>
              <a:rPr lang="en-US" sz="2800" dirty="0">
                <a:latin typeface="+mj-lt"/>
              </a:rPr>
              <a:t>Somewhat reliable access</a:t>
            </a:r>
          </a:p>
        </p:txBody>
      </p:sp>
      <p:sp>
        <p:nvSpPr>
          <p:cNvPr id="12" name="Isosceles Triangle 11">
            <a:extLst>
              <a:ext uri="{FF2B5EF4-FFF2-40B4-BE49-F238E27FC236}">
                <a16:creationId xmlns:a16="http://schemas.microsoft.com/office/drawing/2014/main" id="{AA1768D6-33B8-7D13-0D39-C11EEEE4A3FF}"/>
              </a:ext>
            </a:extLst>
          </p:cNvPr>
          <p:cNvSpPr/>
          <p:nvPr/>
        </p:nvSpPr>
        <p:spPr>
          <a:xfrm>
            <a:off x="293653" y="4067460"/>
            <a:ext cx="3630717" cy="514268"/>
          </a:xfrm>
          <a:prstGeom prst="triangle">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530092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67954-3803-429A-88F9-387D28A0A1DC}"/>
            </a:ext>
          </a:extLst>
        </p:cNvPr>
        <p:cNvGrpSpPr/>
        <p:nvPr/>
      </p:nvGrpSpPr>
      <p:grpSpPr>
        <a:xfrm>
          <a:off x="0" y="0"/>
          <a:ext cx="0" cy="0"/>
          <a:chOff x="0" y="0"/>
          <a:chExt cx="0" cy="0"/>
        </a:xfrm>
      </p:grpSpPr>
      <p:pic>
        <p:nvPicPr>
          <p:cNvPr id="6150" name="Picture 6" descr="Nickel Ore">
            <a:extLst>
              <a:ext uri="{FF2B5EF4-FFF2-40B4-BE49-F238E27FC236}">
                <a16:creationId xmlns:a16="http://schemas.microsoft.com/office/drawing/2014/main" id="{038CD9EB-4E92-4A3D-3010-691DA3E6477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500" r="12500"/>
          <a:stretch>
            <a:fillRect/>
          </a:stretch>
        </p:blipFill>
        <p:spPr bwMode="auto">
          <a:xfrm>
            <a:off x="8088346" y="409860"/>
            <a:ext cx="3657600" cy="3657600"/>
          </a:xfrm>
          <a:prstGeom prst="flowChartConnector">
            <a:avLst/>
          </a:prstGeom>
          <a:noFill/>
          <a:extLst>
            <a:ext uri="{909E8E84-426E-40DD-AFC4-6F175D3DCCD1}">
              <a14:hiddenFill xmlns:a14="http://schemas.microsoft.com/office/drawing/2010/main">
                <a:solidFill>
                  <a:srgbClr val="FFFFFF"/>
                </a:solidFill>
              </a14:hiddenFill>
            </a:ext>
          </a:extLst>
        </p:spPr>
      </p:pic>
      <p:pic>
        <p:nvPicPr>
          <p:cNvPr id="6148" name="Picture 4" descr="Manganese Ore at best price in Balaghat by Balaghat Minerals Prop ...">
            <a:extLst>
              <a:ext uri="{FF2B5EF4-FFF2-40B4-BE49-F238E27FC236}">
                <a16:creationId xmlns:a16="http://schemas.microsoft.com/office/drawing/2014/main" id="{FFA81BB6-46DF-DFF1-3661-FDA47B446D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1876" y="2805830"/>
            <a:ext cx="3657600" cy="3657600"/>
          </a:xfrm>
          <a:prstGeom prst="flowChartConnector">
            <a:avLst/>
          </a:prstGeom>
          <a:noFill/>
          <a:extLst>
            <a:ext uri="{909E8E84-426E-40DD-AFC4-6F175D3DCCD1}">
              <a14:hiddenFill xmlns:a14="http://schemas.microsoft.com/office/drawing/2010/main">
                <a:solidFill>
                  <a:srgbClr val="FFFFFF"/>
                </a:solidFill>
              </a14:hiddenFill>
            </a:ext>
          </a:extLst>
        </p:spPr>
      </p:pic>
      <p:pic>
        <p:nvPicPr>
          <p:cNvPr id="6146" name="Picture 2" descr="Magnesium Ore Magnesium Ore, Raw Magnesium Specimen, Silver Crystal">
            <a:extLst>
              <a:ext uri="{FF2B5EF4-FFF2-40B4-BE49-F238E27FC236}">
                <a16:creationId xmlns:a16="http://schemas.microsoft.com/office/drawing/2014/main" id="{EFA16C5A-38DE-866F-3632-A40A56CC9AC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500" r="12500"/>
          <a:stretch>
            <a:fillRect/>
          </a:stretch>
        </p:blipFill>
        <p:spPr bwMode="auto">
          <a:xfrm>
            <a:off x="293654" y="409860"/>
            <a:ext cx="3657600" cy="3657600"/>
          </a:xfrm>
          <a:prstGeom prst="flowChartConnector">
            <a:avLst/>
          </a:prstGeom>
          <a:noFill/>
          <a:extLst>
            <a:ext uri="{909E8E84-426E-40DD-AFC4-6F175D3DCCD1}">
              <a14:hiddenFill xmlns:a14="http://schemas.microsoft.com/office/drawing/2010/main">
                <a:solidFill>
                  <a:srgbClr val="FFFFFF"/>
                </a:solidFill>
              </a14:hiddenFill>
            </a:ext>
          </a:extLst>
        </p:spPr>
      </p:pic>
      <p:sp>
        <p:nvSpPr>
          <p:cNvPr id="4" name="Rectangle: Rounded Corners 3">
            <a:extLst>
              <a:ext uri="{FF2B5EF4-FFF2-40B4-BE49-F238E27FC236}">
                <a16:creationId xmlns:a16="http://schemas.microsoft.com/office/drawing/2014/main" id="{8D71AD12-00FD-5038-99F0-3FDB198C36AF}"/>
              </a:ext>
            </a:extLst>
          </p:cNvPr>
          <p:cNvSpPr/>
          <p:nvPr/>
        </p:nvSpPr>
        <p:spPr>
          <a:xfrm>
            <a:off x="293654" y="3427380"/>
            <a:ext cx="3657600" cy="640080"/>
          </a:xfrm>
          <a:prstGeom prst="roundRect">
            <a:avLst>
              <a:gd name="adj" fmla="val 50000"/>
            </a:avLst>
          </a:prstGeom>
          <a:gradFill flip="none" rotWithShape="1">
            <a:gsLst>
              <a:gs pos="0">
                <a:schemeClr val="tx1"/>
              </a:gs>
              <a:gs pos="100000">
                <a:schemeClr val="tx2">
                  <a:lumMod val="10000"/>
                </a:schemeClr>
              </a:gs>
            </a:gsLst>
            <a:path path="rect">
              <a:fillToRect l="50000" t="50000" r="50000" b="50000"/>
            </a:path>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effectLst>
                  <a:outerShdw blurRad="38100" dist="38100" dir="2700000" algn="tl">
                    <a:srgbClr val="000000">
                      <a:alpha val="43137"/>
                    </a:srgbClr>
                  </a:outerShdw>
                </a:effectLst>
              </a:rPr>
              <a:t>MAGNESIUM</a:t>
            </a:r>
          </a:p>
        </p:txBody>
      </p:sp>
      <p:sp>
        <p:nvSpPr>
          <p:cNvPr id="5" name="Rectangle: Rounded Corners 4">
            <a:extLst>
              <a:ext uri="{FF2B5EF4-FFF2-40B4-BE49-F238E27FC236}">
                <a16:creationId xmlns:a16="http://schemas.microsoft.com/office/drawing/2014/main" id="{AA7A0138-49C1-62D0-6D95-5F23850EDEF2}"/>
              </a:ext>
            </a:extLst>
          </p:cNvPr>
          <p:cNvSpPr/>
          <p:nvPr/>
        </p:nvSpPr>
        <p:spPr>
          <a:xfrm>
            <a:off x="4261876" y="2787300"/>
            <a:ext cx="3657600" cy="640080"/>
          </a:xfrm>
          <a:prstGeom prst="roundRect">
            <a:avLst>
              <a:gd name="adj" fmla="val 50000"/>
            </a:avLst>
          </a:prstGeom>
          <a:gradFill flip="none" rotWithShape="1">
            <a:gsLst>
              <a:gs pos="0">
                <a:schemeClr val="tx1"/>
              </a:gs>
              <a:gs pos="100000">
                <a:schemeClr val="tx2">
                  <a:lumMod val="10000"/>
                </a:schemeClr>
              </a:gs>
            </a:gsLst>
            <a:path path="rect">
              <a:fillToRect l="50000" t="50000" r="50000" b="50000"/>
            </a:path>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effectLst>
                  <a:outerShdw blurRad="38100" dist="38100" dir="2700000" algn="tl">
                    <a:srgbClr val="000000">
                      <a:alpha val="43137"/>
                    </a:srgbClr>
                  </a:outerShdw>
                </a:effectLst>
              </a:rPr>
              <a:t>MANGANESE</a:t>
            </a:r>
          </a:p>
        </p:txBody>
      </p:sp>
      <p:sp>
        <p:nvSpPr>
          <p:cNvPr id="6" name="Rectangle: Rounded Corners 5">
            <a:extLst>
              <a:ext uri="{FF2B5EF4-FFF2-40B4-BE49-F238E27FC236}">
                <a16:creationId xmlns:a16="http://schemas.microsoft.com/office/drawing/2014/main" id="{E4EF2A47-4BD6-AFE6-698B-EEAD394CB62C}"/>
              </a:ext>
            </a:extLst>
          </p:cNvPr>
          <p:cNvSpPr/>
          <p:nvPr/>
        </p:nvSpPr>
        <p:spPr>
          <a:xfrm>
            <a:off x="8088346" y="3427380"/>
            <a:ext cx="3657600" cy="640080"/>
          </a:xfrm>
          <a:prstGeom prst="roundRect">
            <a:avLst>
              <a:gd name="adj" fmla="val 50000"/>
            </a:avLst>
          </a:prstGeom>
          <a:gradFill flip="none" rotWithShape="1">
            <a:gsLst>
              <a:gs pos="0">
                <a:schemeClr val="tx1"/>
              </a:gs>
              <a:gs pos="100000">
                <a:schemeClr val="tx2">
                  <a:lumMod val="10000"/>
                </a:schemeClr>
              </a:gs>
            </a:gsLst>
            <a:path path="rect">
              <a:fillToRect l="50000" t="50000" r="50000" b="50000"/>
            </a:path>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effectLst>
                  <a:outerShdw blurRad="38100" dist="38100" dir="2700000" algn="tl">
                    <a:srgbClr val="000000">
                      <a:alpha val="43137"/>
                    </a:srgbClr>
                  </a:outerShdw>
                </a:effectLst>
              </a:rPr>
              <a:t>NICKEL</a:t>
            </a:r>
          </a:p>
        </p:txBody>
      </p:sp>
      <p:sp>
        <p:nvSpPr>
          <p:cNvPr id="7" name="Rectangle 6">
            <a:extLst>
              <a:ext uri="{FF2B5EF4-FFF2-40B4-BE49-F238E27FC236}">
                <a16:creationId xmlns:a16="http://schemas.microsoft.com/office/drawing/2014/main" id="{85C1F904-A9A4-545F-925B-69421015E221}"/>
              </a:ext>
            </a:extLst>
          </p:cNvPr>
          <p:cNvSpPr/>
          <p:nvPr/>
        </p:nvSpPr>
        <p:spPr>
          <a:xfrm>
            <a:off x="4242541" y="535671"/>
            <a:ext cx="3657600" cy="1737360"/>
          </a:xfrm>
          <a:prstGeom prst="rect">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mj-lt"/>
              </a:rPr>
              <a:t>Moderately sought after</a:t>
            </a:r>
          </a:p>
          <a:p>
            <a:pPr algn="ctr"/>
            <a:r>
              <a:rPr lang="en-US" sz="2800" dirty="0">
                <a:latin typeface="+mj-lt"/>
              </a:rPr>
              <a:t>Reliable access</a:t>
            </a:r>
          </a:p>
        </p:txBody>
      </p:sp>
      <p:sp>
        <p:nvSpPr>
          <p:cNvPr id="8" name="Isosceles Triangle 7">
            <a:extLst>
              <a:ext uri="{FF2B5EF4-FFF2-40B4-BE49-F238E27FC236}">
                <a16:creationId xmlns:a16="http://schemas.microsoft.com/office/drawing/2014/main" id="{8EA4B066-773D-04B1-2FAF-8C8930EBFFD2}"/>
              </a:ext>
            </a:extLst>
          </p:cNvPr>
          <p:cNvSpPr/>
          <p:nvPr/>
        </p:nvSpPr>
        <p:spPr>
          <a:xfrm rot="10800000">
            <a:off x="4204441" y="2273032"/>
            <a:ext cx="3630717" cy="514268"/>
          </a:xfrm>
          <a:prstGeom prst="triangle">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8BDEBEE-42F9-CC1E-A103-673A8DD56849}"/>
              </a:ext>
            </a:extLst>
          </p:cNvPr>
          <p:cNvSpPr/>
          <p:nvPr/>
        </p:nvSpPr>
        <p:spPr>
          <a:xfrm>
            <a:off x="8227305" y="4581728"/>
            <a:ext cx="3657600" cy="1737360"/>
          </a:xfrm>
          <a:prstGeom prst="rect">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mj-lt"/>
              </a:rPr>
              <a:t>Somewhat sought after</a:t>
            </a:r>
          </a:p>
          <a:p>
            <a:pPr algn="ctr"/>
            <a:r>
              <a:rPr lang="en-US" sz="2800" dirty="0">
                <a:latin typeface="+mj-lt"/>
              </a:rPr>
              <a:t>Somewhat reliable access</a:t>
            </a:r>
          </a:p>
        </p:txBody>
      </p:sp>
      <p:sp>
        <p:nvSpPr>
          <p:cNvPr id="10" name="Isosceles Triangle 9">
            <a:extLst>
              <a:ext uri="{FF2B5EF4-FFF2-40B4-BE49-F238E27FC236}">
                <a16:creationId xmlns:a16="http://schemas.microsoft.com/office/drawing/2014/main" id="{A4F83CCE-B84F-462F-6E1A-E014A69E9C82}"/>
              </a:ext>
            </a:extLst>
          </p:cNvPr>
          <p:cNvSpPr/>
          <p:nvPr/>
        </p:nvSpPr>
        <p:spPr>
          <a:xfrm>
            <a:off x="8240746" y="4067460"/>
            <a:ext cx="3630717" cy="514268"/>
          </a:xfrm>
          <a:prstGeom prst="triangle">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0C347CA-4005-BDC1-B8B4-097ECC7F067E}"/>
              </a:ext>
            </a:extLst>
          </p:cNvPr>
          <p:cNvSpPr/>
          <p:nvPr/>
        </p:nvSpPr>
        <p:spPr>
          <a:xfrm>
            <a:off x="283006" y="4581728"/>
            <a:ext cx="3657600" cy="1737360"/>
          </a:xfrm>
          <a:prstGeom prst="rect">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mj-lt"/>
              </a:rPr>
              <a:t>Little sought after</a:t>
            </a:r>
          </a:p>
          <a:p>
            <a:pPr algn="ctr"/>
            <a:r>
              <a:rPr lang="en-US" sz="2800" dirty="0">
                <a:solidFill>
                  <a:schemeClr val="tx1"/>
                </a:solidFill>
                <a:effectLst/>
              </a:rPr>
              <a:t>Somewhat reliable access</a:t>
            </a:r>
            <a:endParaRPr lang="en-US" sz="2800" dirty="0">
              <a:latin typeface="+mj-lt"/>
            </a:endParaRPr>
          </a:p>
        </p:txBody>
      </p:sp>
      <p:sp>
        <p:nvSpPr>
          <p:cNvPr id="12" name="Isosceles Triangle 11">
            <a:extLst>
              <a:ext uri="{FF2B5EF4-FFF2-40B4-BE49-F238E27FC236}">
                <a16:creationId xmlns:a16="http://schemas.microsoft.com/office/drawing/2014/main" id="{C6760EE5-2806-2ACA-48A7-7EEF4EAFA723}"/>
              </a:ext>
            </a:extLst>
          </p:cNvPr>
          <p:cNvSpPr/>
          <p:nvPr/>
        </p:nvSpPr>
        <p:spPr>
          <a:xfrm>
            <a:off x="296447" y="4067460"/>
            <a:ext cx="3630717" cy="514268"/>
          </a:xfrm>
          <a:prstGeom prst="triangle">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61919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F4718-0E47-27E3-50CD-CB25A01CF62F}"/>
            </a:ext>
          </a:extLst>
        </p:cNvPr>
        <p:cNvGrpSpPr/>
        <p:nvPr/>
      </p:nvGrpSpPr>
      <p:grpSpPr>
        <a:xfrm>
          <a:off x="0" y="0"/>
          <a:ext cx="0" cy="0"/>
          <a:chOff x="0" y="0"/>
          <a:chExt cx="0" cy="0"/>
        </a:xfrm>
      </p:grpSpPr>
      <p:pic>
        <p:nvPicPr>
          <p:cNvPr id="5126" name="Picture 6" descr="An Overview of Scandium">
            <a:extLst>
              <a:ext uri="{FF2B5EF4-FFF2-40B4-BE49-F238E27FC236}">
                <a16:creationId xmlns:a16="http://schemas.microsoft.com/office/drawing/2014/main" id="{4059FC2A-5AF5-4EBB-049E-62CD3CFA94E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641" r="16641"/>
          <a:stretch>
            <a:fillRect/>
          </a:stretch>
        </p:blipFill>
        <p:spPr bwMode="auto">
          <a:xfrm>
            <a:off x="8088346" y="409860"/>
            <a:ext cx="3657600" cy="3657600"/>
          </a:xfrm>
          <a:prstGeom prst="flowChartConnector">
            <a:avLst/>
          </a:prstGeom>
          <a:noFill/>
          <a:extLst>
            <a:ext uri="{909E8E84-426E-40DD-AFC4-6F175D3DCCD1}">
              <a14:hiddenFill xmlns:a14="http://schemas.microsoft.com/office/drawing/2010/main">
                <a:solidFill>
                  <a:srgbClr val="FFFFFF"/>
                </a:solidFill>
              </a14:hiddenFill>
            </a:ext>
          </a:extLst>
        </p:spPr>
      </p:pic>
      <p:pic>
        <p:nvPicPr>
          <p:cNvPr id="5124" name="Picture 4" descr="Raw Platinum Ore in Shadowy Cavern with Quartz Veins Illuminated by ...">
            <a:extLst>
              <a:ext uri="{FF2B5EF4-FFF2-40B4-BE49-F238E27FC236}">
                <a16:creationId xmlns:a16="http://schemas.microsoft.com/office/drawing/2014/main" id="{D38B83A0-99AA-81C9-8020-2A1518311AF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774" r="21774"/>
          <a:stretch>
            <a:fillRect/>
          </a:stretch>
        </p:blipFill>
        <p:spPr bwMode="auto">
          <a:xfrm>
            <a:off x="4261876" y="2787300"/>
            <a:ext cx="3657600" cy="3657600"/>
          </a:xfrm>
          <a:prstGeom prst="flowChartConnector">
            <a:avLst/>
          </a:prstGeom>
          <a:noFill/>
          <a:extLst>
            <a:ext uri="{909E8E84-426E-40DD-AFC4-6F175D3DCCD1}">
              <a14:hiddenFill xmlns:a14="http://schemas.microsoft.com/office/drawing/2010/main">
                <a:solidFill>
                  <a:srgbClr val="FFFFFF"/>
                </a:solidFill>
              </a14:hiddenFill>
            </a:ext>
          </a:extLst>
        </p:spPr>
      </p:pic>
      <p:pic>
        <p:nvPicPr>
          <p:cNvPr id="5122" name="Picture 2" descr="Niobium: The super superconductor that could power the future">
            <a:extLst>
              <a:ext uri="{FF2B5EF4-FFF2-40B4-BE49-F238E27FC236}">
                <a16:creationId xmlns:a16="http://schemas.microsoft.com/office/drawing/2014/main" id="{5916608F-948D-EE9A-6DED-9A47A81470C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1667" r="21667"/>
          <a:stretch>
            <a:fillRect/>
          </a:stretch>
        </p:blipFill>
        <p:spPr bwMode="auto">
          <a:xfrm>
            <a:off x="293654" y="409860"/>
            <a:ext cx="3657600" cy="3657600"/>
          </a:xfrm>
          <a:prstGeom prst="flowChartConnector">
            <a:avLst/>
          </a:prstGeom>
          <a:noFill/>
          <a:extLst>
            <a:ext uri="{909E8E84-426E-40DD-AFC4-6F175D3DCCD1}">
              <a14:hiddenFill xmlns:a14="http://schemas.microsoft.com/office/drawing/2010/main">
                <a:solidFill>
                  <a:srgbClr val="FFFFFF"/>
                </a:solidFill>
              </a14:hiddenFill>
            </a:ext>
          </a:extLst>
        </p:spPr>
      </p:pic>
      <p:sp>
        <p:nvSpPr>
          <p:cNvPr id="4" name="Rectangle: Rounded Corners 3">
            <a:extLst>
              <a:ext uri="{FF2B5EF4-FFF2-40B4-BE49-F238E27FC236}">
                <a16:creationId xmlns:a16="http://schemas.microsoft.com/office/drawing/2014/main" id="{10C33673-E2FA-3D02-0C0F-B8F6A87CFDAA}"/>
              </a:ext>
            </a:extLst>
          </p:cNvPr>
          <p:cNvSpPr/>
          <p:nvPr/>
        </p:nvSpPr>
        <p:spPr>
          <a:xfrm>
            <a:off x="293654" y="3427380"/>
            <a:ext cx="3657600" cy="640080"/>
          </a:xfrm>
          <a:prstGeom prst="roundRect">
            <a:avLst>
              <a:gd name="adj" fmla="val 50000"/>
            </a:avLst>
          </a:prstGeom>
          <a:gradFill flip="none" rotWithShape="1">
            <a:gsLst>
              <a:gs pos="0">
                <a:schemeClr val="tx1"/>
              </a:gs>
              <a:gs pos="100000">
                <a:schemeClr val="tx2">
                  <a:lumMod val="10000"/>
                </a:schemeClr>
              </a:gs>
            </a:gsLst>
            <a:path path="rect">
              <a:fillToRect l="50000" t="50000" r="50000" b="50000"/>
            </a:path>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effectLst>
                  <a:outerShdw blurRad="38100" dist="38100" dir="2700000" algn="tl">
                    <a:srgbClr val="000000">
                      <a:alpha val="43137"/>
                    </a:srgbClr>
                  </a:outerShdw>
                </a:effectLst>
              </a:rPr>
              <a:t>NIOBIUM</a:t>
            </a:r>
          </a:p>
        </p:txBody>
      </p:sp>
      <p:sp>
        <p:nvSpPr>
          <p:cNvPr id="5" name="Rectangle: Rounded Corners 4">
            <a:extLst>
              <a:ext uri="{FF2B5EF4-FFF2-40B4-BE49-F238E27FC236}">
                <a16:creationId xmlns:a16="http://schemas.microsoft.com/office/drawing/2014/main" id="{34E8837C-78AA-5155-9252-3709F63FF626}"/>
              </a:ext>
            </a:extLst>
          </p:cNvPr>
          <p:cNvSpPr/>
          <p:nvPr/>
        </p:nvSpPr>
        <p:spPr>
          <a:xfrm>
            <a:off x="4261876" y="2787300"/>
            <a:ext cx="3657600" cy="640080"/>
          </a:xfrm>
          <a:prstGeom prst="roundRect">
            <a:avLst>
              <a:gd name="adj" fmla="val 50000"/>
            </a:avLst>
          </a:prstGeom>
          <a:gradFill flip="none" rotWithShape="1">
            <a:gsLst>
              <a:gs pos="0">
                <a:schemeClr val="tx1"/>
              </a:gs>
              <a:gs pos="100000">
                <a:schemeClr val="tx2">
                  <a:lumMod val="10000"/>
                </a:schemeClr>
              </a:gs>
            </a:gsLst>
            <a:path path="rect">
              <a:fillToRect l="50000" t="50000" r="50000" b="50000"/>
            </a:path>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effectLst>
                  <a:outerShdw blurRad="38100" dist="38100" dir="2700000" algn="tl">
                    <a:srgbClr val="000000">
                      <a:alpha val="43137"/>
                    </a:srgbClr>
                  </a:outerShdw>
                </a:effectLst>
              </a:rPr>
              <a:t>PLATINUM</a:t>
            </a:r>
          </a:p>
        </p:txBody>
      </p:sp>
      <p:sp>
        <p:nvSpPr>
          <p:cNvPr id="6" name="Rectangle: Rounded Corners 5">
            <a:extLst>
              <a:ext uri="{FF2B5EF4-FFF2-40B4-BE49-F238E27FC236}">
                <a16:creationId xmlns:a16="http://schemas.microsoft.com/office/drawing/2014/main" id="{8E47B2DD-3E3E-70F5-38C1-16F1A0520136}"/>
              </a:ext>
            </a:extLst>
          </p:cNvPr>
          <p:cNvSpPr/>
          <p:nvPr/>
        </p:nvSpPr>
        <p:spPr>
          <a:xfrm>
            <a:off x="8088346" y="3427380"/>
            <a:ext cx="3657600" cy="640080"/>
          </a:xfrm>
          <a:prstGeom prst="roundRect">
            <a:avLst>
              <a:gd name="adj" fmla="val 50000"/>
            </a:avLst>
          </a:prstGeom>
          <a:gradFill flip="none" rotWithShape="1">
            <a:gsLst>
              <a:gs pos="0">
                <a:schemeClr val="tx1"/>
              </a:gs>
              <a:gs pos="100000">
                <a:schemeClr val="tx2">
                  <a:lumMod val="10000"/>
                </a:schemeClr>
              </a:gs>
            </a:gsLst>
            <a:path path="rect">
              <a:fillToRect l="50000" t="50000" r="50000" b="50000"/>
            </a:path>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effectLst>
                  <a:outerShdw blurRad="38100" dist="38100" dir="2700000" algn="tl">
                    <a:srgbClr val="000000">
                      <a:alpha val="43137"/>
                    </a:srgbClr>
                  </a:outerShdw>
                </a:effectLst>
              </a:rPr>
              <a:t>SCANDIUM</a:t>
            </a:r>
          </a:p>
        </p:txBody>
      </p:sp>
      <p:sp>
        <p:nvSpPr>
          <p:cNvPr id="7" name="Rectangle 6">
            <a:extLst>
              <a:ext uri="{FF2B5EF4-FFF2-40B4-BE49-F238E27FC236}">
                <a16:creationId xmlns:a16="http://schemas.microsoft.com/office/drawing/2014/main" id="{F235A4BA-3A4C-C360-1343-9CC836F91048}"/>
              </a:ext>
            </a:extLst>
          </p:cNvPr>
          <p:cNvSpPr/>
          <p:nvPr/>
        </p:nvSpPr>
        <p:spPr>
          <a:xfrm>
            <a:off x="4240317" y="529955"/>
            <a:ext cx="3657600" cy="1743075"/>
          </a:xfrm>
          <a:prstGeom prst="rect">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Little sought after</a:t>
            </a:r>
          </a:p>
          <a:p>
            <a:pPr algn="ctr"/>
            <a:r>
              <a:rPr lang="en-US" sz="2800" dirty="0"/>
              <a:t>Somewhat unreliable access</a:t>
            </a:r>
          </a:p>
        </p:txBody>
      </p:sp>
      <p:sp>
        <p:nvSpPr>
          <p:cNvPr id="8" name="Isosceles Triangle 7">
            <a:extLst>
              <a:ext uri="{FF2B5EF4-FFF2-40B4-BE49-F238E27FC236}">
                <a16:creationId xmlns:a16="http://schemas.microsoft.com/office/drawing/2014/main" id="{969FD3E1-E179-79D4-45C0-937ECBEEB5B7}"/>
              </a:ext>
            </a:extLst>
          </p:cNvPr>
          <p:cNvSpPr/>
          <p:nvPr/>
        </p:nvSpPr>
        <p:spPr>
          <a:xfrm rot="10800000">
            <a:off x="4204441" y="2273032"/>
            <a:ext cx="3630717" cy="514268"/>
          </a:xfrm>
          <a:prstGeom prst="triangle">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5BA5CA2-D192-35CA-1764-C4CA4B760134}"/>
              </a:ext>
            </a:extLst>
          </p:cNvPr>
          <p:cNvSpPr/>
          <p:nvPr/>
        </p:nvSpPr>
        <p:spPr>
          <a:xfrm>
            <a:off x="8227305" y="4581728"/>
            <a:ext cx="3657600" cy="1737360"/>
          </a:xfrm>
          <a:prstGeom prst="rect">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Little sought after</a:t>
            </a:r>
          </a:p>
          <a:p>
            <a:pPr algn="ctr"/>
            <a:r>
              <a:rPr lang="en-US" sz="2800" dirty="0"/>
              <a:t>Somewhat reliable access</a:t>
            </a:r>
          </a:p>
        </p:txBody>
      </p:sp>
      <p:sp>
        <p:nvSpPr>
          <p:cNvPr id="10" name="Isosceles Triangle 9">
            <a:extLst>
              <a:ext uri="{FF2B5EF4-FFF2-40B4-BE49-F238E27FC236}">
                <a16:creationId xmlns:a16="http://schemas.microsoft.com/office/drawing/2014/main" id="{F6AD151A-66EF-BB07-C7A1-E665CA11EE28}"/>
              </a:ext>
            </a:extLst>
          </p:cNvPr>
          <p:cNvSpPr/>
          <p:nvPr/>
        </p:nvSpPr>
        <p:spPr>
          <a:xfrm>
            <a:off x="8240746" y="4067460"/>
            <a:ext cx="3630717" cy="514268"/>
          </a:xfrm>
          <a:prstGeom prst="triangle">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DC77628-275D-142E-81C2-D7651DC77864}"/>
              </a:ext>
            </a:extLst>
          </p:cNvPr>
          <p:cNvSpPr/>
          <p:nvPr/>
        </p:nvSpPr>
        <p:spPr>
          <a:xfrm>
            <a:off x="280212" y="4581728"/>
            <a:ext cx="3657600" cy="1737360"/>
          </a:xfrm>
          <a:prstGeom prst="rect">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mj-lt"/>
              </a:rPr>
              <a:t>Little sought after</a:t>
            </a:r>
          </a:p>
          <a:p>
            <a:pPr algn="ctr"/>
            <a:r>
              <a:rPr lang="en-US" sz="2800" dirty="0">
                <a:latin typeface="+mj-lt"/>
              </a:rPr>
              <a:t>Somewhat unreliable access</a:t>
            </a:r>
          </a:p>
        </p:txBody>
      </p:sp>
      <p:sp>
        <p:nvSpPr>
          <p:cNvPr id="12" name="Isosceles Triangle 11">
            <a:extLst>
              <a:ext uri="{FF2B5EF4-FFF2-40B4-BE49-F238E27FC236}">
                <a16:creationId xmlns:a16="http://schemas.microsoft.com/office/drawing/2014/main" id="{E0288043-ABE3-AEB2-CA8C-D36B1AC9920F}"/>
              </a:ext>
            </a:extLst>
          </p:cNvPr>
          <p:cNvSpPr/>
          <p:nvPr/>
        </p:nvSpPr>
        <p:spPr>
          <a:xfrm>
            <a:off x="293653" y="4067460"/>
            <a:ext cx="3630717" cy="514268"/>
          </a:xfrm>
          <a:prstGeom prst="triangle">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60886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DF771-BC66-3D40-3612-B207AACAAB80}"/>
            </a:ext>
          </a:extLst>
        </p:cNvPr>
        <p:cNvGrpSpPr/>
        <p:nvPr/>
      </p:nvGrpSpPr>
      <p:grpSpPr>
        <a:xfrm>
          <a:off x="0" y="0"/>
          <a:ext cx="0" cy="0"/>
          <a:chOff x="0" y="0"/>
          <a:chExt cx="0" cy="0"/>
        </a:xfrm>
      </p:grpSpPr>
      <p:pic>
        <p:nvPicPr>
          <p:cNvPr id="4102" name="Picture 6" descr="Pure Titanium Ore">
            <a:extLst>
              <a:ext uri="{FF2B5EF4-FFF2-40B4-BE49-F238E27FC236}">
                <a16:creationId xmlns:a16="http://schemas.microsoft.com/office/drawing/2014/main" id="{8843CA93-058C-64A6-C182-97AAB51B583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a:fillRect/>
          </a:stretch>
        </p:blipFill>
        <p:spPr bwMode="auto">
          <a:xfrm>
            <a:off x="8088346" y="409860"/>
            <a:ext cx="3657600" cy="3657600"/>
          </a:xfrm>
          <a:prstGeom prst="flowChartConnector">
            <a:avLst/>
          </a:prstGeom>
          <a:noFill/>
          <a:extLst>
            <a:ext uri="{909E8E84-426E-40DD-AFC4-6F175D3DCCD1}">
              <a14:hiddenFill xmlns:a14="http://schemas.microsoft.com/office/drawing/2010/main">
                <a:solidFill>
                  <a:srgbClr val="FFFFFF"/>
                </a:solidFill>
              </a14:hiddenFill>
            </a:ext>
          </a:extLst>
        </p:spPr>
      </p:pic>
      <p:pic>
        <p:nvPicPr>
          <p:cNvPr id="4100" name="Picture 4" descr="Raw Tin Ore">
            <a:extLst>
              <a:ext uri="{FF2B5EF4-FFF2-40B4-BE49-F238E27FC236}">
                <a16:creationId xmlns:a16="http://schemas.microsoft.com/office/drawing/2014/main" id="{0F6662A4-CBB4-B11A-FED1-4E86F732309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500" r="12500"/>
          <a:stretch>
            <a:fillRect/>
          </a:stretch>
        </p:blipFill>
        <p:spPr bwMode="auto">
          <a:xfrm>
            <a:off x="4261876" y="2787300"/>
            <a:ext cx="3657600" cy="3657600"/>
          </a:xfrm>
          <a:prstGeom prst="flowChartConnector">
            <a:avLst/>
          </a:prstGeom>
          <a:noFill/>
          <a:extLst>
            <a:ext uri="{909E8E84-426E-40DD-AFC4-6F175D3DCCD1}">
              <a14:hiddenFill xmlns:a14="http://schemas.microsoft.com/office/drawing/2010/main">
                <a:solidFill>
                  <a:srgbClr val="FFFFFF"/>
                </a:solidFill>
              </a14:hiddenFill>
            </a:ext>
          </a:extLst>
        </p:spPr>
      </p:pic>
      <p:pic>
        <p:nvPicPr>
          <p:cNvPr id="4098" name="Picture 2" descr="Tantalum Ore With Massive Globular Form Dark Gray Color and Earth ...">
            <a:extLst>
              <a:ext uri="{FF2B5EF4-FFF2-40B4-BE49-F238E27FC236}">
                <a16:creationId xmlns:a16="http://schemas.microsoft.com/office/drawing/2014/main" id="{F33541CA-0A05-F658-C674-9D98C4D4AA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654" y="409860"/>
            <a:ext cx="3657600" cy="3657600"/>
          </a:xfrm>
          <a:prstGeom prst="flowChartConnector">
            <a:avLst/>
          </a:prstGeom>
          <a:noFill/>
          <a:extLst>
            <a:ext uri="{909E8E84-426E-40DD-AFC4-6F175D3DCCD1}">
              <a14:hiddenFill xmlns:a14="http://schemas.microsoft.com/office/drawing/2010/main">
                <a:solidFill>
                  <a:srgbClr val="FFFFFF"/>
                </a:solidFill>
              </a14:hiddenFill>
            </a:ext>
          </a:extLst>
        </p:spPr>
      </p:pic>
      <p:sp>
        <p:nvSpPr>
          <p:cNvPr id="4" name="Rectangle: Rounded Corners 3">
            <a:extLst>
              <a:ext uri="{FF2B5EF4-FFF2-40B4-BE49-F238E27FC236}">
                <a16:creationId xmlns:a16="http://schemas.microsoft.com/office/drawing/2014/main" id="{C03DB7FD-DFC8-AFFA-6BAA-291C246E5CCD}"/>
              </a:ext>
            </a:extLst>
          </p:cNvPr>
          <p:cNvSpPr/>
          <p:nvPr/>
        </p:nvSpPr>
        <p:spPr>
          <a:xfrm>
            <a:off x="293654" y="3427380"/>
            <a:ext cx="3657600" cy="640080"/>
          </a:xfrm>
          <a:prstGeom prst="roundRect">
            <a:avLst>
              <a:gd name="adj" fmla="val 50000"/>
            </a:avLst>
          </a:prstGeom>
          <a:gradFill flip="none" rotWithShape="1">
            <a:gsLst>
              <a:gs pos="0">
                <a:schemeClr val="tx1"/>
              </a:gs>
              <a:gs pos="100000">
                <a:schemeClr val="tx2">
                  <a:lumMod val="10000"/>
                </a:schemeClr>
              </a:gs>
            </a:gsLst>
            <a:path path="rect">
              <a:fillToRect l="50000" t="50000" r="50000" b="50000"/>
            </a:path>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effectLst>
                  <a:outerShdw blurRad="38100" dist="38100" dir="2700000" algn="tl">
                    <a:srgbClr val="000000">
                      <a:alpha val="43137"/>
                    </a:srgbClr>
                  </a:outerShdw>
                </a:effectLst>
              </a:rPr>
              <a:t>TANTALUM</a:t>
            </a:r>
          </a:p>
        </p:txBody>
      </p:sp>
      <p:sp>
        <p:nvSpPr>
          <p:cNvPr id="5" name="Rectangle: Rounded Corners 4">
            <a:extLst>
              <a:ext uri="{FF2B5EF4-FFF2-40B4-BE49-F238E27FC236}">
                <a16:creationId xmlns:a16="http://schemas.microsoft.com/office/drawing/2014/main" id="{BC589E64-E3F9-5F5C-BE82-90DDE202C497}"/>
              </a:ext>
            </a:extLst>
          </p:cNvPr>
          <p:cNvSpPr/>
          <p:nvPr/>
        </p:nvSpPr>
        <p:spPr>
          <a:xfrm>
            <a:off x="4261876" y="2787300"/>
            <a:ext cx="3657600" cy="640080"/>
          </a:xfrm>
          <a:prstGeom prst="roundRect">
            <a:avLst>
              <a:gd name="adj" fmla="val 50000"/>
            </a:avLst>
          </a:prstGeom>
          <a:gradFill flip="none" rotWithShape="1">
            <a:gsLst>
              <a:gs pos="0">
                <a:schemeClr val="tx1"/>
              </a:gs>
              <a:gs pos="100000">
                <a:schemeClr val="tx2">
                  <a:lumMod val="10000"/>
                </a:schemeClr>
              </a:gs>
            </a:gsLst>
            <a:path path="rect">
              <a:fillToRect l="50000" t="50000" r="50000" b="50000"/>
            </a:path>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effectLst>
                  <a:outerShdw blurRad="38100" dist="38100" dir="2700000" algn="tl">
                    <a:srgbClr val="000000">
                      <a:alpha val="43137"/>
                    </a:srgbClr>
                  </a:outerShdw>
                </a:effectLst>
              </a:rPr>
              <a:t>TIN</a:t>
            </a:r>
          </a:p>
        </p:txBody>
      </p:sp>
      <p:sp>
        <p:nvSpPr>
          <p:cNvPr id="6" name="Rectangle: Rounded Corners 5">
            <a:extLst>
              <a:ext uri="{FF2B5EF4-FFF2-40B4-BE49-F238E27FC236}">
                <a16:creationId xmlns:a16="http://schemas.microsoft.com/office/drawing/2014/main" id="{7DB9EA45-E5E5-B7D7-02C7-1338D121679D}"/>
              </a:ext>
            </a:extLst>
          </p:cNvPr>
          <p:cNvSpPr/>
          <p:nvPr/>
        </p:nvSpPr>
        <p:spPr>
          <a:xfrm>
            <a:off x="8088346" y="3427380"/>
            <a:ext cx="3657600" cy="640080"/>
          </a:xfrm>
          <a:prstGeom prst="roundRect">
            <a:avLst>
              <a:gd name="adj" fmla="val 50000"/>
            </a:avLst>
          </a:prstGeom>
          <a:gradFill flip="none" rotWithShape="1">
            <a:gsLst>
              <a:gs pos="0">
                <a:schemeClr val="tx1"/>
              </a:gs>
              <a:gs pos="100000">
                <a:schemeClr val="tx2">
                  <a:lumMod val="10000"/>
                </a:schemeClr>
              </a:gs>
            </a:gsLst>
            <a:path path="rect">
              <a:fillToRect l="50000" t="50000" r="50000" b="50000"/>
            </a:path>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effectLst>
                  <a:outerShdw blurRad="38100" dist="38100" dir="2700000" algn="tl">
                    <a:srgbClr val="000000">
                      <a:alpha val="43137"/>
                    </a:srgbClr>
                  </a:outerShdw>
                </a:effectLst>
              </a:rPr>
              <a:t>TITANIUM</a:t>
            </a:r>
          </a:p>
        </p:txBody>
      </p:sp>
      <p:sp>
        <p:nvSpPr>
          <p:cNvPr id="7" name="Rectangle 6">
            <a:extLst>
              <a:ext uri="{FF2B5EF4-FFF2-40B4-BE49-F238E27FC236}">
                <a16:creationId xmlns:a16="http://schemas.microsoft.com/office/drawing/2014/main" id="{FFF1D8DA-EB75-FFA0-BE2A-B825364327FC}"/>
              </a:ext>
            </a:extLst>
          </p:cNvPr>
          <p:cNvSpPr/>
          <p:nvPr/>
        </p:nvSpPr>
        <p:spPr>
          <a:xfrm>
            <a:off x="4242826" y="535671"/>
            <a:ext cx="3657600" cy="1737360"/>
          </a:xfrm>
          <a:prstGeom prst="rect">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effectLst/>
              </a:rPr>
              <a:t>Moderately sought after</a:t>
            </a:r>
            <a:br>
              <a:rPr lang="en-US" sz="2800" dirty="0">
                <a:solidFill>
                  <a:schemeClr val="tx1"/>
                </a:solidFill>
                <a:effectLst/>
              </a:rPr>
            </a:br>
            <a:r>
              <a:rPr lang="en-US" sz="2800" dirty="0">
                <a:solidFill>
                  <a:schemeClr val="tx1"/>
                </a:solidFill>
                <a:effectLst/>
              </a:rPr>
              <a:t>Somewhat reliable access</a:t>
            </a:r>
            <a:endParaRPr lang="en-US" sz="2800" dirty="0">
              <a:latin typeface="+mj-lt"/>
            </a:endParaRPr>
          </a:p>
        </p:txBody>
      </p:sp>
      <p:sp>
        <p:nvSpPr>
          <p:cNvPr id="8" name="Isosceles Triangle 7">
            <a:extLst>
              <a:ext uri="{FF2B5EF4-FFF2-40B4-BE49-F238E27FC236}">
                <a16:creationId xmlns:a16="http://schemas.microsoft.com/office/drawing/2014/main" id="{782BD08F-DE75-1928-ACAD-085CD659FD21}"/>
              </a:ext>
            </a:extLst>
          </p:cNvPr>
          <p:cNvSpPr/>
          <p:nvPr/>
        </p:nvSpPr>
        <p:spPr>
          <a:xfrm rot="10800000">
            <a:off x="4204441" y="2273032"/>
            <a:ext cx="3630717" cy="514268"/>
          </a:xfrm>
          <a:prstGeom prst="triangle">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39D0EC6-946C-FCFB-3849-A2E72202FEAA}"/>
              </a:ext>
            </a:extLst>
          </p:cNvPr>
          <p:cNvSpPr/>
          <p:nvPr/>
        </p:nvSpPr>
        <p:spPr>
          <a:xfrm>
            <a:off x="8227305" y="4581728"/>
            <a:ext cx="3657600" cy="1737360"/>
          </a:xfrm>
          <a:prstGeom prst="rect">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Somewhat sought after</a:t>
            </a:r>
          </a:p>
          <a:p>
            <a:pPr algn="ctr"/>
            <a:r>
              <a:rPr lang="en-US" sz="2800" dirty="0"/>
              <a:t>Somewhat reliable access</a:t>
            </a:r>
          </a:p>
        </p:txBody>
      </p:sp>
      <p:sp>
        <p:nvSpPr>
          <p:cNvPr id="10" name="Isosceles Triangle 9">
            <a:extLst>
              <a:ext uri="{FF2B5EF4-FFF2-40B4-BE49-F238E27FC236}">
                <a16:creationId xmlns:a16="http://schemas.microsoft.com/office/drawing/2014/main" id="{4329E4BE-A470-23FB-F299-EEE4198B8250}"/>
              </a:ext>
            </a:extLst>
          </p:cNvPr>
          <p:cNvSpPr/>
          <p:nvPr/>
        </p:nvSpPr>
        <p:spPr>
          <a:xfrm>
            <a:off x="8240746" y="4067460"/>
            <a:ext cx="3630717" cy="514268"/>
          </a:xfrm>
          <a:prstGeom prst="triangle">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BF4E00A-1E73-5F82-1C8F-9EA802655E1C}"/>
              </a:ext>
            </a:extLst>
          </p:cNvPr>
          <p:cNvSpPr/>
          <p:nvPr/>
        </p:nvSpPr>
        <p:spPr>
          <a:xfrm>
            <a:off x="280212" y="4581728"/>
            <a:ext cx="3657600" cy="1737360"/>
          </a:xfrm>
          <a:prstGeom prst="rect">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Little sought after</a:t>
            </a:r>
          </a:p>
          <a:p>
            <a:pPr algn="ctr"/>
            <a:r>
              <a:rPr lang="en-US" sz="2800" dirty="0"/>
              <a:t>Somewhat unreliable access</a:t>
            </a:r>
          </a:p>
        </p:txBody>
      </p:sp>
      <p:sp>
        <p:nvSpPr>
          <p:cNvPr id="12" name="Isosceles Triangle 11">
            <a:extLst>
              <a:ext uri="{FF2B5EF4-FFF2-40B4-BE49-F238E27FC236}">
                <a16:creationId xmlns:a16="http://schemas.microsoft.com/office/drawing/2014/main" id="{70A7DF57-5D32-9E77-6FE1-7B2542A3843D}"/>
              </a:ext>
            </a:extLst>
          </p:cNvPr>
          <p:cNvSpPr/>
          <p:nvPr/>
        </p:nvSpPr>
        <p:spPr>
          <a:xfrm>
            <a:off x="293653" y="4067460"/>
            <a:ext cx="3630717" cy="514268"/>
          </a:xfrm>
          <a:prstGeom prst="triangle">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162384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935A5-ADED-0B54-18E5-D16D4A8DEF17}"/>
            </a:ext>
          </a:extLst>
        </p:cNvPr>
        <p:cNvGrpSpPr/>
        <p:nvPr/>
      </p:nvGrpSpPr>
      <p:grpSpPr>
        <a:xfrm>
          <a:off x="0" y="0"/>
          <a:ext cx="0" cy="0"/>
          <a:chOff x="0" y="0"/>
          <a:chExt cx="0" cy="0"/>
        </a:xfrm>
      </p:grpSpPr>
      <p:pic>
        <p:nvPicPr>
          <p:cNvPr id="3080" name="Picture 8" descr="Premium Photo | Zirconium Ore With Elongated Crystals Silvery White ...">
            <a:extLst>
              <a:ext uri="{FF2B5EF4-FFF2-40B4-BE49-F238E27FC236}">
                <a16:creationId xmlns:a16="http://schemas.microsoft.com/office/drawing/2014/main" id="{633AEB9C-3E97-9271-9BB8-DBB1C60DC3D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a:fillRect/>
          </a:stretch>
        </p:blipFill>
        <p:spPr bwMode="auto">
          <a:xfrm>
            <a:off x="8088346" y="3114655"/>
            <a:ext cx="3657600" cy="3657600"/>
          </a:xfrm>
          <a:prstGeom prst="flowChartConnector">
            <a:avLst/>
          </a:prstGeom>
          <a:noFill/>
          <a:extLst>
            <a:ext uri="{909E8E84-426E-40DD-AFC4-6F175D3DCCD1}">
              <a14:hiddenFill xmlns:a14="http://schemas.microsoft.com/office/drawing/2010/main">
                <a:solidFill>
                  <a:srgbClr val="FFFFFF"/>
                </a:solidFill>
              </a14:hiddenFill>
            </a:ext>
          </a:extLst>
        </p:spPr>
      </p:pic>
      <p:pic>
        <p:nvPicPr>
          <p:cNvPr id="3078" name="Picture 6" descr="unpolished Zinc ore Sphalerite rock on white 14314388 Stock Photo at ...">
            <a:extLst>
              <a:ext uri="{FF2B5EF4-FFF2-40B4-BE49-F238E27FC236}">
                <a16:creationId xmlns:a16="http://schemas.microsoft.com/office/drawing/2014/main" id="{52BED3BB-2626-A4C7-7EA0-67ED3200CBB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667" r="16667"/>
          <a:stretch>
            <a:fillRect/>
          </a:stretch>
        </p:blipFill>
        <p:spPr bwMode="auto">
          <a:xfrm>
            <a:off x="6090676" y="84261"/>
            <a:ext cx="3657600" cy="3657600"/>
          </a:xfrm>
          <a:prstGeom prst="flowChartConnector">
            <a:avLst/>
          </a:prstGeom>
          <a:noFill/>
          <a:extLst>
            <a:ext uri="{909E8E84-426E-40DD-AFC4-6F175D3DCCD1}">
              <a14:hiddenFill xmlns:a14="http://schemas.microsoft.com/office/drawing/2010/main">
                <a:solidFill>
                  <a:srgbClr val="FFFFFF"/>
                </a:solidFill>
              </a14:hiddenFill>
            </a:ext>
          </a:extLst>
        </p:spPr>
      </p:pic>
      <p:pic>
        <p:nvPicPr>
          <p:cNvPr id="3076" name="Picture 4" descr="Vanadium [video] | GrrlScientist | theguardian.com">
            <a:extLst>
              <a:ext uri="{FF2B5EF4-FFF2-40B4-BE49-F238E27FC236}">
                <a16:creationId xmlns:a16="http://schemas.microsoft.com/office/drawing/2014/main" id="{5150F3FE-7631-10E0-5290-6AA54609D93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5723" r="15723"/>
          <a:stretch>
            <a:fillRect/>
          </a:stretch>
        </p:blipFill>
        <p:spPr bwMode="auto">
          <a:xfrm>
            <a:off x="2433076" y="3110580"/>
            <a:ext cx="3657600" cy="3657600"/>
          </a:xfrm>
          <a:prstGeom prst="flowChartConnector">
            <a:avLst/>
          </a:prstGeom>
          <a:noFill/>
          <a:extLst>
            <a:ext uri="{909E8E84-426E-40DD-AFC4-6F175D3DCCD1}">
              <a14:hiddenFill xmlns:a14="http://schemas.microsoft.com/office/drawing/2010/main">
                <a:solidFill>
                  <a:srgbClr val="FFFFFF"/>
                </a:solidFill>
              </a14:hiddenFill>
            </a:ext>
          </a:extLst>
        </p:spPr>
      </p:pic>
      <p:pic>
        <p:nvPicPr>
          <p:cNvPr id="3074" name="Picture 2" descr="Raw Tungsten Ore Raw Wolframite Stone (tungsten Ore) On White">
            <a:extLst>
              <a:ext uri="{FF2B5EF4-FFF2-40B4-BE49-F238E27FC236}">
                <a16:creationId xmlns:a16="http://schemas.microsoft.com/office/drawing/2014/main" id="{AFBFBD04-AC43-7CC8-AEE4-682F939947F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2500" r="12500"/>
          <a:stretch>
            <a:fillRect/>
          </a:stretch>
        </p:blipFill>
        <p:spPr bwMode="auto">
          <a:xfrm>
            <a:off x="435406" y="89820"/>
            <a:ext cx="3657600" cy="3657600"/>
          </a:xfrm>
          <a:prstGeom prst="flowChartConnector">
            <a:avLst/>
          </a:prstGeom>
          <a:noFill/>
          <a:extLst>
            <a:ext uri="{909E8E84-426E-40DD-AFC4-6F175D3DCCD1}">
              <a14:hiddenFill xmlns:a14="http://schemas.microsoft.com/office/drawing/2010/main">
                <a:solidFill>
                  <a:srgbClr val="FFFFFF"/>
                </a:solidFill>
              </a14:hiddenFill>
            </a:ext>
          </a:extLst>
        </p:spPr>
      </p:pic>
      <p:sp>
        <p:nvSpPr>
          <p:cNvPr id="4" name="Rectangle: Rounded Corners 3">
            <a:extLst>
              <a:ext uri="{FF2B5EF4-FFF2-40B4-BE49-F238E27FC236}">
                <a16:creationId xmlns:a16="http://schemas.microsoft.com/office/drawing/2014/main" id="{1702AF04-EEE3-DDCE-BEDC-19AB1FB75C79}"/>
              </a:ext>
            </a:extLst>
          </p:cNvPr>
          <p:cNvSpPr/>
          <p:nvPr/>
        </p:nvSpPr>
        <p:spPr>
          <a:xfrm>
            <a:off x="435406" y="2817358"/>
            <a:ext cx="3657600" cy="640080"/>
          </a:xfrm>
          <a:prstGeom prst="roundRect">
            <a:avLst>
              <a:gd name="adj" fmla="val 50000"/>
            </a:avLst>
          </a:prstGeom>
          <a:gradFill flip="none" rotWithShape="1">
            <a:gsLst>
              <a:gs pos="0">
                <a:schemeClr val="tx1"/>
              </a:gs>
              <a:gs pos="100000">
                <a:schemeClr val="tx2">
                  <a:lumMod val="10000"/>
                </a:schemeClr>
              </a:gs>
            </a:gsLst>
            <a:path path="rect">
              <a:fillToRect l="50000" t="50000" r="50000" b="50000"/>
            </a:path>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effectLst>
                  <a:outerShdw blurRad="38100" dist="38100" dir="2700000" algn="tl">
                    <a:srgbClr val="000000">
                      <a:alpha val="43137"/>
                    </a:srgbClr>
                  </a:outerShdw>
                </a:effectLst>
              </a:rPr>
              <a:t>TUNGSTEN</a:t>
            </a:r>
          </a:p>
        </p:txBody>
      </p:sp>
      <p:sp>
        <p:nvSpPr>
          <p:cNvPr id="5" name="Rectangle: Rounded Corners 4">
            <a:extLst>
              <a:ext uri="{FF2B5EF4-FFF2-40B4-BE49-F238E27FC236}">
                <a16:creationId xmlns:a16="http://schemas.microsoft.com/office/drawing/2014/main" id="{CB4B2634-FFAB-6222-63BD-8EC967109DBC}"/>
              </a:ext>
            </a:extLst>
          </p:cNvPr>
          <p:cNvSpPr/>
          <p:nvPr/>
        </p:nvSpPr>
        <p:spPr>
          <a:xfrm>
            <a:off x="2433076" y="3518672"/>
            <a:ext cx="3657600" cy="640080"/>
          </a:xfrm>
          <a:prstGeom prst="roundRect">
            <a:avLst>
              <a:gd name="adj" fmla="val 50000"/>
            </a:avLst>
          </a:prstGeom>
          <a:gradFill flip="none" rotWithShape="1">
            <a:gsLst>
              <a:gs pos="0">
                <a:schemeClr val="tx1"/>
              </a:gs>
              <a:gs pos="100000">
                <a:schemeClr val="tx2">
                  <a:lumMod val="10000"/>
                </a:schemeClr>
              </a:gs>
            </a:gsLst>
            <a:path path="rect">
              <a:fillToRect l="50000" t="50000" r="50000" b="50000"/>
            </a:path>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effectLst>
                  <a:outerShdw blurRad="38100" dist="38100" dir="2700000" algn="tl">
                    <a:srgbClr val="000000">
                      <a:alpha val="43137"/>
                    </a:srgbClr>
                  </a:outerShdw>
                </a:effectLst>
              </a:rPr>
              <a:t>VANADIUM</a:t>
            </a:r>
          </a:p>
        </p:txBody>
      </p:sp>
      <p:sp>
        <p:nvSpPr>
          <p:cNvPr id="6" name="Rectangle: Rounded Corners 5">
            <a:extLst>
              <a:ext uri="{FF2B5EF4-FFF2-40B4-BE49-F238E27FC236}">
                <a16:creationId xmlns:a16="http://schemas.microsoft.com/office/drawing/2014/main" id="{19D4B37A-5404-674C-62EE-D321F6C2A794}"/>
              </a:ext>
            </a:extLst>
          </p:cNvPr>
          <p:cNvSpPr/>
          <p:nvPr/>
        </p:nvSpPr>
        <p:spPr>
          <a:xfrm>
            <a:off x="6090676" y="2817358"/>
            <a:ext cx="3657600" cy="640080"/>
          </a:xfrm>
          <a:prstGeom prst="roundRect">
            <a:avLst>
              <a:gd name="adj" fmla="val 50000"/>
            </a:avLst>
          </a:prstGeom>
          <a:gradFill flip="none" rotWithShape="1">
            <a:gsLst>
              <a:gs pos="0">
                <a:schemeClr val="tx1"/>
              </a:gs>
              <a:gs pos="100000">
                <a:schemeClr val="tx2">
                  <a:lumMod val="10000"/>
                </a:schemeClr>
              </a:gs>
            </a:gsLst>
            <a:path path="rect">
              <a:fillToRect l="50000" t="50000" r="50000" b="50000"/>
            </a:path>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effectLst>
                  <a:outerShdw blurRad="38100" dist="38100" dir="2700000" algn="tl">
                    <a:srgbClr val="000000">
                      <a:alpha val="43137"/>
                    </a:srgbClr>
                  </a:outerShdw>
                </a:effectLst>
              </a:rPr>
              <a:t>ZINC</a:t>
            </a:r>
          </a:p>
        </p:txBody>
      </p:sp>
      <p:sp>
        <p:nvSpPr>
          <p:cNvPr id="7" name="Rectangle: Rounded Corners 6">
            <a:extLst>
              <a:ext uri="{FF2B5EF4-FFF2-40B4-BE49-F238E27FC236}">
                <a16:creationId xmlns:a16="http://schemas.microsoft.com/office/drawing/2014/main" id="{2D5E5D88-39F6-08A4-8A06-A4D1DB97B9BF}"/>
              </a:ext>
            </a:extLst>
          </p:cNvPr>
          <p:cNvSpPr/>
          <p:nvPr/>
        </p:nvSpPr>
        <p:spPr>
          <a:xfrm>
            <a:off x="8088346" y="3518672"/>
            <a:ext cx="3657600" cy="640080"/>
          </a:xfrm>
          <a:prstGeom prst="roundRect">
            <a:avLst>
              <a:gd name="adj" fmla="val 50000"/>
            </a:avLst>
          </a:prstGeom>
          <a:gradFill flip="none" rotWithShape="1">
            <a:gsLst>
              <a:gs pos="0">
                <a:schemeClr val="tx1"/>
              </a:gs>
              <a:gs pos="100000">
                <a:schemeClr val="tx2">
                  <a:lumMod val="10000"/>
                </a:schemeClr>
              </a:gs>
            </a:gsLst>
            <a:path path="rect">
              <a:fillToRect l="50000" t="50000" r="50000" b="50000"/>
            </a:path>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effectLst>
                  <a:outerShdw blurRad="38100" dist="38100" dir="2700000" algn="tl">
                    <a:srgbClr val="000000">
                      <a:alpha val="43137"/>
                    </a:srgbClr>
                  </a:outerShdw>
                </a:effectLst>
              </a:rPr>
              <a:t>ZIRCONIUM</a:t>
            </a:r>
          </a:p>
        </p:txBody>
      </p:sp>
      <p:sp>
        <p:nvSpPr>
          <p:cNvPr id="8" name="Rectangle 7">
            <a:extLst>
              <a:ext uri="{FF2B5EF4-FFF2-40B4-BE49-F238E27FC236}">
                <a16:creationId xmlns:a16="http://schemas.microsoft.com/office/drawing/2014/main" id="{4E9F69A4-C6CF-EA39-F343-4CB92436CD4E}"/>
              </a:ext>
            </a:extLst>
          </p:cNvPr>
          <p:cNvSpPr/>
          <p:nvPr/>
        </p:nvSpPr>
        <p:spPr>
          <a:xfrm rot="5400000">
            <a:off x="5137469" y="4175688"/>
            <a:ext cx="3657600" cy="1729885"/>
          </a:xfrm>
          <a:prstGeom prst="rect">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Isosceles Triangle 8">
            <a:extLst>
              <a:ext uri="{FF2B5EF4-FFF2-40B4-BE49-F238E27FC236}">
                <a16:creationId xmlns:a16="http://schemas.microsoft.com/office/drawing/2014/main" id="{5B0D0372-4151-1B76-51E5-32AB5F9E01E0}"/>
              </a:ext>
            </a:extLst>
          </p:cNvPr>
          <p:cNvSpPr/>
          <p:nvPr/>
        </p:nvSpPr>
        <p:spPr>
          <a:xfrm rot="5400000">
            <a:off x="6272987" y="4734909"/>
            <a:ext cx="3630717" cy="514268"/>
          </a:xfrm>
          <a:prstGeom prst="triangle">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8C7D989-6336-F2D5-1F88-0A623DEB3F12}"/>
              </a:ext>
            </a:extLst>
          </p:cNvPr>
          <p:cNvSpPr/>
          <p:nvPr/>
        </p:nvSpPr>
        <p:spPr>
          <a:xfrm rot="5400000">
            <a:off x="-764287" y="4164258"/>
            <a:ext cx="3657600" cy="1729885"/>
          </a:xfrm>
          <a:prstGeom prst="rect">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F3CA96A3-2B40-5E30-C6C6-F8AF83EBD38B}"/>
              </a:ext>
            </a:extLst>
          </p:cNvPr>
          <p:cNvSpPr/>
          <p:nvPr/>
        </p:nvSpPr>
        <p:spPr>
          <a:xfrm rot="5400000">
            <a:off x="371231" y="4723479"/>
            <a:ext cx="3630717" cy="514268"/>
          </a:xfrm>
          <a:prstGeom prst="triangle">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F2465B-7276-11E5-FA8A-649D1435E0CF}"/>
              </a:ext>
            </a:extLst>
          </p:cNvPr>
          <p:cNvSpPr/>
          <p:nvPr/>
        </p:nvSpPr>
        <p:spPr>
          <a:xfrm rot="16200000" flipH="1">
            <a:off x="9290424" y="942961"/>
            <a:ext cx="3657600" cy="1729885"/>
          </a:xfrm>
          <a:prstGeom prst="rect">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Isosceles Triangle 12">
            <a:extLst>
              <a:ext uri="{FF2B5EF4-FFF2-40B4-BE49-F238E27FC236}">
                <a16:creationId xmlns:a16="http://schemas.microsoft.com/office/drawing/2014/main" id="{022A213F-F449-0664-12E0-A74D3E1C19D3}"/>
              </a:ext>
            </a:extLst>
          </p:cNvPr>
          <p:cNvSpPr/>
          <p:nvPr/>
        </p:nvSpPr>
        <p:spPr>
          <a:xfrm rot="16200000" flipH="1">
            <a:off x="8181789" y="1558226"/>
            <a:ext cx="3630717" cy="514268"/>
          </a:xfrm>
          <a:prstGeom prst="triangle">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7B30BBF-5909-A2A3-D42A-C8ADD37878B2}"/>
              </a:ext>
            </a:extLst>
          </p:cNvPr>
          <p:cNvSpPr/>
          <p:nvPr/>
        </p:nvSpPr>
        <p:spPr>
          <a:xfrm rot="16200000" flipH="1">
            <a:off x="3645804" y="936976"/>
            <a:ext cx="3657600" cy="1729885"/>
          </a:xfrm>
          <a:prstGeom prst="rect">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Isosceles Triangle 14">
            <a:extLst>
              <a:ext uri="{FF2B5EF4-FFF2-40B4-BE49-F238E27FC236}">
                <a16:creationId xmlns:a16="http://schemas.microsoft.com/office/drawing/2014/main" id="{13190934-12B6-7C90-8059-EC1583C7855B}"/>
              </a:ext>
            </a:extLst>
          </p:cNvPr>
          <p:cNvSpPr/>
          <p:nvPr/>
        </p:nvSpPr>
        <p:spPr>
          <a:xfrm rot="16200000" flipH="1">
            <a:off x="2537169" y="1552241"/>
            <a:ext cx="3630717" cy="514268"/>
          </a:xfrm>
          <a:prstGeom prst="triangle">
            <a:avLst/>
          </a:prstGeom>
          <a:solidFill>
            <a:schemeClr val="tx2">
              <a:lumMod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tle 1">
            <a:extLst>
              <a:ext uri="{FF2B5EF4-FFF2-40B4-BE49-F238E27FC236}">
                <a16:creationId xmlns:a16="http://schemas.microsoft.com/office/drawing/2014/main" id="{C565A1E5-5CF6-7AF2-B37C-045F7A940BC8}"/>
              </a:ext>
            </a:extLst>
          </p:cNvPr>
          <p:cNvSpPr>
            <a:spLocks noGrp="1"/>
          </p:cNvSpPr>
          <p:nvPr>
            <p:ph type="title"/>
          </p:nvPr>
        </p:nvSpPr>
        <p:spPr>
          <a:xfrm>
            <a:off x="226454" y="3200398"/>
            <a:ext cx="1689967" cy="3630718"/>
          </a:xfrm>
        </p:spPr>
        <p:txBody>
          <a:bodyPr lIns="0" rIns="0">
            <a:noAutofit/>
          </a:bodyPr>
          <a:lstStyle/>
          <a:p>
            <a:r>
              <a:rPr lang="en-US" sz="2800" dirty="0">
                <a:solidFill>
                  <a:schemeClr val="tx1"/>
                </a:solidFill>
                <a:effectLst/>
              </a:rPr>
              <a:t>Little sought after</a:t>
            </a:r>
            <a:br>
              <a:rPr lang="en-US" sz="2800" dirty="0">
                <a:solidFill>
                  <a:schemeClr val="tx1"/>
                </a:solidFill>
                <a:effectLst/>
              </a:rPr>
            </a:br>
            <a:r>
              <a:rPr lang="en-US" sz="2800" dirty="0">
                <a:solidFill>
                  <a:schemeClr val="tx1"/>
                </a:solidFill>
                <a:effectLst/>
              </a:rPr>
              <a:t>Somewhat reliable access</a:t>
            </a:r>
            <a:endParaRPr lang="en-US" sz="2800" b="1" dirty="0">
              <a:solidFill>
                <a:schemeClr val="tx1"/>
              </a:solidFill>
            </a:endParaRPr>
          </a:p>
        </p:txBody>
      </p:sp>
      <p:sp>
        <p:nvSpPr>
          <p:cNvPr id="17" name="Title 1">
            <a:extLst>
              <a:ext uri="{FF2B5EF4-FFF2-40B4-BE49-F238E27FC236}">
                <a16:creationId xmlns:a16="http://schemas.microsoft.com/office/drawing/2014/main" id="{4FC33EC3-E595-8603-3505-5F08F13643B5}"/>
              </a:ext>
            </a:extLst>
          </p:cNvPr>
          <p:cNvSpPr txBox="1">
            <a:spLocks/>
          </p:cNvSpPr>
          <p:nvPr/>
        </p:nvSpPr>
        <p:spPr>
          <a:xfrm>
            <a:off x="4371441" y="1693"/>
            <a:ext cx="1967413" cy="3630718"/>
          </a:xfrm>
          <a:prstGeom prst="rect">
            <a:avLst/>
          </a:prstGeom>
          <a:effectLst>
            <a:outerShdw blurRad="25400" dir="17880000">
              <a:srgbClr val="000000">
                <a:alpha val="46000"/>
              </a:srgbClr>
            </a:outerShdw>
          </a:effectLst>
        </p:spPr>
        <p:txBody>
          <a:bodyPr vert="horz" lIns="0" tIns="45720" rIns="0" bIns="45720" rtlCol="0" anchor="ctr">
            <a:noAutofit/>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dirty="0">
                <a:solidFill>
                  <a:schemeClr val="tx1"/>
                </a:solidFill>
                <a:effectLst/>
              </a:rPr>
              <a:t>Moderately sought after</a:t>
            </a:r>
            <a:br>
              <a:rPr lang="en-US" sz="2800" dirty="0">
                <a:solidFill>
                  <a:schemeClr val="tx1"/>
                </a:solidFill>
                <a:effectLst/>
              </a:rPr>
            </a:br>
            <a:r>
              <a:rPr lang="en-US" sz="2800" dirty="0">
                <a:solidFill>
                  <a:schemeClr val="tx1"/>
                </a:solidFill>
                <a:effectLst/>
              </a:rPr>
              <a:t>Somewhat reliable access</a:t>
            </a:r>
            <a:endParaRPr lang="en-US" sz="2800" b="1" dirty="0">
              <a:solidFill>
                <a:schemeClr val="tx1"/>
              </a:solidFill>
            </a:endParaRPr>
          </a:p>
        </p:txBody>
      </p:sp>
      <p:sp>
        <p:nvSpPr>
          <p:cNvPr id="21" name="Title 1">
            <a:extLst>
              <a:ext uri="{FF2B5EF4-FFF2-40B4-BE49-F238E27FC236}">
                <a16:creationId xmlns:a16="http://schemas.microsoft.com/office/drawing/2014/main" id="{7E461E33-1B93-1199-50FA-642BCF0CF573}"/>
              </a:ext>
            </a:extLst>
          </p:cNvPr>
          <p:cNvSpPr txBox="1">
            <a:spLocks/>
          </p:cNvSpPr>
          <p:nvPr/>
        </p:nvSpPr>
        <p:spPr>
          <a:xfrm>
            <a:off x="6110567" y="3209923"/>
            <a:ext cx="1689967" cy="3630718"/>
          </a:xfrm>
          <a:prstGeom prst="rect">
            <a:avLst/>
          </a:prstGeom>
          <a:effectLst>
            <a:outerShdw blurRad="25400" dir="17880000">
              <a:srgbClr val="000000">
                <a:alpha val="46000"/>
              </a:srgbClr>
            </a:outerShdw>
          </a:effectLst>
        </p:spPr>
        <p:txBody>
          <a:bodyPr vert="horz" lIns="0" tIns="45720" rIns="0" bIns="45720" rtlCol="0" anchor="ctr">
            <a:noAutofit/>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dirty="0">
                <a:solidFill>
                  <a:schemeClr val="tx1"/>
                </a:solidFill>
                <a:effectLst/>
              </a:rPr>
              <a:t>Little sought after</a:t>
            </a:r>
            <a:br>
              <a:rPr lang="en-US" sz="2800" dirty="0">
                <a:solidFill>
                  <a:schemeClr val="tx1"/>
                </a:solidFill>
                <a:effectLst/>
              </a:rPr>
            </a:br>
            <a:r>
              <a:rPr lang="en-US" sz="2800" dirty="0">
                <a:solidFill>
                  <a:schemeClr val="tx1"/>
                </a:solidFill>
                <a:effectLst/>
              </a:rPr>
              <a:t>Somewhat reliable access</a:t>
            </a:r>
            <a:endParaRPr lang="en-US" sz="2800" b="1" dirty="0">
              <a:solidFill>
                <a:schemeClr val="tx1"/>
              </a:solidFill>
            </a:endParaRPr>
          </a:p>
        </p:txBody>
      </p:sp>
      <p:sp>
        <p:nvSpPr>
          <p:cNvPr id="22" name="Title 1">
            <a:extLst>
              <a:ext uri="{FF2B5EF4-FFF2-40B4-BE49-F238E27FC236}">
                <a16:creationId xmlns:a16="http://schemas.microsoft.com/office/drawing/2014/main" id="{8F9372F9-C5DC-BC75-ACE4-C723D4C457F9}"/>
              </a:ext>
            </a:extLst>
          </p:cNvPr>
          <p:cNvSpPr txBox="1">
            <a:spLocks/>
          </p:cNvSpPr>
          <p:nvPr/>
        </p:nvSpPr>
        <p:spPr>
          <a:xfrm>
            <a:off x="10005410" y="19427"/>
            <a:ext cx="1933843" cy="3630718"/>
          </a:xfrm>
          <a:prstGeom prst="rect">
            <a:avLst/>
          </a:prstGeom>
          <a:effectLst>
            <a:outerShdw blurRad="25400" dir="17880000">
              <a:srgbClr val="000000">
                <a:alpha val="46000"/>
              </a:srgbClr>
            </a:outerShdw>
          </a:effectLst>
        </p:spPr>
        <p:txBody>
          <a:bodyPr vert="horz" lIns="0" tIns="45720" rIns="0" bIns="45720" rtlCol="0" anchor="ctr">
            <a:noAutofit/>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dirty="0">
                <a:solidFill>
                  <a:schemeClr val="tx1"/>
                </a:solidFill>
                <a:effectLst/>
              </a:rPr>
              <a:t>Moderately sought after</a:t>
            </a:r>
            <a:br>
              <a:rPr lang="en-US" sz="2800" dirty="0">
                <a:solidFill>
                  <a:schemeClr val="tx1"/>
                </a:solidFill>
                <a:effectLst/>
              </a:rPr>
            </a:br>
            <a:r>
              <a:rPr lang="en-US" sz="2800" dirty="0">
                <a:solidFill>
                  <a:schemeClr val="tx1"/>
                </a:solidFill>
                <a:effectLst/>
              </a:rPr>
              <a:t>Reliable access</a:t>
            </a:r>
            <a:endParaRPr lang="en-US" sz="2800" b="1" dirty="0">
              <a:solidFill>
                <a:schemeClr val="tx1"/>
              </a:solidFill>
            </a:endParaRPr>
          </a:p>
        </p:txBody>
      </p:sp>
    </p:spTree>
    <p:extLst>
      <p:ext uri="{BB962C8B-B14F-4D97-AF65-F5344CB8AC3E}">
        <p14:creationId xmlns:p14="http://schemas.microsoft.com/office/powerpoint/2010/main" val="38057325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0F3C1-473A-6629-5C4A-14ADAF3C96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342346-0B10-B8F1-F6F0-9EDE2FD8E430}"/>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AECC83AD-28B6-7493-BC39-F2362021741C}"/>
              </a:ext>
            </a:extLst>
          </p:cNvPr>
          <p:cNvSpPr>
            <a:spLocks noGrp="1"/>
          </p:cNvSpPr>
          <p:nvPr>
            <p:ph idx="1"/>
          </p:nvPr>
        </p:nvSpPr>
        <p:spPr/>
        <p:txBody>
          <a:bodyPr/>
          <a:lstStyle/>
          <a:p>
            <a:pPr marL="36900" indent="0">
              <a:buNone/>
            </a:pPr>
            <a:r>
              <a:rPr lang="en-US" dirty="0"/>
              <a:t>As seen throughout the charts and catalogue of critical minerals, the US does not have the same level of access to all minerals across the world</a:t>
            </a:r>
          </a:p>
          <a:p>
            <a:pPr marL="36900" indent="0">
              <a:buNone/>
            </a:pPr>
            <a:r>
              <a:rPr lang="en-US" dirty="0"/>
              <a:t>Due to varying country relations, there are some minerals we have better access to than others</a:t>
            </a:r>
          </a:p>
          <a:p>
            <a:pPr marL="36900" indent="0">
              <a:buNone/>
            </a:pPr>
            <a:r>
              <a:rPr lang="en-US" dirty="0"/>
              <a:t>Chromium, Platinum, Niobium and Tantalum are such minerals that, if a war or economic hardship were to occur, the US would have would have difficulties securing supplies</a:t>
            </a:r>
          </a:p>
          <a:p>
            <a:pPr marL="36900" indent="0">
              <a:buNone/>
            </a:pPr>
            <a:r>
              <a:rPr lang="en-US" dirty="0"/>
              <a:t>Although the majority of minerals are what we would consider reliably accessible, an offset in these unreliably accessible minerals could cause a chain reaction which affects some industries directly and others later on</a:t>
            </a:r>
          </a:p>
          <a:p>
            <a:pPr marL="36900" indent="0">
              <a:buNone/>
            </a:pPr>
            <a:r>
              <a:rPr lang="en-US" dirty="0"/>
              <a:t>Taking this into consideration, it should definitely be of national importance to ensure a constant and steady supply of these minerals</a:t>
            </a:r>
          </a:p>
        </p:txBody>
      </p:sp>
    </p:spTree>
    <p:extLst>
      <p:ext uri="{BB962C8B-B14F-4D97-AF65-F5344CB8AC3E}">
        <p14:creationId xmlns:p14="http://schemas.microsoft.com/office/powerpoint/2010/main" val="1681832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A55D7-2DA7-36CF-4C0F-BE6A79B179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4ECF2D-FF54-872F-EC8C-D5D3DBF15B81}"/>
              </a:ext>
            </a:extLst>
          </p:cNvPr>
          <p:cNvSpPr>
            <a:spLocks noGrp="1"/>
          </p:cNvSpPr>
          <p:nvPr>
            <p:ph type="title"/>
          </p:nvPr>
        </p:nvSpPr>
        <p:spPr/>
        <p:txBody>
          <a:bodyPr/>
          <a:lstStyle/>
          <a:p>
            <a:r>
              <a:rPr lang="en-US" dirty="0"/>
              <a:t>Sources</a:t>
            </a:r>
          </a:p>
        </p:txBody>
      </p:sp>
      <p:sp>
        <p:nvSpPr>
          <p:cNvPr id="3" name="Content Placeholder 2">
            <a:extLst>
              <a:ext uri="{FF2B5EF4-FFF2-40B4-BE49-F238E27FC236}">
                <a16:creationId xmlns:a16="http://schemas.microsoft.com/office/drawing/2014/main" id="{9627B950-A5BB-38EC-1BAE-00504EE65603}"/>
              </a:ext>
            </a:extLst>
          </p:cNvPr>
          <p:cNvSpPr>
            <a:spLocks noGrp="1"/>
          </p:cNvSpPr>
          <p:nvPr>
            <p:ph idx="1"/>
          </p:nvPr>
        </p:nvSpPr>
        <p:spPr/>
        <p:txBody>
          <a:bodyPr/>
          <a:lstStyle/>
          <a:p>
            <a:pPr marL="36900" indent="0">
              <a:buNone/>
            </a:pPr>
            <a:r>
              <a:rPr lang="en-US" dirty="0"/>
              <a:t>Mineral List:</a:t>
            </a:r>
          </a:p>
          <a:p>
            <a:pPr marL="36900" indent="0">
              <a:buNone/>
            </a:pPr>
            <a:r>
              <a:rPr lang="en-US" dirty="0"/>
              <a:t>https://www.usgs.gov/news/national-news-release/us-geological-survey-releases-2022-list-critical-minerals</a:t>
            </a:r>
          </a:p>
          <a:p>
            <a:pPr marL="36900" indent="0">
              <a:buNone/>
            </a:pPr>
            <a:r>
              <a:rPr lang="en-US" dirty="0"/>
              <a:t>Mineral Data:</a:t>
            </a:r>
          </a:p>
          <a:p>
            <a:pPr marL="36900" indent="0">
              <a:buNone/>
            </a:pPr>
            <a:r>
              <a:rPr lang="en-US" dirty="0"/>
              <a:t>https://mrdata.usgs.gov/major-deposits/</a:t>
            </a:r>
          </a:p>
          <a:p>
            <a:pPr marL="36900" indent="0">
              <a:buNone/>
            </a:pPr>
            <a:r>
              <a:rPr lang="en-US" dirty="0"/>
              <a:t>Ally Data:</a:t>
            </a:r>
          </a:p>
          <a:p>
            <a:pPr marL="36900" indent="0">
              <a:buNone/>
            </a:pPr>
            <a:r>
              <a:rPr lang="en-US" dirty="0"/>
              <a:t>https://worldpopulationreview.com/country-rankings/united-states-allies</a:t>
            </a:r>
          </a:p>
          <a:p>
            <a:pPr marL="36900" indent="0">
              <a:buNone/>
            </a:pPr>
            <a:r>
              <a:rPr lang="en-US" dirty="0"/>
              <a:t>Competitor Data:</a:t>
            </a:r>
          </a:p>
          <a:p>
            <a:pPr marL="36900" indent="0">
              <a:buNone/>
            </a:pPr>
            <a:r>
              <a:rPr lang="en-US" dirty="0"/>
              <a:t>https://worldpopulationreview.com/country-rankings/us-enemy-countries</a:t>
            </a:r>
          </a:p>
        </p:txBody>
      </p:sp>
    </p:spTree>
    <p:extLst>
      <p:ext uri="{BB962C8B-B14F-4D97-AF65-F5344CB8AC3E}">
        <p14:creationId xmlns:p14="http://schemas.microsoft.com/office/powerpoint/2010/main" val="784806195"/>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otalTime>258</TotalTime>
  <Words>641</Words>
  <Application>Microsoft Office PowerPoint</Application>
  <PresentationFormat>Widescreen</PresentationFormat>
  <Paragraphs>85</Paragraphs>
  <Slides>15</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15</vt:i4>
      </vt:variant>
    </vt:vector>
  </HeadingPairs>
  <TitlesOfParts>
    <vt:vector size="22" baseType="lpstr">
      <vt:lpstr>Arial</vt:lpstr>
      <vt:lpstr>Calibri</vt:lpstr>
      <vt:lpstr>Calibri Light</vt:lpstr>
      <vt:lpstr>Calisto MT</vt:lpstr>
      <vt:lpstr>Wingdings 2</vt:lpstr>
      <vt:lpstr>Office Theme</vt:lpstr>
      <vt:lpstr>Slate</vt:lpstr>
      <vt:lpstr>DATA608 Assignment 7</vt:lpstr>
      <vt:lpstr>Prompt</vt:lpstr>
      <vt:lpstr>Prelude</vt:lpstr>
      <vt:lpstr>Chromium and Aluminum seem to be the minerals most countries mine after, followed by Tungsten, Zinc, and Manganese</vt:lpstr>
      <vt:lpstr>Interestingly enough, given our relationship with other countries, the least reliable mineral is also Chromium, followed by Platinum,and Niobium</vt:lpstr>
      <vt:lpstr>Let’s see how all the other minerals sum up</vt:lpstr>
      <vt:lpstr>Highly sought after Reliable access</vt:lpstr>
      <vt:lpstr>Moderately sought after Somewhat reliable access</vt:lpstr>
      <vt:lpstr>PowerPoint Presentation</vt:lpstr>
      <vt:lpstr>PowerPoint Presentation</vt:lpstr>
      <vt:lpstr>PowerPoint Presentation</vt:lpstr>
      <vt:lpstr>PowerPoint Presentation</vt:lpstr>
      <vt:lpstr>Little sought after Somewhat reliable access</vt:lpstr>
      <vt:lpstr>Conclusion</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Steven Gonzalez</dc:creator>
  <cp:lastModifiedBy>Steven Gonzalez</cp:lastModifiedBy>
  <cp:revision>3</cp:revision>
  <dcterms:created xsi:type="dcterms:W3CDTF">2026-05-27T14:50:18Z</dcterms:created>
  <dcterms:modified xsi:type="dcterms:W3CDTF">2026-05-27T19:09:09Z</dcterms:modified>
</cp:coreProperties>
</file>