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0" r:id="rId7"/>
    <p:sldId id="261" r:id="rId8"/>
    <p:sldId id="262" r:id="rId9"/>
    <p:sldId id="263" r:id="rId10"/>
    <p:sldId id="264" r:id="rId11"/>
    <p:sldId id="265" r:id="rId12"/>
    <p:sldId id="267"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6C20B-02FA-253E-A469-89F97E3A01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B0ED492-CD0A-CB8D-8772-AE98EDEEF9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31F0A2-301D-9D11-CBEB-D0FB18FA1C56}"/>
              </a:ext>
            </a:extLst>
          </p:cNvPr>
          <p:cNvSpPr>
            <a:spLocks noGrp="1"/>
          </p:cNvSpPr>
          <p:nvPr>
            <p:ph type="dt" sz="half" idx="10"/>
          </p:nvPr>
        </p:nvSpPr>
        <p:spPr/>
        <p:txBody>
          <a:bodyPr/>
          <a:lstStyle/>
          <a:p>
            <a:fld id="{BE471767-73D6-4148-864C-700928E26E8F}" type="datetimeFigureOut">
              <a:rPr lang="en-US" smtClean="0"/>
              <a:t>5/26/2026</a:t>
            </a:fld>
            <a:endParaRPr lang="en-US"/>
          </a:p>
        </p:txBody>
      </p:sp>
      <p:sp>
        <p:nvSpPr>
          <p:cNvPr id="5" name="Footer Placeholder 4">
            <a:extLst>
              <a:ext uri="{FF2B5EF4-FFF2-40B4-BE49-F238E27FC236}">
                <a16:creationId xmlns:a16="http://schemas.microsoft.com/office/drawing/2014/main" id="{1CC62258-82BD-8DC4-822E-6E3407948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407FD9-70E0-350F-DAE6-CB8738FB31A3}"/>
              </a:ext>
            </a:extLst>
          </p:cNvPr>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2989494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223D4-351C-4C0E-C8E5-E4168792C4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7720DF-088A-9852-6156-DAE9B4C39C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569816-4ED3-1CC3-29C0-5D63C46F4004}"/>
              </a:ext>
            </a:extLst>
          </p:cNvPr>
          <p:cNvSpPr>
            <a:spLocks noGrp="1"/>
          </p:cNvSpPr>
          <p:nvPr>
            <p:ph type="dt" sz="half" idx="10"/>
          </p:nvPr>
        </p:nvSpPr>
        <p:spPr/>
        <p:txBody>
          <a:bodyPr/>
          <a:lstStyle/>
          <a:p>
            <a:fld id="{BE471767-73D6-4148-864C-700928E26E8F}" type="datetimeFigureOut">
              <a:rPr lang="en-US" smtClean="0"/>
              <a:t>5/26/2026</a:t>
            </a:fld>
            <a:endParaRPr lang="en-US"/>
          </a:p>
        </p:txBody>
      </p:sp>
      <p:sp>
        <p:nvSpPr>
          <p:cNvPr id="5" name="Footer Placeholder 4">
            <a:extLst>
              <a:ext uri="{FF2B5EF4-FFF2-40B4-BE49-F238E27FC236}">
                <a16:creationId xmlns:a16="http://schemas.microsoft.com/office/drawing/2014/main" id="{79362D3C-DD3F-8D7A-063C-A1566A77C7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25155F-AC88-203C-199D-18CE302D13B5}"/>
              </a:ext>
            </a:extLst>
          </p:cNvPr>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1520914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48768-2AED-D947-48B5-F2C4C41E82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DBEB5A9-B09F-EEAF-2D9D-C37092D807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B3AC62-BE55-2DB9-20BB-21195D0D99FC}"/>
              </a:ext>
            </a:extLst>
          </p:cNvPr>
          <p:cNvSpPr>
            <a:spLocks noGrp="1"/>
          </p:cNvSpPr>
          <p:nvPr>
            <p:ph type="dt" sz="half" idx="10"/>
          </p:nvPr>
        </p:nvSpPr>
        <p:spPr/>
        <p:txBody>
          <a:bodyPr/>
          <a:lstStyle/>
          <a:p>
            <a:fld id="{BE471767-73D6-4148-864C-700928E26E8F}" type="datetimeFigureOut">
              <a:rPr lang="en-US" smtClean="0"/>
              <a:t>5/26/2026</a:t>
            </a:fld>
            <a:endParaRPr lang="en-US"/>
          </a:p>
        </p:txBody>
      </p:sp>
      <p:sp>
        <p:nvSpPr>
          <p:cNvPr id="5" name="Footer Placeholder 4">
            <a:extLst>
              <a:ext uri="{FF2B5EF4-FFF2-40B4-BE49-F238E27FC236}">
                <a16:creationId xmlns:a16="http://schemas.microsoft.com/office/drawing/2014/main" id="{72CE8E30-FDB7-A920-24B7-032D9807CB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24511E-829E-4E5C-1B4B-AAE9922EF347}"/>
              </a:ext>
            </a:extLst>
          </p:cNvPr>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2803227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C2E42-BEE3-0A87-3B3F-DE361C3D42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017A0C-39A9-C076-3791-EEDF1B6CAB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8885C3D-E0EF-F1D4-FE86-25FFB46543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7BD8769-6F0D-426C-5820-490B9B14DA26}"/>
              </a:ext>
            </a:extLst>
          </p:cNvPr>
          <p:cNvSpPr>
            <a:spLocks noGrp="1"/>
          </p:cNvSpPr>
          <p:nvPr>
            <p:ph type="dt" sz="half" idx="10"/>
          </p:nvPr>
        </p:nvSpPr>
        <p:spPr/>
        <p:txBody>
          <a:bodyPr/>
          <a:lstStyle/>
          <a:p>
            <a:fld id="{BE471767-73D6-4148-864C-700928E26E8F}" type="datetimeFigureOut">
              <a:rPr lang="en-US" smtClean="0"/>
              <a:t>5/26/2026</a:t>
            </a:fld>
            <a:endParaRPr lang="en-US"/>
          </a:p>
        </p:txBody>
      </p:sp>
      <p:sp>
        <p:nvSpPr>
          <p:cNvPr id="6" name="Footer Placeholder 5">
            <a:extLst>
              <a:ext uri="{FF2B5EF4-FFF2-40B4-BE49-F238E27FC236}">
                <a16:creationId xmlns:a16="http://schemas.microsoft.com/office/drawing/2014/main" id="{F94C0A2A-B373-5F79-35CB-92105F247A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8C6A7E-7B65-4D77-47BC-3776B173BB03}"/>
              </a:ext>
            </a:extLst>
          </p:cNvPr>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478121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8270D-29A6-D669-90EA-B3168C5553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88A01A9-8536-67D3-E47D-958E40AACE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ACF2D5-1551-6E9E-7847-EE86DAEE1B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CA4B9C9-70D2-398E-190E-AA874E4BC9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4D54FD-9D31-2529-F7ED-47070BBD8B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DD9D54-B2E9-598B-84FD-53C812FBD408}"/>
              </a:ext>
            </a:extLst>
          </p:cNvPr>
          <p:cNvSpPr>
            <a:spLocks noGrp="1"/>
          </p:cNvSpPr>
          <p:nvPr>
            <p:ph type="dt" sz="half" idx="10"/>
          </p:nvPr>
        </p:nvSpPr>
        <p:spPr/>
        <p:txBody>
          <a:bodyPr/>
          <a:lstStyle/>
          <a:p>
            <a:fld id="{BE471767-73D6-4148-864C-700928E26E8F}" type="datetimeFigureOut">
              <a:rPr lang="en-US" smtClean="0"/>
              <a:t>5/26/2026</a:t>
            </a:fld>
            <a:endParaRPr lang="en-US"/>
          </a:p>
        </p:txBody>
      </p:sp>
      <p:sp>
        <p:nvSpPr>
          <p:cNvPr id="8" name="Footer Placeholder 7">
            <a:extLst>
              <a:ext uri="{FF2B5EF4-FFF2-40B4-BE49-F238E27FC236}">
                <a16:creationId xmlns:a16="http://schemas.microsoft.com/office/drawing/2014/main" id="{7837E511-5AF6-9D43-FCEC-5884E480B33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7EDEA2A-2939-100A-57CD-2E83228290FA}"/>
              </a:ext>
            </a:extLst>
          </p:cNvPr>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2143494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2D24F-0D12-1D91-97F5-7480396A1C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FBD370A-4624-28F5-916A-B4AF268B2747}"/>
              </a:ext>
            </a:extLst>
          </p:cNvPr>
          <p:cNvSpPr>
            <a:spLocks noGrp="1"/>
          </p:cNvSpPr>
          <p:nvPr>
            <p:ph type="dt" sz="half" idx="10"/>
          </p:nvPr>
        </p:nvSpPr>
        <p:spPr/>
        <p:txBody>
          <a:bodyPr/>
          <a:lstStyle/>
          <a:p>
            <a:fld id="{BE471767-73D6-4148-864C-700928E26E8F}" type="datetimeFigureOut">
              <a:rPr lang="en-US" smtClean="0"/>
              <a:t>5/26/2026</a:t>
            </a:fld>
            <a:endParaRPr lang="en-US"/>
          </a:p>
        </p:txBody>
      </p:sp>
      <p:sp>
        <p:nvSpPr>
          <p:cNvPr id="4" name="Footer Placeholder 3">
            <a:extLst>
              <a:ext uri="{FF2B5EF4-FFF2-40B4-BE49-F238E27FC236}">
                <a16:creationId xmlns:a16="http://schemas.microsoft.com/office/drawing/2014/main" id="{C0C26526-B1AA-D225-CFBE-A698ADD0126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FDB219-0844-2667-3104-67518D073F38}"/>
              </a:ext>
            </a:extLst>
          </p:cNvPr>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2736239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6679E0-2659-FD1E-0D36-D01AAC870DC5}"/>
              </a:ext>
            </a:extLst>
          </p:cNvPr>
          <p:cNvSpPr>
            <a:spLocks noGrp="1"/>
          </p:cNvSpPr>
          <p:nvPr>
            <p:ph type="dt" sz="half" idx="10"/>
          </p:nvPr>
        </p:nvSpPr>
        <p:spPr/>
        <p:txBody>
          <a:bodyPr/>
          <a:lstStyle/>
          <a:p>
            <a:fld id="{BE471767-73D6-4148-864C-700928E26E8F}" type="datetimeFigureOut">
              <a:rPr lang="en-US" smtClean="0"/>
              <a:t>5/26/2026</a:t>
            </a:fld>
            <a:endParaRPr lang="en-US"/>
          </a:p>
        </p:txBody>
      </p:sp>
      <p:sp>
        <p:nvSpPr>
          <p:cNvPr id="3" name="Footer Placeholder 2">
            <a:extLst>
              <a:ext uri="{FF2B5EF4-FFF2-40B4-BE49-F238E27FC236}">
                <a16:creationId xmlns:a16="http://schemas.microsoft.com/office/drawing/2014/main" id="{B1D92C09-DC3F-AA8F-F40D-28A52FA487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051BE4-E1A6-F8ED-E861-24A15F1744EB}"/>
              </a:ext>
            </a:extLst>
          </p:cNvPr>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1117291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1ADD5-F182-84D2-39C8-76EFDE584A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82431B3-7F6C-91E7-DA4D-BF127A08EB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109F500-93A1-0369-C65E-CBEEE52461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22C036-743C-C9D0-3DAF-31E65EC14C26}"/>
              </a:ext>
            </a:extLst>
          </p:cNvPr>
          <p:cNvSpPr>
            <a:spLocks noGrp="1"/>
          </p:cNvSpPr>
          <p:nvPr>
            <p:ph type="dt" sz="half" idx="10"/>
          </p:nvPr>
        </p:nvSpPr>
        <p:spPr/>
        <p:txBody>
          <a:bodyPr/>
          <a:lstStyle/>
          <a:p>
            <a:fld id="{BE471767-73D6-4148-864C-700928E26E8F}" type="datetimeFigureOut">
              <a:rPr lang="en-US" smtClean="0"/>
              <a:t>5/26/2026</a:t>
            </a:fld>
            <a:endParaRPr lang="en-US"/>
          </a:p>
        </p:txBody>
      </p:sp>
      <p:sp>
        <p:nvSpPr>
          <p:cNvPr id="6" name="Footer Placeholder 5">
            <a:extLst>
              <a:ext uri="{FF2B5EF4-FFF2-40B4-BE49-F238E27FC236}">
                <a16:creationId xmlns:a16="http://schemas.microsoft.com/office/drawing/2014/main" id="{C4579789-F209-988A-9A16-E7393B75BD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FD8998-A050-25CC-EDA6-C8687DA1644B}"/>
              </a:ext>
            </a:extLst>
          </p:cNvPr>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2132727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40801-1638-99C4-3C85-0E153B3145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193DA30-9741-BE0D-4588-2ED14014CF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141A62-E974-FD4D-9F7E-35D1828DF4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D15122-485A-9365-C9C9-4C4CADC96FD3}"/>
              </a:ext>
            </a:extLst>
          </p:cNvPr>
          <p:cNvSpPr>
            <a:spLocks noGrp="1"/>
          </p:cNvSpPr>
          <p:nvPr>
            <p:ph type="dt" sz="half" idx="10"/>
          </p:nvPr>
        </p:nvSpPr>
        <p:spPr/>
        <p:txBody>
          <a:bodyPr/>
          <a:lstStyle/>
          <a:p>
            <a:fld id="{BE471767-73D6-4148-864C-700928E26E8F}" type="datetimeFigureOut">
              <a:rPr lang="en-US" smtClean="0"/>
              <a:t>5/26/2026</a:t>
            </a:fld>
            <a:endParaRPr lang="en-US"/>
          </a:p>
        </p:txBody>
      </p:sp>
      <p:sp>
        <p:nvSpPr>
          <p:cNvPr id="6" name="Footer Placeholder 5">
            <a:extLst>
              <a:ext uri="{FF2B5EF4-FFF2-40B4-BE49-F238E27FC236}">
                <a16:creationId xmlns:a16="http://schemas.microsoft.com/office/drawing/2014/main" id="{AECCA265-21E8-FF4C-14BB-4E384E049A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2C1FEB-DFF4-CD8A-B9E8-C6C419FF7521}"/>
              </a:ext>
            </a:extLst>
          </p:cNvPr>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2477732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3F990-E6DC-9B5D-40F1-490FD10343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5AFB63-4FFD-F1EF-70CA-C6461A869C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033062-F352-6681-8373-B79C41D0A005}"/>
              </a:ext>
            </a:extLst>
          </p:cNvPr>
          <p:cNvSpPr>
            <a:spLocks noGrp="1"/>
          </p:cNvSpPr>
          <p:nvPr>
            <p:ph type="dt" sz="half" idx="10"/>
          </p:nvPr>
        </p:nvSpPr>
        <p:spPr/>
        <p:txBody>
          <a:bodyPr/>
          <a:lstStyle/>
          <a:p>
            <a:fld id="{BE471767-73D6-4148-864C-700928E26E8F}" type="datetimeFigureOut">
              <a:rPr lang="en-US" smtClean="0"/>
              <a:t>5/26/2026</a:t>
            </a:fld>
            <a:endParaRPr lang="en-US"/>
          </a:p>
        </p:txBody>
      </p:sp>
      <p:sp>
        <p:nvSpPr>
          <p:cNvPr id="5" name="Footer Placeholder 4">
            <a:extLst>
              <a:ext uri="{FF2B5EF4-FFF2-40B4-BE49-F238E27FC236}">
                <a16:creationId xmlns:a16="http://schemas.microsoft.com/office/drawing/2014/main" id="{6276DDF6-BE06-7069-D66F-EF86849F8B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C1BA74-E394-DE93-3A28-33F43C74CED6}"/>
              </a:ext>
            </a:extLst>
          </p:cNvPr>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2104509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A61015-F1CF-F861-322F-5FF513DEDFA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DD6D1D0-6AC6-1DEF-86AF-B1E7D07110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B14878-E9F7-3945-A4D5-58591816E52B}"/>
              </a:ext>
            </a:extLst>
          </p:cNvPr>
          <p:cNvSpPr>
            <a:spLocks noGrp="1"/>
          </p:cNvSpPr>
          <p:nvPr>
            <p:ph type="dt" sz="half" idx="10"/>
          </p:nvPr>
        </p:nvSpPr>
        <p:spPr/>
        <p:txBody>
          <a:bodyPr/>
          <a:lstStyle/>
          <a:p>
            <a:fld id="{BE471767-73D6-4148-864C-700928E26E8F}" type="datetimeFigureOut">
              <a:rPr lang="en-US" smtClean="0"/>
              <a:t>5/26/2026</a:t>
            </a:fld>
            <a:endParaRPr lang="en-US"/>
          </a:p>
        </p:txBody>
      </p:sp>
      <p:sp>
        <p:nvSpPr>
          <p:cNvPr id="5" name="Footer Placeholder 4">
            <a:extLst>
              <a:ext uri="{FF2B5EF4-FFF2-40B4-BE49-F238E27FC236}">
                <a16:creationId xmlns:a16="http://schemas.microsoft.com/office/drawing/2014/main" id="{06BD68BA-AB65-8C38-2FAF-8E534404AD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2B691C-B0C0-022A-939A-025BF31A45B6}"/>
              </a:ext>
            </a:extLst>
          </p:cNvPr>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26892613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E471767-73D6-4148-864C-700928E26E8F}" type="datetimeFigureOut">
              <a:rPr lang="en-US" smtClean="0"/>
              <a:t>5/26/2026</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3830818218"/>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471767-73D6-4148-864C-700928E26E8F}"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20937370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471767-73D6-4148-864C-700928E26E8F}"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1290328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471767-73D6-4148-864C-700928E26E8F}" type="datetimeFigureOut">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13753505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471767-73D6-4148-864C-700928E26E8F}" type="datetimeFigureOut">
              <a:rPr lang="en-US" smtClean="0"/>
              <a:t>5/26/2026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38483966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471767-73D6-4148-864C-700928E26E8F}" type="datetimeFigureOut">
              <a:rPr lang="en-US" smtClean="0"/>
              <a:t>5/26/2026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1213240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E471767-73D6-4148-864C-700928E26E8F}" type="datetimeFigureOut">
              <a:rPr lang="en-US" smtClean="0"/>
              <a:t>5/26/2026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17977209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E471767-73D6-4148-864C-700928E26E8F}" type="datetimeFigureOut">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39358161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E471767-73D6-4148-864C-700928E26E8F}" type="datetimeFigureOut">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41467779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E471767-73D6-4148-864C-700928E26E8F}" type="datetimeFigureOut">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37685929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471767-73D6-4148-864C-700928E26E8F}"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9218976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471767-73D6-4148-864C-700928E26E8F}"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33545324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471767-73D6-4148-864C-700928E26E8F}"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40979397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471767-73D6-4148-864C-700928E26E8F}"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33531086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471767-73D6-4148-864C-700928E26E8F}"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1728260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471767-73D6-4148-864C-700928E26E8F}"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14EDE-1EE8-4615-959B-9F148CAC13A5}"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37753079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471767-73D6-4148-864C-700928E26E8F}"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14EDE-1EE8-4615-959B-9F148CAC13A5}" type="slidenum">
              <a:rPr lang="en-US" smtClean="0"/>
              <a:t>‹#›</a:t>
            </a:fld>
            <a:endParaRPr lang="en-US"/>
          </a:p>
        </p:txBody>
      </p:sp>
    </p:spTree>
    <p:extLst>
      <p:ext uri="{BB962C8B-B14F-4D97-AF65-F5344CB8AC3E}">
        <p14:creationId xmlns:p14="http://schemas.microsoft.com/office/powerpoint/2010/main" val="2746074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BDA627-D56A-AD9C-4AA6-153C6D2BD4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9A11A7-D08E-F305-998F-686A00B067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D69310-DCA0-76A0-0686-5772740D50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471767-73D6-4148-864C-700928E26E8F}" type="datetimeFigureOut">
              <a:rPr lang="en-US" smtClean="0"/>
              <a:t>5/26/2026</a:t>
            </a:fld>
            <a:endParaRPr lang="en-US"/>
          </a:p>
        </p:txBody>
      </p:sp>
      <p:sp>
        <p:nvSpPr>
          <p:cNvPr id="5" name="Footer Placeholder 4">
            <a:extLst>
              <a:ext uri="{FF2B5EF4-FFF2-40B4-BE49-F238E27FC236}">
                <a16:creationId xmlns:a16="http://schemas.microsoft.com/office/drawing/2014/main" id="{A07556D2-A754-909F-3565-D91E59A5E8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440F60E-ED93-249A-F8AB-04A0846B24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514EDE-1EE8-4615-959B-9F148CAC13A5}" type="slidenum">
              <a:rPr lang="en-US" smtClean="0"/>
              <a:t>‹#›</a:t>
            </a:fld>
            <a:endParaRPr lang="en-US"/>
          </a:p>
        </p:txBody>
      </p:sp>
    </p:spTree>
    <p:extLst>
      <p:ext uri="{BB962C8B-B14F-4D97-AF65-F5344CB8AC3E}">
        <p14:creationId xmlns:p14="http://schemas.microsoft.com/office/powerpoint/2010/main" val="2393370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E471767-73D6-4148-864C-700928E26E8F}" type="datetimeFigureOut">
              <a:rPr lang="en-US" smtClean="0"/>
              <a:t>5/26/2026</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F514EDE-1EE8-4615-959B-9F148CAC13A5}" type="slidenum">
              <a:rPr lang="en-US" smtClean="0"/>
              <a:t>‹#›</a:t>
            </a:fld>
            <a:endParaRPr lang="en-US"/>
          </a:p>
        </p:txBody>
      </p:sp>
    </p:spTree>
    <p:extLst>
      <p:ext uri="{BB962C8B-B14F-4D97-AF65-F5344CB8AC3E}">
        <p14:creationId xmlns:p14="http://schemas.microsoft.com/office/powerpoint/2010/main" val="399303336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943124E0-1460-A839-10E4-232D6CB5A29F}"/>
              </a:ext>
            </a:extLst>
          </p:cNvPr>
          <p:cNvPicPr>
            <a:picLocks noChangeAspect="1" noChangeArrowheads="1"/>
          </p:cNvPicPr>
          <p:nvPr/>
        </p:nvPicPr>
        <p:blipFill>
          <a:blip r:embed="rId2">
            <a:alphaModFix/>
            <a:extLst>
              <a:ext uri="{28A0092B-C50C-407E-A947-70E740481C1C}">
                <a14:useLocalDpi xmlns:a14="http://schemas.microsoft.com/office/drawing/2010/main" val="0"/>
              </a:ext>
            </a:extLst>
          </a:blip>
          <a:srcRect/>
          <a:stretch>
            <a:fillRect/>
          </a:stretch>
        </p:blipFill>
        <p:spPr bwMode="auto">
          <a:xfrm>
            <a:off x="0" y="0"/>
            <a:ext cx="12192000" cy="6871421"/>
          </a:xfrm>
          <a:prstGeom prst="rect">
            <a:avLst/>
          </a:prstGeom>
          <a:solidFill>
            <a:schemeClr val="bg2"/>
          </a:solidFill>
        </p:spPr>
      </p:pic>
      <p:sp>
        <p:nvSpPr>
          <p:cNvPr id="4" name="Rectangle: Rounded Corners 3">
            <a:extLst>
              <a:ext uri="{FF2B5EF4-FFF2-40B4-BE49-F238E27FC236}">
                <a16:creationId xmlns:a16="http://schemas.microsoft.com/office/drawing/2014/main" id="{866F7EA3-7377-0B70-334B-B8507896892B}"/>
              </a:ext>
            </a:extLst>
          </p:cNvPr>
          <p:cNvSpPr/>
          <p:nvPr/>
        </p:nvSpPr>
        <p:spPr>
          <a:xfrm>
            <a:off x="2373549" y="2490281"/>
            <a:ext cx="7412477" cy="1624519"/>
          </a:xfrm>
          <a:prstGeom prst="roundRect">
            <a:avLst/>
          </a:prstGeom>
          <a:gradFill flip="none" rotWithShape="1">
            <a:gsLst>
              <a:gs pos="0">
                <a:schemeClr val="bg1"/>
              </a:gs>
              <a:gs pos="100000">
                <a:schemeClr val="tx2">
                  <a:alpha val="50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00FF"/>
              </a:solidFill>
            </a:endParaRPr>
          </a:p>
        </p:txBody>
      </p:sp>
      <p:sp>
        <p:nvSpPr>
          <p:cNvPr id="2" name="Title 1">
            <a:extLst>
              <a:ext uri="{FF2B5EF4-FFF2-40B4-BE49-F238E27FC236}">
                <a16:creationId xmlns:a16="http://schemas.microsoft.com/office/drawing/2014/main" id="{953A54D0-16B1-6386-007F-2E4C13B7CC6E}"/>
              </a:ext>
            </a:extLst>
          </p:cNvPr>
          <p:cNvSpPr>
            <a:spLocks noGrp="1"/>
          </p:cNvSpPr>
          <p:nvPr>
            <p:ph type="ctrTitle"/>
          </p:nvPr>
        </p:nvSpPr>
        <p:spPr>
          <a:xfrm>
            <a:off x="1524000" y="2344365"/>
            <a:ext cx="9144000" cy="1165597"/>
          </a:xfrm>
          <a:noFill/>
        </p:spPr>
        <p:txBody>
          <a:bodyPr/>
          <a:lstStyle/>
          <a:p>
            <a:r>
              <a:rPr lang="en-US" b="1" dirty="0">
                <a:solidFill>
                  <a:srgbClr val="0000FF"/>
                </a:solidFill>
                <a:effectLst>
                  <a:outerShdw blurRad="38100" dist="38100" dir="2700000" algn="tl">
                    <a:srgbClr val="000000">
                      <a:alpha val="43137"/>
                    </a:srgbClr>
                  </a:outerShdw>
                </a:effectLst>
              </a:rPr>
              <a:t>DATA608 Assignment 5</a:t>
            </a:r>
          </a:p>
        </p:txBody>
      </p:sp>
      <p:sp>
        <p:nvSpPr>
          <p:cNvPr id="3" name="Subtitle 2">
            <a:extLst>
              <a:ext uri="{FF2B5EF4-FFF2-40B4-BE49-F238E27FC236}">
                <a16:creationId xmlns:a16="http://schemas.microsoft.com/office/drawing/2014/main" id="{02E006CD-2B77-833B-B37C-8F44A1982AC7}"/>
              </a:ext>
            </a:extLst>
          </p:cNvPr>
          <p:cNvSpPr>
            <a:spLocks noGrp="1"/>
          </p:cNvSpPr>
          <p:nvPr>
            <p:ph type="subTitle" idx="1"/>
          </p:nvPr>
        </p:nvSpPr>
        <p:spPr>
          <a:xfrm>
            <a:off x="1524000" y="3602038"/>
            <a:ext cx="9144000" cy="512762"/>
          </a:xfrm>
          <a:noFill/>
        </p:spPr>
        <p:txBody>
          <a:bodyPr/>
          <a:lstStyle/>
          <a:p>
            <a:r>
              <a:rPr lang="en-US" b="1" dirty="0">
                <a:solidFill>
                  <a:srgbClr val="0000FF"/>
                </a:solidFill>
                <a:effectLst>
                  <a:outerShdw blurRad="38100" dist="38100" dir="2700000" algn="tl">
                    <a:srgbClr val="000000">
                      <a:alpha val="43137"/>
                    </a:srgbClr>
                  </a:outerShdw>
                </a:effectLst>
              </a:rPr>
              <a:t>Steven Gonzalez</a:t>
            </a:r>
          </a:p>
        </p:txBody>
      </p:sp>
    </p:spTree>
    <p:extLst>
      <p:ext uri="{BB962C8B-B14F-4D97-AF65-F5344CB8AC3E}">
        <p14:creationId xmlns:p14="http://schemas.microsoft.com/office/powerpoint/2010/main" val="1573415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8A8FE-E28A-A770-7184-17397770B222}"/>
              </a:ext>
            </a:extLst>
          </p:cNvPr>
          <p:cNvSpPr>
            <a:spLocks noGrp="1"/>
          </p:cNvSpPr>
          <p:nvPr>
            <p:ph type="title"/>
          </p:nvPr>
        </p:nvSpPr>
        <p:spPr/>
        <p:txBody>
          <a:bodyPr/>
          <a:lstStyle/>
          <a:p>
            <a:r>
              <a:rPr lang="en-US" dirty="0"/>
              <a:t>Prompt</a:t>
            </a:r>
          </a:p>
        </p:txBody>
      </p:sp>
      <p:sp>
        <p:nvSpPr>
          <p:cNvPr id="3" name="Content Placeholder 2">
            <a:extLst>
              <a:ext uri="{FF2B5EF4-FFF2-40B4-BE49-F238E27FC236}">
                <a16:creationId xmlns:a16="http://schemas.microsoft.com/office/drawing/2014/main" id="{9598F3A5-93F7-9C48-7AB1-B9D5A7D2A885}"/>
              </a:ext>
            </a:extLst>
          </p:cNvPr>
          <p:cNvSpPr>
            <a:spLocks noGrp="1"/>
          </p:cNvSpPr>
          <p:nvPr>
            <p:ph idx="1"/>
          </p:nvPr>
        </p:nvSpPr>
        <p:spPr/>
        <p:txBody>
          <a:bodyPr anchor="t" anchorCtr="0">
            <a:normAutofit/>
          </a:bodyPr>
          <a:lstStyle/>
          <a:p>
            <a:pPr marL="0" indent="0">
              <a:buNone/>
            </a:pPr>
            <a:r>
              <a:rPr lang="en-US" sz="2400" dirty="0"/>
              <a:t>Historic data indicates that the occurrence and intensity of cyclonic storms (Hurricanes, Typhoons and Tornadoes) increases with the increased earth temperature. For this assignment you will need to tell this story to a non-technical audience (</a:t>
            </a:r>
            <a:r>
              <a:rPr lang="en-US" sz="2400" dirty="0" err="1"/>
              <a:t>eg</a:t>
            </a:r>
            <a:r>
              <a:rPr lang="en-US" sz="2400" dirty="0"/>
              <a:t>: a high-school earth science class).</a:t>
            </a:r>
          </a:p>
        </p:txBody>
      </p:sp>
    </p:spTree>
    <p:extLst>
      <p:ext uri="{BB962C8B-B14F-4D97-AF65-F5344CB8AC3E}">
        <p14:creationId xmlns:p14="http://schemas.microsoft.com/office/powerpoint/2010/main" val="1022621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473C4-8510-836F-C682-40010CBC9745}"/>
              </a:ext>
            </a:extLst>
          </p:cNvPr>
          <p:cNvSpPr>
            <a:spLocks noGrp="1"/>
          </p:cNvSpPr>
          <p:nvPr>
            <p:ph type="title"/>
          </p:nvPr>
        </p:nvSpPr>
        <p:spPr/>
        <p:txBody>
          <a:bodyPr/>
          <a:lstStyle/>
          <a:p>
            <a:r>
              <a:rPr lang="en-US" dirty="0"/>
              <a:t>Prelude</a:t>
            </a:r>
          </a:p>
        </p:txBody>
      </p:sp>
      <p:sp>
        <p:nvSpPr>
          <p:cNvPr id="3" name="Content Placeholder 2">
            <a:extLst>
              <a:ext uri="{FF2B5EF4-FFF2-40B4-BE49-F238E27FC236}">
                <a16:creationId xmlns:a16="http://schemas.microsoft.com/office/drawing/2014/main" id="{8B382EE3-88F4-EE69-80EC-A7EB15E8DBA6}"/>
              </a:ext>
            </a:extLst>
          </p:cNvPr>
          <p:cNvSpPr>
            <a:spLocks noGrp="1"/>
          </p:cNvSpPr>
          <p:nvPr>
            <p:ph idx="1"/>
          </p:nvPr>
        </p:nvSpPr>
        <p:spPr/>
        <p:txBody>
          <a:bodyPr anchor="t" anchorCtr="0">
            <a:noAutofit/>
          </a:bodyPr>
          <a:lstStyle/>
          <a:p>
            <a:pPr marL="0" indent="0">
              <a:buNone/>
            </a:pPr>
            <a:r>
              <a:rPr lang="en-US" sz="2400" dirty="0"/>
              <a:t>The subject of climate change has been a popular one for quite some time now. The question at hand revolves around the possible correlation between climate change and extreme weather. Specifically, if there is a connection between rising temperatures and hurricanes.</a:t>
            </a:r>
          </a:p>
          <a:p>
            <a:pPr marL="0" indent="0">
              <a:buNone/>
            </a:pPr>
            <a:r>
              <a:rPr lang="en-US" sz="2400" dirty="0"/>
              <a:t>In this story, we are going to:</a:t>
            </a:r>
          </a:p>
          <a:p>
            <a:r>
              <a:rPr lang="en-US" sz="2000" dirty="0"/>
              <a:t>Look into the </a:t>
            </a:r>
            <a:r>
              <a:rPr lang="en-US" sz="2000" b="1" u="sng" dirty="0"/>
              <a:t>change in the number of storms and hurricanes</a:t>
            </a:r>
            <a:r>
              <a:rPr lang="en-US" sz="2000" dirty="0"/>
              <a:t> since 1950</a:t>
            </a:r>
          </a:p>
          <a:p>
            <a:r>
              <a:rPr lang="en-US" sz="2000" dirty="0"/>
              <a:t>Assimilate the </a:t>
            </a:r>
            <a:r>
              <a:rPr lang="en-US" sz="2000" b="1" u="sng" dirty="0"/>
              <a:t>fluctuations in hurricane proportion and storm speed</a:t>
            </a:r>
          </a:p>
          <a:p>
            <a:r>
              <a:rPr lang="en-US" sz="2000" dirty="0"/>
              <a:t>Look into the </a:t>
            </a:r>
            <a:r>
              <a:rPr lang="en-US" sz="2000" b="1" u="sng" dirty="0"/>
              <a:t>change in temperature throughout this same amount of time</a:t>
            </a:r>
          </a:p>
          <a:p>
            <a:r>
              <a:rPr lang="en-US" sz="2000" dirty="0"/>
              <a:t>Finally, see </a:t>
            </a:r>
            <a:r>
              <a:rPr lang="en-US" sz="2000" b="1" u="sng" dirty="0"/>
              <a:t>which variables are actually influenced by this change</a:t>
            </a:r>
          </a:p>
        </p:txBody>
      </p:sp>
    </p:spTree>
    <p:extLst>
      <p:ext uri="{BB962C8B-B14F-4D97-AF65-F5344CB8AC3E}">
        <p14:creationId xmlns:p14="http://schemas.microsoft.com/office/powerpoint/2010/main" val="2735748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pic>
        <p:nvPicPr>
          <p:cNvPr id="2055" name="Picture 2054">
            <a:extLst>
              <a:ext uri="{FF2B5EF4-FFF2-40B4-BE49-F238E27FC236}">
                <a16:creationId xmlns:a16="http://schemas.microsoft.com/office/drawing/2014/main" id="{6AF6706C-CF07-43A1-BCC4-CBA5D33820D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a:extLst>
              <a:ext uri="{FF2B5EF4-FFF2-40B4-BE49-F238E27FC236}">
                <a16:creationId xmlns:a16="http://schemas.microsoft.com/office/drawing/2014/main" id="{617BE4EF-7150-776D-D874-95C816FDBBB1}"/>
              </a:ext>
            </a:extLst>
          </p:cNvPr>
          <p:cNvSpPr>
            <a:spLocks noGrp="1"/>
          </p:cNvSpPr>
          <p:nvPr>
            <p:ph type="title"/>
          </p:nvPr>
        </p:nvSpPr>
        <p:spPr>
          <a:xfrm>
            <a:off x="8180983" y="639097"/>
            <a:ext cx="3352256" cy="3746634"/>
          </a:xfrm>
        </p:spPr>
        <p:txBody>
          <a:bodyPr vert="horz" lIns="91440" tIns="45720" rIns="91440" bIns="45720" rtlCol="0" anchor="b">
            <a:noAutofit/>
          </a:bodyPr>
          <a:lstStyle/>
          <a:p>
            <a:pPr algn="r"/>
            <a:r>
              <a:rPr lang="en-US" dirty="0"/>
              <a:t>From the year 1950 to the present, </a:t>
            </a:r>
            <a:r>
              <a:rPr lang="en-US" b="1" dirty="0">
                <a:highlight>
                  <a:srgbClr val="0000FF"/>
                </a:highlight>
              </a:rPr>
              <a:t>storm activity </a:t>
            </a:r>
            <a:r>
              <a:rPr lang="en-US" dirty="0"/>
              <a:t>has been </a:t>
            </a:r>
            <a:r>
              <a:rPr lang="en-US" b="1" dirty="0">
                <a:highlight>
                  <a:srgbClr val="0000FF"/>
                </a:highlight>
              </a:rPr>
              <a:t>steadily on the rise</a:t>
            </a:r>
          </a:p>
        </p:txBody>
      </p:sp>
      <p:pic>
        <p:nvPicPr>
          <p:cNvPr id="2050" name="Picture 2">
            <a:extLst>
              <a:ext uri="{FF2B5EF4-FFF2-40B4-BE49-F238E27FC236}">
                <a16:creationId xmlns:a16="http://schemas.microsoft.com/office/drawing/2014/main" id="{28E6CC10-3D46-3CF3-FDA5-C859D2720456}"/>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29810" y="959543"/>
            <a:ext cx="6921364" cy="4943830"/>
          </a:xfrm>
          <a:prstGeom prst="roundRect">
            <a:avLst>
              <a:gd name="adj" fmla="val 43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8331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7CAD327F-706B-A2F8-839E-5AA9E0CCA9C8}"/>
            </a:ext>
          </a:extLst>
        </p:cNvPr>
        <p:cNvGrpSpPr/>
        <p:nvPr/>
      </p:nvGrpSpPr>
      <p:grpSpPr>
        <a:xfrm>
          <a:off x="0" y="0"/>
          <a:ext cx="0" cy="0"/>
          <a:chOff x="0" y="0"/>
          <a:chExt cx="0" cy="0"/>
        </a:xfrm>
      </p:grpSpPr>
      <p:pic>
        <p:nvPicPr>
          <p:cNvPr id="3079" name="Picture 3078">
            <a:extLst>
              <a:ext uri="{FF2B5EF4-FFF2-40B4-BE49-F238E27FC236}">
                <a16:creationId xmlns:a16="http://schemas.microsoft.com/office/drawing/2014/main" id="{6AF6706C-CF07-43A1-BCC4-CBA5D33820D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a:extLst>
              <a:ext uri="{FF2B5EF4-FFF2-40B4-BE49-F238E27FC236}">
                <a16:creationId xmlns:a16="http://schemas.microsoft.com/office/drawing/2014/main" id="{BF11099C-84F8-671D-6417-B2878A01DEEA}"/>
              </a:ext>
            </a:extLst>
          </p:cNvPr>
          <p:cNvSpPr>
            <a:spLocks noGrp="1"/>
          </p:cNvSpPr>
          <p:nvPr>
            <p:ph type="title"/>
          </p:nvPr>
        </p:nvSpPr>
        <p:spPr>
          <a:xfrm>
            <a:off x="8180983" y="639097"/>
            <a:ext cx="3352256" cy="3746634"/>
          </a:xfrm>
        </p:spPr>
        <p:txBody>
          <a:bodyPr vert="horz" lIns="91440" tIns="45720" rIns="91440" bIns="45720" rtlCol="0" anchor="b">
            <a:noAutofit/>
          </a:bodyPr>
          <a:lstStyle/>
          <a:p>
            <a:pPr algn="r"/>
            <a:r>
              <a:rPr lang="en-US" dirty="0"/>
              <a:t>there has also been a </a:t>
            </a:r>
            <a:r>
              <a:rPr lang="en-US" b="1" dirty="0">
                <a:highlight>
                  <a:srgbClr val="FF00FF"/>
                </a:highlight>
              </a:rPr>
              <a:t>rise</a:t>
            </a:r>
            <a:r>
              <a:rPr lang="en-US" dirty="0"/>
              <a:t> in the </a:t>
            </a:r>
            <a:r>
              <a:rPr lang="en-US" b="1" dirty="0">
                <a:highlight>
                  <a:srgbClr val="FF00FF"/>
                </a:highlight>
              </a:rPr>
              <a:t>number of hurricanes </a:t>
            </a:r>
            <a:r>
              <a:rPr lang="en-US" dirty="0"/>
              <a:t>per storm season</a:t>
            </a:r>
          </a:p>
        </p:txBody>
      </p:sp>
      <p:pic>
        <p:nvPicPr>
          <p:cNvPr id="3074" name="Picture 2">
            <a:extLst>
              <a:ext uri="{FF2B5EF4-FFF2-40B4-BE49-F238E27FC236}">
                <a16:creationId xmlns:a16="http://schemas.microsoft.com/office/drawing/2014/main" id="{44532E11-03D1-FB46-050E-87FC47F330B6}"/>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29810" y="959543"/>
            <a:ext cx="6921364" cy="4943830"/>
          </a:xfrm>
          <a:prstGeom prst="roundRect">
            <a:avLst>
              <a:gd name="adj" fmla="val 43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5628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E378EBB7-92DB-8923-183D-CFF220842B50}"/>
            </a:ext>
          </a:extLst>
        </p:cNvPr>
        <p:cNvGrpSpPr/>
        <p:nvPr/>
      </p:nvGrpSpPr>
      <p:grpSpPr>
        <a:xfrm>
          <a:off x="0" y="0"/>
          <a:ext cx="0" cy="0"/>
          <a:chOff x="0" y="0"/>
          <a:chExt cx="0" cy="0"/>
        </a:xfrm>
      </p:grpSpPr>
      <p:pic>
        <p:nvPicPr>
          <p:cNvPr id="4105" name="Picture 4104">
            <a:extLst>
              <a:ext uri="{FF2B5EF4-FFF2-40B4-BE49-F238E27FC236}">
                <a16:creationId xmlns:a16="http://schemas.microsoft.com/office/drawing/2014/main" id="{83543A10-04EE-49E0-A9DE-22E1FAB9AED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a:extLst>
              <a:ext uri="{FF2B5EF4-FFF2-40B4-BE49-F238E27FC236}">
                <a16:creationId xmlns:a16="http://schemas.microsoft.com/office/drawing/2014/main" id="{57B9C406-C824-D2A7-DD77-12CB103F1F2F}"/>
              </a:ext>
            </a:extLst>
          </p:cNvPr>
          <p:cNvSpPr>
            <a:spLocks noGrp="1"/>
          </p:cNvSpPr>
          <p:nvPr>
            <p:ph type="title"/>
          </p:nvPr>
        </p:nvSpPr>
        <p:spPr>
          <a:xfrm>
            <a:off x="1032933" y="4534958"/>
            <a:ext cx="10127192" cy="931340"/>
          </a:xfrm>
        </p:spPr>
        <p:txBody>
          <a:bodyPr vert="horz" lIns="91440" tIns="45720" rIns="91440" bIns="45720" rtlCol="0" anchor="b">
            <a:normAutofit fontScale="90000"/>
          </a:bodyPr>
          <a:lstStyle/>
          <a:p>
            <a:pPr algn="r"/>
            <a:r>
              <a:rPr lang="en-US" dirty="0"/>
              <a:t>However, the </a:t>
            </a:r>
            <a:r>
              <a:rPr lang="en-US" b="1" dirty="0">
                <a:highlight>
                  <a:srgbClr val="FF00FF"/>
                </a:highlight>
              </a:rPr>
              <a:t>proportion of hurricanes</a:t>
            </a:r>
            <a:r>
              <a:rPr lang="en-US" b="1" dirty="0"/>
              <a:t> </a:t>
            </a:r>
            <a:r>
              <a:rPr lang="en-US" dirty="0"/>
              <a:t>and </a:t>
            </a:r>
            <a:r>
              <a:rPr lang="en-US" b="1" dirty="0">
                <a:highlight>
                  <a:srgbClr val="0000FF"/>
                </a:highlight>
              </a:rPr>
              <a:t>storm speed</a:t>
            </a:r>
            <a:r>
              <a:rPr lang="en-US" dirty="0"/>
              <a:t> have stayed relatively </a:t>
            </a:r>
            <a:r>
              <a:rPr lang="en-US" b="1" u="sng" dirty="0"/>
              <a:t>the same</a:t>
            </a:r>
          </a:p>
        </p:txBody>
      </p:sp>
      <p:pic>
        <p:nvPicPr>
          <p:cNvPr id="4098" name="Picture 2">
            <a:extLst>
              <a:ext uri="{FF2B5EF4-FFF2-40B4-BE49-F238E27FC236}">
                <a16:creationId xmlns:a16="http://schemas.microsoft.com/office/drawing/2014/main" id="{41E71F23-85B7-48E1-A2AB-C74546ACA669}"/>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922867" y="698803"/>
            <a:ext cx="5084232" cy="3631593"/>
          </a:xfrm>
          <a:prstGeom prst="roundRect">
            <a:avLst>
              <a:gd name="adj" fmla="val 43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9F1140D7-907B-C23B-90CE-39B7E3188B4B}"/>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6184900" y="700315"/>
            <a:ext cx="5079999" cy="3628570"/>
          </a:xfrm>
          <a:prstGeom prst="roundRect">
            <a:avLst>
              <a:gd name="adj" fmla="val 43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0081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DA937425-9C6C-1064-0B5C-132E5E754D27}"/>
            </a:ext>
          </a:extLst>
        </p:cNvPr>
        <p:cNvGrpSpPr/>
        <p:nvPr/>
      </p:nvGrpSpPr>
      <p:grpSpPr>
        <a:xfrm>
          <a:off x="0" y="0"/>
          <a:ext cx="0" cy="0"/>
          <a:chOff x="0" y="0"/>
          <a:chExt cx="0" cy="0"/>
        </a:xfrm>
      </p:grpSpPr>
      <p:pic>
        <p:nvPicPr>
          <p:cNvPr id="5127" name="Picture 5126">
            <a:extLst>
              <a:ext uri="{FF2B5EF4-FFF2-40B4-BE49-F238E27FC236}">
                <a16:creationId xmlns:a16="http://schemas.microsoft.com/office/drawing/2014/main" id="{6AF6706C-CF07-43A1-BCC4-CBA5D33820D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a:extLst>
              <a:ext uri="{FF2B5EF4-FFF2-40B4-BE49-F238E27FC236}">
                <a16:creationId xmlns:a16="http://schemas.microsoft.com/office/drawing/2014/main" id="{F790BEF2-1C48-8BAE-5BB4-37A89973CBEC}"/>
              </a:ext>
            </a:extLst>
          </p:cNvPr>
          <p:cNvSpPr>
            <a:spLocks noGrp="1"/>
          </p:cNvSpPr>
          <p:nvPr>
            <p:ph type="title"/>
          </p:nvPr>
        </p:nvSpPr>
        <p:spPr>
          <a:xfrm>
            <a:off x="8180983" y="639096"/>
            <a:ext cx="3352256" cy="4399831"/>
          </a:xfrm>
        </p:spPr>
        <p:txBody>
          <a:bodyPr vert="horz" lIns="91440" tIns="45720" rIns="91440" bIns="45720" rtlCol="0" anchor="b">
            <a:noAutofit/>
          </a:bodyPr>
          <a:lstStyle/>
          <a:p>
            <a:pPr algn="r"/>
            <a:r>
              <a:rPr lang="en-US" dirty="0"/>
              <a:t>Switching our attention over to </a:t>
            </a:r>
            <a:r>
              <a:rPr lang="en-US" b="1" dirty="0">
                <a:highlight>
                  <a:srgbClr val="FF0000"/>
                </a:highlight>
              </a:rPr>
              <a:t>global temps</a:t>
            </a:r>
            <a:r>
              <a:rPr lang="en-US" dirty="0"/>
              <a:t>, we see that there has been a </a:t>
            </a:r>
            <a:r>
              <a:rPr lang="en-US" b="1" dirty="0">
                <a:highlight>
                  <a:srgbClr val="FF0000"/>
                </a:highlight>
              </a:rPr>
              <a:t>gradual increase</a:t>
            </a:r>
          </a:p>
        </p:txBody>
      </p:sp>
      <p:pic>
        <p:nvPicPr>
          <p:cNvPr id="5122" name="Picture 2">
            <a:extLst>
              <a:ext uri="{FF2B5EF4-FFF2-40B4-BE49-F238E27FC236}">
                <a16:creationId xmlns:a16="http://schemas.microsoft.com/office/drawing/2014/main" id="{296B862E-B9A0-EFD7-C1E2-EAB353AE7C2C}"/>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29810" y="959543"/>
            <a:ext cx="6921364" cy="4943830"/>
          </a:xfrm>
          <a:prstGeom prst="roundRect">
            <a:avLst>
              <a:gd name="adj" fmla="val 43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9040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B9C70446-A275-1A64-0D86-C204FFDAD346}"/>
            </a:ext>
          </a:extLst>
        </p:cNvPr>
        <p:cNvGrpSpPr/>
        <p:nvPr/>
      </p:nvGrpSpPr>
      <p:grpSpPr>
        <a:xfrm>
          <a:off x="0" y="0"/>
          <a:ext cx="0" cy="0"/>
          <a:chOff x="0" y="0"/>
          <a:chExt cx="0" cy="0"/>
        </a:xfrm>
      </p:grpSpPr>
      <p:pic>
        <p:nvPicPr>
          <p:cNvPr id="6151" name="Picture 6150">
            <a:extLst>
              <a:ext uri="{FF2B5EF4-FFF2-40B4-BE49-F238E27FC236}">
                <a16:creationId xmlns:a16="http://schemas.microsoft.com/office/drawing/2014/main" id="{6AF6706C-CF07-43A1-BCC4-CBA5D33820D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a:extLst>
              <a:ext uri="{FF2B5EF4-FFF2-40B4-BE49-F238E27FC236}">
                <a16:creationId xmlns:a16="http://schemas.microsoft.com/office/drawing/2014/main" id="{8CE51B03-9656-590E-EB41-244AF4E37CF2}"/>
              </a:ext>
            </a:extLst>
          </p:cNvPr>
          <p:cNvSpPr>
            <a:spLocks noGrp="1"/>
          </p:cNvSpPr>
          <p:nvPr>
            <p:ph type="title"/>
          </p:nvPr>
        </p:nvSpPr>
        <p:spPr>
          <a:xfrm>
            <a:off x="8180983" y="639097"/>
            <a:ext cx="3352256" cy="4409558"/>
          </a:xfrm>
        </p:spPr>
        <p:txBody>
          <a:bodyPr vert="horz" lIns="91440" tIns="45720" rIns="91440" bIns="45720" rtlCol="0" anchor="b">
            <a:normAutofit fontScale="90000"/>
          </a:bodyPr>
          <a:lstStyle/>
          <a:p>
            <a:pPr algn="r"/>
            <a:r>
              <a:rPr lang="en-US" dirty="0"/>
              <a:t>The plot to the left shows a slight but definite </a:t>
            </a:r>
            <a:r>
              <a:rPr lang="en-US" b="1" dirty="0">
                <a:highlight>
                  <a:srgbClr val="0000FF"/>
                </a:highlight>
              </a:rPr>
              <a:t>correlation between global temps and number of storms</a:t>
            </a:r>
          </a:p>
        </p:txBody>
      </p:sp>
      <p:pic>
        <p:nvPicPr>
          <p:cNvPr id="6146" name="Picture 2">
            <a:extLst>
              <a:ext uri="{FF2B5EF4-FFF2-40B4-BE49-F238E27FC236}">
                <a16:creationId xmlns:a16="http://schemas.microsoft.com/office/drawing/2014/main" id="{70D08407-388F-1D93-E2A5-C32128895B2A}"/>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29810" y="959543"/>
            <a:ext cx="6921364" cy="4943830"/>
          </a:xfrm>
          <a:prstGeom prst="roundRect">
            <a:avLst>
              <a:gd name="adj" fmla="val 43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2450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813C4CD7-200D-50F0-E52C-9379890328B7}"/>
            </a:ext>
          </a:extLst>
        </p:cNvPr>
        <p:cNvGrpSpPr/>
        <p:nvPr/>
      </p:nvGrpSpPr>
      <p:grpSpPr>
        <a:xfrm>
          <a:off x="0" y="0"/>
          <a:ext cx="0" cy="0"/>
          <a:chOff x="0" y="0"/>
          <a:chExt cx="0" cy="0"/>
        </a:xfrm>
      </p:grpSpPr>
      <p:pic>
        <p:nvPicPr>
          <p:cNvPr id="7177" name="Picture 7176">
            <a:extLst>
              <a:ext uri="{FF2B5EF4-FFF2-40B4-BE49-F238E27FC236}">
                <a16:creationId xmlns:a16="http://schemas.microsoft.com/office/drawing/2014/main" id="{83543A10-04EE-49E0-A9DE-22E1FAB9AED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a:extLst>
              <a:ext uri="{FF2B5EF4-FFF2-40B4-BE49-F238E27FC236}">
                <a16:creationId xmlns:a16="http://schemas.microsoft.com/office/drawing/2014/main" id="{745907B7-894E-1E38-E2B9-5DC5F7B2EDE3}"/>
              </a:ext>
            </a:extLst>
          </p:cNvPr>
          <p:cNvSpPr>
            <a:spLocks noGrp="1"/>
          </p:cNvSpPr>
          <p:nvPr>
            <p:ph type="title"/>
          </p:nvPr>
        </p:nvSpPr>
        <p:spPr>
          <a:xfrm>
            <a:off x="1032933" y="4534958"/>
            <a:ext cx="10127192" cy="931340"/>
          </a:xfrm>
        </p:spPr>
        <p:txBody>
          <a:bodyPr vert="horz" lIns="91440" tIns="45720" rIns="91440" bIns="45720" rtlCol="0" anchor="b">
            <a:normAutofit fontScale="90000"/>
          </a:bodyPr>
          <a:lstStyle/>
          <a:p>
            <a:pPr algn="r"/>
            <a:r>
              <a:rPr lang="en-US" dirty="0"/>
              <a:t>the </a:t>
            </a:r>
            <a:r>
              <a:rPr lang="en-US" b="1" u="sng" dirty="0"/>
              <a:t>correlation is not as strong</a:t>
            </a:r>
            <a:r>
              <a:rPr lang="en-US" dirty="0"/>
              <a:t> when compared to </a:t>
            </a:r>
            <a:r>
              <a:rPr lang="en-US" b="1" dirty="0">
                <a:highlight>
                  <a:srgbClr val="FF00FF"/>
                </a:highlight>
              </a:rPr>
              <a:t>hurricane proportion</a:t>
            </a:r>
            <a:r>
              <a:rPr lang="en-US" b="1" dirty="0"/>
              <a:t> </a:t>
            </a:r>
            <a:r>
              <a:rPr lang="en-US" dirty="0"/>
              <a:t>and </a:t>
            </a:r>
            <a:r>
              <a:rPr lang="en-US" b="1" dirty="0">
                <a:highlight>
                  <a:srgbClr val="0000FF"/>
                </a:highlight>
              </a:rPr>
              <a:t>storm speed</a:t>
            </a:r>
          </a:p>
        </p:txBody>
      </p:sp>
      <p:pic>
        <p:nvPicPr>
          <p:cNvPr id="7170" name="Picture 2">
            <a:extLst>
              <a:ext uri="{FF2B5EF4-FFF2-40B4-BE49-F238E27FC236}">
                <a16:creationId xmlns:a16="http://schemas.microsoft.com/office/drawing/2014/main" id="{99E2D173-412D-EC5B-474F-BAA1489070D2}"/>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922867" y="698803"/>
            <a:ext cx="5084232" cy="3631593"/>
          </a:xfrm>
          <a:prstGeom prst="roundRect">
            <a:avLst>
              <a:gd name="adj" fmla="val 43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31839DF9-AAE0-B14F-4CCF-BF5E0ADB99DB}"/>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6184900" y="700315"/>
            <a:ext cx="5079999" cy="3628570"/>
          </a:xfrm>
          <a:prstGeom prst="roundRect">
            <a:avLst>
              <a:gd name="adj" fmla="val 4380"/>
            </a:avLst>
          </a:prstGeom>
          <a:no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9682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72B19-8731-3A9A-5E5D-31B5303D25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3C924-BE34-AD3A-2A82-75DAC9F75E6B}"/>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CC6440E8-7293-8574-13D2-6B7C179C5398}"/>
              </a:ext>
            </a:extLst>
          </p:cNvPr>
          <p:cNvSpPr>
            <a:spLocks noGrp="1"/>
          </p:cNvSpPr>
          <p:nvPr>
            <p:ph idx="1"/>
          </p:nvPr>
        </p:nvSpPr>
        <p:spPr/>
        <p:txBody>
          <a:bodyPr anchor="t" anchorCtr="0">
            <a:noAutofit/>
          </a:bodyPr>
          <a:lstStyle/>
          <a:p>
            <a:r>
              <a:rPr lang="en-US" sz="2400" dirty="0"/>
              <a:t>As seen in the previous bar charts, there is definitely a rise in seasonal storms and hurricanes</a:t>
            </a:r>
          </a:p>
          <a:p>
            <a:r>
              <a:rPr lang="en-US" sz="2400" dirty="0"/>
              <a:t>However, the proportion of hurricanes compared to overall storms and storm speed have stayed relatively the same</a:t>
            </a:r>
          </a:p>
          <a:p>
            <a:r>
              <a:rPr lang="en-US" sz="2400" dirty="0"/>
              <a:t>When looking into global temps we saw an obvious rise, accompanied by a visible correlation between it and number of storms</a:t>
            </a:r>
          </a:p>
          <a:p>
            <a:r>
              <a:rPr lang="en-US" sz="2400" dirty="0"/>
              <a:t>However, this correlation did not exist between temps and hurricane proportion nor storm speed</a:t>
            </a:r>
          </a:p>
        </p:txBody>
      </p:sp>
    </p:spTree>
    <p:extLst>
      <p:ext uri="{BB962C8B-B14F-4D97-AF65-F5344CB8AC3E}">
        <p14:creationId xmlns:p14="http://schemas.microsoft.com/office/powerpoint/2010/main" val="809286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DB721-BB78-E7C3-CD1D-E699541708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ABA766-99F8-2198-348A-8BC856E42C6B}"/>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094625D7-34CB-55AD-B830-FBECA2A56633}"/>
              </a:ext>
            </a:extLst>
          </p:cNvPr>
          <p:cNvSpPr>
            <a:spLocks noGrp="1"/>
          </p:cNvSpPr>
          <p:nvPr>
            <p:ph idx="1"/>
          </p:nvPr>
        </p:nvSpPr>
        <p:spPr/>
        <p:txBody>
          <a:bodyPr anchor="t" anchorCtr="0">
            <a:noAutofit/>
          </a:bodyPr>
          <a:lstStyle/>
          <a:p>
            <a:r>
              <a:rPr lang="en-US" sz="2400" dirty="0"/>
              <a:t>These findings indicate that </a:t>
            </a:r>
            <a:r>
              <a:rPr lang="en-US" sz="2400" b="1" u="sng" dirty="0"/>
              <a:t>rising temps have led to an increase in number of storms</a:t>
            </a:r>
            <a:r>
              <a:rPr lang="en-US" sz="2400" dirty="0"/>
              <a:t> and, although not an increase in hurricane proportion or speeds, inadvertently </a:t>
            </a:r>
            <a:r>
              <a:rPr lang="en-US" sz="2400" b="1" u="sng" dirty="0"/>
              <a:t>opened a way for more hurricanes to form in the long run</a:t>
            </a:r>
          </a:p>
        </p:txBody>
      </p:sp>
    </p:spTree>
    <p:extLst>
      <p:ext uri="{BB962C8B-B14F-4D97-AF65-F5344CB8AC3E}">
        <p14:creationId xmlns:p14="http://schemas.microsoft.com/office/powerpoint/2010/main" val="3465660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D15AB-1C13-BF35-D6F0-892C32C47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1C3846-B0E4-8E7D-DC77-5DC235F2AD06}"/>
              </a:ext>
            </a:extLst>
          </p:cNvPr>
          <p:cNvSpPr>
            <a:spLocks noGrp="1"/>
          </p:cNvSpPr>
          <p:nvPr>
            <p:ph type="title"/>
          </p:nvPr>
        </p:nvSpPr>
        <p:spPr/>
        <p:txBody>
          <a:bodyPr/>
          <a:lstStyle/>
          <a:p>
            <a:r>
              <a:rPr lang="en-US" dirty="0"/>
              <a:t>Sources</a:t>
            </a:r>
          </a:p>
        </p:txBody>
      </p:sp>
      <p:sp>
        <p:nvSpPr>
          <p:cNvPr id="3" name="Content Placeholder 2">
            <a:extLst>
              <a:ext uri="{FF2B5EF4-FFF2-40B4-BE49-F238E27FC236}">
                <a16:creationId xmlns:a16="http://schemas.microsoft.com/office/drawing/2014/main" id="{4191D2AB-8CCA-33FC-C3B0-EE2BB4E2A499}"/>
              </a:ext>
            </a:extLst>
          </p:cNvPr>
          <p:cNvSpPr>
            <a:spLocks noGrp="1"/>
          </p:cNvSpPr>
          <p:nvPr>
            <p:ph idx="1"/>
          </p:nvPr>
        </p:nvSpPr>
        <p:spPr/>
        <p:txBody>
          <a:bodyPr anchor="t" anchorCtr="0">
            <a:normAutofit/>
          </a:bodyPr>
          <a:lstStyle/>
          <a:p>
            <a:pPr marL="0" indent="0">
              <a:buNone/>
            </a:pPr>
            <a:r>
              <a:rPr lang="en-US" sz="2400" dirty="0"/>
              <a:t>Storm Data:</a:t>
            </a:r>
          </a:p>
          <a:p>
            <a:pPr marL="0" indent="0">
              <a:buNone/>
            </a:pPr>
            <a:r>
              <a:rPr lang="en-US" sz="2400" dirty="0"/>
              <a:t>https://www.nhc.noaa.gov/data/#hurdat</a:t>
            </a:r>
          </a:p>
          <a:p>
            <a:pPr marL="0" indent="0">
              <a:buNone/>
            </a:pPr>
            <a:r>
              <a:rPr lang="en-US" sz="2400" dirty="0"/>
              <a:t>Climate Data:</a:t>
            </a:r>
          </a:p>
          <a:p>
            <a:pPr marL="0" indent="0">
              <a:buNone/>
            </a:pPr>
            <a:r>
              <a:rPr lang="en-US" sz="2400" dirty="0"/>
              <a:t>https://science.nasa.gov/earth/explore/earth-indicators/global-temperature/</a:t>
            </a:r>
          </a:p>
        </p:txBody>
      </p:sp>
    </p:spTree>
    <p:extLst>
      <p:ext uri="{BB962C8B-B14F-4D97-AF65-F5344CB8AC3E}">
        <p14:creationId xmlns:p14="http://schemas.microsoft.com/office/powerpoint/2010/main" val="4065928380"/>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otalTime>57</TotalTime>
  <Words>398</Words>
  <Application>Microsoft Office PowerPoint</Application>
  <PresentationFormat>Widescreen</PresentationFormat>
  <Paragraphs>29</Paragraphs>
  <Slides>12</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Calibri</vt:lpstr>
      <vt:lpstr>Calibri Light</vt:lpstr>
      <vt:lpstr>Office Theme</vt:lpstr>
      <vt:lpstr>Celestial</vt:lpstr>
      <vt:lpstr>DATA608 Assignment 5</vt:lpstr>
      <vt:lpstr>Prompt</vt:lpstr>
      <vt:lpstr>Prelude</vt:lpstr>
      <vt:lpstr>From the year 1950 to the present, storm activity has been steadily on the rise</vt:lpstr>
      <vt:lpstr>there has also been a rise in the number of hurricanes per storm season</vt:lpstr>
      <vt:lpstr>However, the proportion of hurricanes and storm speed have stayed relatively the same</vt:lpstr>
      <vt:lpstr>Switching our attention over to global temps, we see that there has been a gradual increase</vt:lpstr>
      <vt:lpstr>The plot to the left shows a slight but definite correlation between global temps and number of storms</vt:lpstr>
      <vt:lpstr>the correlation is not as strong when compared to hurricane proportion and storm speed</vt:lpstr>
      <vt:lpstr>Conclusion</vt:lpstr>
      <vt:lpstr>Conclusion</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Steven Gonzalez</dc:creator>
  <cp:lastModifiedBy>Steven Gonzalez</cp:lastModifiedBy>
  <cp:revision>2</cp:revision>
  <dcterms:created xsi:type="dcterms:W3CDTF">2026-05-27T00:47:07Z</dcterms:created>
  <dcterms:modified xsi:type="dcterms:W3CDTF">2026-05-27T01:44:29Z</dcterms:modified>
</cp:coreProperties>
</file>