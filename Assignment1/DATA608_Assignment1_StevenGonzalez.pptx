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CD5CC1FF-2FFC-422E-A57A-A8187F606CA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1669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spTree>
    <p:extLst>
      <p:ext uri="{BB962C8B-B14F-4D97-AF65-F5344CB8AC3E}">
        <p14:creationId xmlns:p14="http://schemas.microsoft.com/office/powerpoint/2010/main" val="1301437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5299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7E37B-12D2-4EB1-B444-827A36F28CBB}"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5CC1FF-2FFC-422E-A57A-A8187F606CAF}" type="slidenum">
              <a:rPr lang="en-US" smtClean="0"/>
              <a:t>‹#›</a:t>
            </a:fld>
            <a:endParaRPr lang="en-US"/>
          </a:p>
        </p:txBody>
      </p:sp>
    </p:spTree>
    <p:extLst>
      <p:ext uri="{BB962C8B-B14F-4D97-AF65-F5344CB8AC3E}">
        <p14:creationId xmlns:p14="http://schemas.microsoft.com/office/powerpoint/2010/main" val="3046560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07E37B-12D2-4EB1-B444-827A36F28CBB}" type="datetimeFigureOut">
              <a:rPr lang="en-US" smtClean="0"/>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5CC1FF-2FFC-422E-A57A-A8187F606CA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8457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07E37B-12D2-4EB1-B444-827A36F28CBB}" type="datetimeFigureOut">
              <a:rPr lang="en-US" smtClean="0"/>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5CC1FF-2FFC-422E-A57A-A8187F606CA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6044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07E37B-12D2-4EB1-B444-827A36F28CBB}" type="datetimeFigureOut">
              <a:rPr lang="en-US" smtClean="0"/>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5CC1FF-2FFC-422E-A57A-A8187F606CAF}" type="slidenum">
              <a:rPr lang="en-US" smtClean="0"/>
              <a:t>‹#›</a:t>
            </a:fld>
            <a:endParaRPr lang="en-US"/>
          </a:p>
        </p:txBody>
      </p:sp>
    </p:spTree>
    <p:extLst>
      <p:ext uri="{BB962C8B-B14F-4D97-AF65-F5344CB8AC3E}">
        <p14:creationId xmlns:p14="http://schemas.microsoft.com/office/powerpoint/2010/main" val="3879127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07E37B-12D2-4EB1-B444-827A36F28CBB}"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5CC1FF-2FFC-422E-A57A-A8187F606CA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5061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07E37B-12D2-4EB1-B444-827A36F28CBB}"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5CC1FF-2FFC-422E-A57A-A8187F606CAF}" type="slidenum">
              <a:rPr lang="en-US" smtClean="0"/>
              <a:t>‹#›</a:t>
            </a:fld>
            <a:endParaRPr lang="en-US"/>
          </a:p>
        </p:txBody>
      </p:sp>
    </p:spTree>
    <p:extLst>
      <p:ext uri="{BB962C8B-B14F-4D97-AF65-F5344CB8AC3E}">
        <p14:creationId xmlns:p14="http://schemas.microsoft.com/office/powerpoint/2010/main" val="3947450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07E37B-12D2-4EB1-B444-827A36F28CBB}"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5CC1FF-2FFC-422E-A57A-A8187F606CAF}" type="slidenum">
              <a:rPr lang="en-US" smtClean="0"/>
              <a:t>‹#›</a:t>
            </a:fld>
            <a:endParaRPr lang="en-US"/>
          </a:p>
        </p:txBody>
      </p:sp>
    </p:spTree>
    <p:extLst>
      <p:ext uri="{BB962C8B-B14F-4D97-AF65-F5344CB8AC3E}">
        <p14:creationId xmlns:p14="http://schemas.microsoft.com/office/powerpoint/2010/main" val="527697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8058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887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spTree>
    <p:extLst>
      <p:ext uri="{BB962C8B-B14F-4D97-AF65-F5344CB8AC3E}">
        <p14:creationId xmlns:p14="http://schemas.microsoft.com/office/powerpoint/2010/main" val="5007690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87046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108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4538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07E37B-12D2-4EB1-B444-827A36F28CBB}"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5CC1FF-2FFC-422E-A57A-A8187F606CA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0019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A07E37B-12D2-4EB1-B444-827A36F28CBB}" type="datetimeFigureOut">
              <a:rPr lang="en-US" smtClean="0"/>
              <a:t>5/17/2026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5CC1FF-2FFC-422E-A57A-A8187F606CAF}" type="slidenum">
              <a:rPr lang="en-US" smtClean="0"/>
              <a:t>‹#›</a:t>
            </a:fld>
            <a:endParaRPr lang="en-US"/>
          </a:p>
        </p:txBody>
      </p:sp>
    </p:spTree>
    <p:extLst>
      <p:ext uri="{BB962C8B-B14F-4D97-AF65-F5344CB8AC3E}">
        <p14:creationId xmlns:p14="http://schemas.microsoft.com/office/powerpoint/2010/main" val="1858091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raw.githubusercontent.com/Stevee-G/Data608/refs/heads/main/Assignment1/IIJA%20FUNDING%20AS%20OF%20MARCH%202023.csv"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E9D63-10E6-5334-C965-000AEBAA0FD1}"/>
              </a:ext>
            </a:extLst>
          </p:cNvPr>
          <p:cNvSpPr>
            <a:spLocks noGrp="1"/>
          </p:cNvSpPr>
          <p:nvPr>
            <p:ph type="ctrTitle"/>
          </p:nvPr>
        </p:nvSpPr>
        <p:spPr/>
        <p:txBody>
          <a:bodyPr/>
          <a:lstStyle/>
          <a:p>
            <a:r>
              <a:rPr lang="en-US" dirty="0"/>
              <a:t>DATA608 Assignment 1</a:t>
            </a:r>
          </a:p>
        </p:txBody>
      </p:sp>
      <p:sp>
        <p:nvSpPr>
          <p:cNvPr id="3" name="Subtitle 2">
            <a:extLst>
              <a:ext uri="{FF2B5EF4-FFF2-40B4-BE49-F238E27FC236}">
                <a16:creationId xmlns:a16="http://schemas.microsoft.com/office/drawing/2014/main" id="{8F7279EA-C5F0-ECCC-8195-1159C5DDEDF8}"/>
              </a:ext>
            </a:extLst>
          </p:cNvPr>
          <p:cNvSpPr>
            <a:spLocks noGrp="1"/>
          </p:cNvSpPr>
          <p:nvPr>
            <p:ph type="subTitle" idx="1"/>
          </p:nvPr>
        </p:nvSpPr>
        <p:spPr/>
        <p:txBody>
          <a:bodyPr/>
          <a:lstStyle/>
          <a:p>
            <a:r>
              <a:rPr lang="en-US" dirty="0"/>
              <a:t>Steven Gonzalez</a:t>
            </a:r>
          </a:p>
        </p:txBody>
      </p:sp>
    </p:spTree>
    <p:extLst>
      <p:ext uri="{BB962C8B-B14F-4D97-AF65-F5344CB8AC3E}">
        <p14:creationId xmlns:p14="http://schemas.microsoft.com/office/powerpoint/2010/main" val="346848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47BFA-A957-AEF0-58CD-8E1614CE02FD}"/>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DC35DA25-BAA4-FEAA-0E98-7C87BDD7E0E9}"/>
              </a:ext>
            </a:extLst>
          </p:cNvPr>
          <p:cNvSpPr>
            <a:spLocks noGrp="1"/>
          </p:cNvSpPr>
          <p:nvPr>
            <p:ph idx="1"/>
          </p:nvPr>
        </p:nvSpPr>
        <p:spPr/>
        <p:txBody>
          <a:bodyPr/>
          <a:lstStyle/>
          <a:p>
            <a:pPr marL="0" indent="0">
              <a:buNone/>
            </a:pPr>
            <a:r>
              <a:rPr lang="en-US" dirty="0"/>
              <a:t>The attached </a:t>
            </a:r>
            <a:r>
              <a:rPr lang="en-US" dirty="0">
                <a:hlinkClick r:id="rId2"/>
              </a:rPr>
              <a:t>Excel file</a:t>
            </a:r>
            <a:r>
              <a:rPr lang="en-US" dirty="0"/>
              <a:t> contains data on the present allocation of the Infrastructure Investment and Jobs Act funding by State and Territory.</a:t>
            </a:r>
          </a:p>
          <a:p>
            <a:pPr marL="0" indent="0">
              <a:buNone/>
            </a:pPr>
            <a:r>
              <a:rPr lang="en-US" dirty="0"/>
              <a:t>Your story (Data Visualization(s)) should address the following questions:</a:t>
            </a:r>
          </a:p>
          <a:p>
            <a:r>
              <a:rPr lang="en-US" dirty="0"/>
              <a:t>Is the allocation equitable based on the population of each of the States and Territories, or is bias apparent?</a:t>
            </a:r>
          </a:p>
          <a:p>
            <a:r>
              <a:rPr lang="en-US" dirty="0"/>
              <a:t>Does the allocation favor the political interests of the Biden administration?</a:t>
            </a:r>
          </a:p>
        </p:txBody>
      </p:sp>
    </p:spTree>
    <p:extLst>
      <p:ext uri="{BB962C8B-B14F-4D97-AF65-F5344CB8AC3E}">
        <p14:creationId xmlns:p14="http://schemas.microsoft.com/office/powerpoint/2010/main" val="4107963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95336-1F74-5927-7CD7-AC08E3AFD2CA}"/>
              </a:ext>
            </a:extLst>
          </p:cNvPr>
          <p:cNvSpPr>
            <a:spLocks noGrp="1"/>
          </p:cNvSpPr>
          <p:nvPr>
            <p:ph idx="4294967295"/>
          </p:nvPr>
        </p:nvSpPr>
        <p:spPr>
          <a:xfrm>
            <a:off x="1295403" y="983193"/>
            <a:ext cx="3419475" cy="4892675"/>
          </a:xfrm>
        </p:spPr>
        <p:txBody>
          <a:bodyPr>
            <a:normAutofit/>
          </a:bodyPr>
          <a:lstStyle/>
          <a:p>
            <a:pPr marL="0" indent="0">
              <a:buNone/>
            </a:pPr>
            <a:r>
              <a:rPr lang="en-US" dirty="0"/>
              <a:t>An equitable distribution of IIJA funds based solely on population size would produce a scatter plot with a strong positive correlation between the two variables. The plot to the right shows that there is a weak negative correlation, indicating funding based on more than just population size.</a:t>
            </a:r>
          </a:p>
        </p:txBody>
      </p:sp>
      <p:pic>
        <p:nvPicPr>
          <p:cNvPr id="1026" name="Picture 2">
            <a:extLst>
              <a:ext uri="{FF2B5EF4-FFF2-40B4-BE49-F238E27FC236}">
                <a16:creationId xmlns:a16="http://schemas.microsoft.com/office/drawing/2014/main" id="{D23825CA-D741-321A-35C4-266DDD59B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581" y="982132"/>
            <a:ext cx="6182016" cy="4893736"/>
          </a:xfrm>
          <a:prstGeom prst="rect">
            <a:avLst/>
          </a:prstGeom>
          <a:ln w="19050">
            <a:solidFill>
              <a:schemeClr val="accent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936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662EC89-6F63-1362-6754-0C1DA34C2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582" y="982132"/>
            <a:ext cx="6182017" cy="4893736"/>
          </a:xfrm>
          <a:prstGeom prst="rect">
            <a:avLst/>
          </a:prstGeom>
          <a:ln w="19050">
            <a:solidFill>
              <a:schemeClr val="accent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02DA843B-E2B1-9F1A-CE30-3C362ADC62F9}"/>
              </a:ext>
            </a:extLst>
          </p:cNvPr>
          <p:cNvSpPr txBox="1">
            <a:spLocks/>
          </p:cNvSpPr>
          <p:nvPr/>
        </p:nvSpPr>
        <p:spPr>
          <a:xfrm>
            <a:off x="1295403" y="983193"/>
            <a:ext cx="3419475" cy="4892675"/>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dirty="0"/>
              <a:t>IIJA funding allocation in favor of the political interests of the Biden administration would lead to a boxplot with a higher median and overall distribution for states that leaned democrat for the 2020 election. As can be seen, this is not the case and the states that voted for Biden have a lower median and distribution.</a:t>
            </a:r>
          </a:p>
        </p:txBody>
      </p:sp>
    </p:spTree>
    <p:extLst>
      <p:ext uri="{BB962C8B-B14F-4D97-AF65-F5344CB8AC3E}">
        <p14:creationId xmlns:p14="http://schemas.microsoft.com/office/powerpoint/2010/main" val="2454677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A543ABB3-C86A-B596-C94B-476ED3AA5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36" y="979993"/>
            <a:ext cx="4200727" cy="4898014"/>
          </a:xfrm>
          <a:prstGeom prst="rect">
            <a:avLst/>
          </a:prstGeom>
          <a:ln w="19050">
            <a:solidFill>
              <a:schemeClr val="accent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F72E2DA0-31F2-21C8-7B66-B73C6DB0B55A}"/>
              </a:ext>
            </a:extLst>
          </p:cNvPr>
          <p:cNvSpPr txBox="1">
            <a:spLocks/>
          </p:cNvSpPr>
          <p:nvPr/>
        </p:nvSpPr>
        <p:spPr>
          <a:xfrm>
            <a:off x="1295403" y="983193"/>
            <a:ext cx="3419475" cy="4892675"/>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Font typeface="Arial"/>
              <a:buNone/>
            </a:pPr>
            <a:r>
              <a:rPr lang="en-US" dirty="0"/>
              <a:t>To further emphasize the lack of favoritism in IIJA funding for democratically leaning states in the 2020 election, here we have a bar chart showing that the states with the highest funding per capita were majority republican leaning.</a:t>
            </a:r>
          </a:p>
        </p:txBody>
      </p:sp>
    </p:spTree>
    <p:extLst>
      <p:ext uri="{BB962C8B-B14F-4D97-AF65-F5344CB8AC3E}">
        <p14:creationId xmlns:p14="http://schemas.microsoft.com/office/powerpoint/2010/main" val="2850302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B6E0D-B0DB-2ADC-7FD9-5F90EE2C455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A8A9860-EC60-78D6-E136-A59A0D520FD0}"/>
              </a:ext>
            </a:extLst>
          </p:cNvPr>
          <p:cNvSpPr>
            <a:spLocks noGrp="1"/>
          </p:cNvSpPr>
          <p:nvPr>
            <p:ph idx="1"/>
          </p:nvPr>
        </p:nvSpPr>
        <p:spPr/>
        <p:txBody>
          <a:bodyPr>
            <a:normAutofit/>
          </a:bodyPr>
          <a:lstStyle/>
          <a:p>
            <a:pPr marL="0" indent="0">
              <a:buNone/>
            </a:pPr>
            <a:r>
              <a:rPr lang="en-US" dirty="0"/>
              <a:t>Based on the previous visualizations, the allocation of IIJA funds is not equitable based on the population of each state or territory. Therefore, bias and/or other unconsidered variables are apparent.</a:t>
            </a:r>
          </a:p>
          <a:p>
            <a:pPr marL="0" indent="0">
              <a:buNone/>
            </a:pPr>
            <a:r>
              <a:rPr lang="en-US" dirty="0"/>
              <a:t>Furthermore, as per the same visualizations, allocation of IIJA funds does not favor the political interests of the Biden administration.</a:t>
            </a:r>
          </a:p>
        </p:txBody>
      </p:sp>
    </p:spTree>
    <p:extLst>
      <p:ext uri="{BB962C8B-B14F-4D97-AF65-F5344CB8AC3E}">
        <p14:creationId xmlns:p14="http://schemas.microsoft.com/office/powerpoint/2010/main" val="58019930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80</TotalTime>
  <Words>285</Words>
  <Application>Microsoft Office PowerPoint</Application>
  <PresentationFormat>Widescreen</PresentationFormat>
  <Paragraphs>13</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Garamond</vt:lpstr>
      <vt:lpstr>Organic</vt:lpstr>
      <vt:lpstr>DATA608 Assignment 1</vt:lpstr>
      <vt:lpstr>Prompt</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Gonzalez</dc:creator>
  <cp:lastModifiedBy>Steven Gonzalez</cp:lastModifiedBy>
  <cp:revision>1</cp:revision>
  <dcterms:created xsi:type="dcterms:W3CDTF">2026-05-17T22:49:44Z</dcterms:created>
  <dcterms:modified xsi:type="dcterms:W3CDTF">2026-05-18T00:09:45Z</dcterms:modified>
</cp:coreProperties>
</file>