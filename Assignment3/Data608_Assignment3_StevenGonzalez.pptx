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 id="260"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6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7" d="100"/>
          <a:sy n="77" d="100"/>
        </p:scale>
        <p:origin x="883"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01FA21E-C793-4EE1-845F-E383F74CBEED}"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1712216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1FA21E-C793-4EE1-845F-E383F74CBEED}"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3879335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1FA21E-C793-4EE1-845F-E383F74CBEED}"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25102982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01FA21E-C793-4EE1-845F-E383F74CBEED}"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31816952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01FA21E-C793-4EE1-845F-E383F74CBEED}" type="datetimeFigureOut">
              <a:rPr lang="en-US" smtClean="0"/>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7513189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1FA21E-C793-4EE1-845F-E383F74CBEED}" type="datetimeFigureOut">
              <a:rPr lang="en-US" smtClean="0"/>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1113273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1FA21E-C793-4EE1-845F-E383F74CBEED}" type="datetimeFigureOut">
              <a:rPr lang="en-US" smtClean="0"/>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20792420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1FA21E-C793-4EE1-845F-E383F74CBEED}"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3881468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399212" y="5883275"/>
            <a:ext cx="914400" cy="365125"/>
          </a:xfrm>
        </p:spPr>
        <p:txBody>
          <a:bodyPr/>
          <a:lstStyle/>
          <a:p>
            <a:fld id="{001FA21E-C793-4EE1-845F-E383F74CBEED}" type="datetimeFigureOut">
              <a:rPr lang="en-US" smtClean="0"/>
              <a:t>5/25/2026</a:t>
            </a:fld>
            <a:endParaRPr lang="en-US"/>
          </a:p>
        </p:txBody>
      </p:sp>
      <p:sp>
        <p:nvSpPr>
          <p:cNvPr id="6" name="Footer Placeholder 5"/>
          <p:cNvSpPr>
            <a:spLocks noGrp="1"/>
          </p:cNvSpPr>
          <p:nvPr>
            <p:ph type="ftr" sz="quarter" idx="11"/>
          </p:nvPr>
        </p:nvSpPr>
        <p:spPr>
          <a:xfrm>
            <a:off x="1141412" y="5883275"/>
            <a:ext cx="5105400" cy="365125"/>
          </a:xfrm>
        </p:spPr>
        <p:txBody>
          <a:bodyPr/>
          <a:lstStyle/>
          <a:p>
            <a:endParaRPr lang="en-US"/>
          </a:p>
        </p:txBody>
      </p:sp>
      <p:sp>
        <p:nvSpPr>
          <p:cNvPr id="7" name="Slide Number Placeholder 6"/>
          <p:cNvSpPr>
            <a:spLocks noGrp="1"/>
          </p:cNvSpPr>
          <p:nvPr>
            <p:ph type="sldNum" sz="quarter" idx="12"/>
          </p:nvPr>
        </p:nvSpPr>
        <p:spPr>
          <a:xfrm>
            <a:off x="10742612" y="5883275"/>
            <a:ext cx="322567" cy="365125"/>
          </a:xfrm>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3341048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01FA21E-C793-4EE1-845F-E383F74CBEED}" type="datetimeFigureOut">
              <a:rPr lang="en-US" smtClean="0"/>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910564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1FA21E-C793-4EE1-845F-E383F74CBEED}"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25581706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001FA21E-C793-4EE1-845F-E383F74CBEED}"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2445495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Click to edit Master text styles</a:t>
            </a:r>
          </a:p>
        </p:txBody>
      </p:sp>
      <p:sp>
        <p:nvSpPr>
          <p:cNvPr id="4" name="Date Placeholder 3"/>
          <p:cNvSpPr>
            <a:spLocks noGrp="1"/>
          </p:cNvSpPr>
          <p:nvPr>
            <p:ph type="dt" sz="half" idx="10"/>
          </p:nvPr>
        </p:nvSpPr>
        <p:spPr/>
        <p:txBody>
          <a:bodyPr/>
          <a:lstStyle/>
          <a:p>
            <a:fld id="{001FA21E-C793-4EE1-845F-E383F74CBEED}"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27252862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1FA21E-C793-4EE1-845F-E383F74CBEED}"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40868195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01FA21E-C793-4EE1-845F-E383F74CBEED}"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3122728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1FA21E-C793-4EE1-845F-E383F74CBEED}"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23101259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01FA21E-C793-4EE1-845F-E383F74CBEED}" type="datetimeFigureOut">
              <a:rPr lang="en-US" smtClean="0"/>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90899FA-4943-41B9-ACCD-BEB2A704BBD7}" type="slidenum">
              <a:rPr lang="en-US" smtClean="0"/>
              <a:t>‹#›</a:t>
            </a:fld>
            <a:endParaRPr lang="en-US"/>
          </a:p>
        </p:txBody>
      </p:sp>
    </p:spTree>
    <p:extLst>
      <p:ext uri="{BB962C8B-B14F-4D97-AF65-F5344CB8AC3E}">
        <p14:creationId xmlns:p14="http://schemas.microsoft.com/office/powerpoint/2010/main" val="2908236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001FA21E-C793-4EE1-845F-E383F74CBEED}" type="datetimeFigureOut">
              <a:rPr lang="en-US" smtClean="0"/>
              <a:t>5/25/2026</a:t>
            </a:fld>
            <a:endParaRPr lang="en-US"/>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290899FA-4943-41B9-ACCD-BEB2A704BBD7}" type="slidenum">
              <a:rPr lang="en-US" smtClean="0"/>
              <a:t>‹#›</a:t>
            </a:fld>
            <a:endParaRPr lang="en-US"/>
          </a:p>
        </p:txBody>
      </p:sp>
    </p:spTree>
    <p:extLst>
      <p:ext uri="{BB962C8B-B14F-4D97-AF65-F5344CB8AC3E}">
        <p14:creationId xmlns:p14="http://schemas.microsoft.com/office/powerpoint/2010/main" val="112159322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F951A88-B52B-820F-6068-0C2AF55FED88}"/>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t="7900" b="7900"/>
          <a:stretch>
            <a:fillRect/>
          </a:stretch>
        </p:blipFill>
        <p:spPr bwMode="auto">
          <a:xfrm>
            <a:off x="-27673" y="0"/>
            <a:ext cx="12247346" cy="6858000"/>
          </a:xfrm>
          <a:prstGeom prst="rect">
            <a:avLst/>
          </a:prstGeom>
          <a:noFill/>
          <a:effectLst/>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0D384AD-15BB-1383-3A85-BE5B80365875}"/>
              </a:ext>
            </a:extLst>
          </p:cNvPr>
          <p:cNvSpPr>
            <a:spLocks noGrp="1"/>
          </p:cNvSpPr>
          <p:nvPr>
            <p:ph type="ctrTitle"/>
          </p:nvPr>
        </p:nvSpPr>
        <p:spPr/>
        <p:txBody>
          <a:bodyPr/>
          <a:lstStyle/>
          <a:p>
            <a:r>
              <a:rPr lang="en-US" dirty="0">
                <a:solidFill>
                  <a:schemeClr val="tx1"/>
                </a:solidFill>
              </a:rPr>
              <a:t>DATA608 Assignment 3</a:t>
            </a:r>
          </a:p>
        </p:txBody>
      </p:sp>
      <p:sp>
        <p:nvSpPr>
          <p:cNvPr id="3" name="Subtitle 2">
            <a:extLst>
              <a:ext uri="{FF2B5EF4-FFF2-40B4-BE49-F238E27FC236}">
                <a16:creationId xmlns:a16="http://schemas.microsoft.com/office/drawing/2014/main" id="{1FF983B9-644C-0C86-C85F-78B1F7CD11D6}"/>
              </a:ext>
            </a:extLst>
          </p:cNvPr>
          <p:cNvSpPr>
            <a:spLocks noGrp="1"/>
          </p:cNvSpPr>
          <p:nvPr>
            <p:ph type="subTitle" idx="1"/>
          </p:nvPr>
        </p:nvSpPr>
        <p:spPr/>
        <p:txBody>
          <a:bodyPr/>
          <a:lstStyle/>
          <a:p>
            <a:r>
              <a:rPr lang="en-US" dirty="0">
                <a:solidFill>
                  <a:schemeClr val="tx1"/>
                </a:solidFill>
              </a:rPr>
              <a:t>Steven Gonzalez</a:t>
            </a:r>
          </a:p>
        </p:txBody>
      </p:sp>
    </p:spTree>
    <p:extLst>
      <p:ext uri="{BB962C8B-B14F-4D97-AF65-F5344CB8AC3E}">
        <p14:creationId xmlns:p14="http://schemas.microsoft.com/office/powerpoint/2010/main" val="19204553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DFE8B-13BB-AA84-BADF-2A87E33938A0}"/>
              </a:ext>
            </a:extLst>
          </p:cNvPr>
          <p:cNvSpPr>
            <a:spLocks noGrp="1"/>
          </p:cNvSpPr>
          <p:nvPr>
            <p:ph type="title"/>
          </p:nvPr>
        </p:nvSpPr>
        <p:spPr>
          <a:xfrm>
            <a:off x="1141413" y="609600"/>
            <a:ext cx="9905998" cy="914400"/>
          </a:xfrm>
        </p:spPr>
        <p:txBody>
          <a:bodyPr/>
          <a:lstStyle/>
          <a:p>
            <a:r>
              <a:rPr lang="en-US" dirty="0"/>
              <a:t>Prompt</a:t>
            </a:r>
          </a:p>
        </p:txBody>
      </p:sp>
      <p:sp>
        <p:nvSpPr>
          <p:cNvPr id="3" name="Content Placeholder 2">
            <a:extLst>
              <a:ext uri="{FF2B5EF4-FFF2-40B4-BE49-F238E27FC236}">
                <a16:creationId xmlns:a16="http://schemas.microsoft.com/office/drawing/2014/main" id="{03D69FE1-0B7A-AE34-93CA-C864B6B18183}"/>
              </a:ext>
            </a:extLst>
          </p:cNvPr>
          <p:cNvSpPr>
            <a:spLocks noGrp="1"/>
          </p:cNvSpPr>
          <p:nvPr>
            <p:ph idx="1"/>
          </p:nvPr>
        </p:nvSpPr>
        <p:spPr>
          <a:xfrm>
            <a:off x="1141413" y="1524001"/>
            <a:ext cx="9905998" cy="4267200"/>
          </a:xfrm>
        </p:spPr>
        <p:txBody>
          <a:bodyPr anchor="t" anchorCtr="0">
            <a:noAutofit/>
          </a:bodyPr>
          <a:lstStyle/>
          <a:p>
            <a:pPr marL="0" indent="0">
              <a:buNone/>
            </a:pPr>
            <a:r>
              <a:rPr lang="en-US" dirty="0"/>
              <a:t>The CDC publishes firearm mortality for each State per 100,000 persons (https://www.cdc.gov/nchs/state-stats/deaths/firearms.html). Each State’ firearm control laws can be categorized as very strict to very lax. The purpose of this Story is to answer the question, ” Do stricter firearm control laws help reduce firearm mortality?”</a:t>
            </a:r>
          </a:p>
          <a:p>
            <a:pPr marL="0" indent="0">
              <a:buNone/>
            </a:pPr>
            <a:r>
              <a:rPr lang="en-US" dirty="0"/>
              <a:t>For this assignment you will need to:</a:t>
            </a:r>
          </a:p>
          <a:p>
            <a:r>
              <a:rPr lang="en-US" sz="1800" dirty="0"/>
              <a:t>Access the firearm mortality data from the CDC using an available API (https://open.cdc.gov/apis.html)</a:t>
            </a:r>
          </a:p>
          <a:p>
            <a:r>
              <a:rPr lang="en-US" sz="1800" dirty="0"/>
              <a:t>Create a 5 point Likert scale categorizing gun control laws from most lax to strictest and assign each state to the most appropriate Likert bin.</a:t>
            </a:r>
          </a:p>
          <a:p>
            <a:r>
              <a:rPr lang="en-US" sz="1800" dirty="0"/>
              <a:t>Determine whether stricter gun control laws result in reduced gun violence deaths</a:t>
            </a:r>
          </a:p>
          <a:p>
            <a:r>
              <a:rPr lang="en-US" sz="1800" dirty="0"/>
              <a:t>Present your story using heat maps</a:t>
            </a:r>
          </a:p>
        </p:txBody>
      </p:sp>
    </p:spTree>
    <p:extLst>
      <p:ext uri="{BB962C8B-B14F-4D97-AF65-F5344CB8AC3E}">
        <p14:creationId xmlns:p14="http://schemas.microsoft.com/office/powerpoint/2010/main" val="689929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DD9861-847C-DCCC-1BFC-016851DDB2BA}"/>
              </a:ext>
            </a:extLst>
          </p:cNvPr>
          <p:cNvSpPr>
            <a:spLocks noGrp="1"/>
          </p:cNvSpPr>
          <p:nvPr>
            <p:ph type="title"/>
          </p:nvPr>
        </p:nvSpPr>
        <p:spPr>
          <a:xfrm>
            <a:off x="1141413" y="609600"/>
            <a:ext cx="9905998" cy="914400"/>
          </a:xfrm>
        </p:spPr>
        <p:txBody>
          <a:bodyPr/>
          <a:lstStyle/>
          <a:p>
            <a:r>
              <a:rPr lang="en-US" dirty="0"/>
              <a:t>Prelude</a:t>
            </a:r>
          </a:p>
        </p:txBody>
      </p:sp>
      <p:sp>
        <p:nvSpPr>
          <p:cNvPr id="3" name="Content Placeholder 2">
            <a:extLst>
              <a:ext uri="{FF2B5EF4-FFF2-40B4-BE49-F238E27FC236}">
                <a16:creationId xmlns:a16="http://schemas.microsoft.com/office/drawing/2014/main" id="{C21E712F-830A-3D7D-B117-84F8B1B47E77}"/>
              </a:ext>
            </a:extLst>
          </p:cNvPr>
          <p:cNvSpPr>
            <a:spLocks noGrp="1"/>
          </p:cNvSpPr>
          <p:nvPr>
            <p:ph idx="1"/>
          </p:nvPr>
        </p:nvSpPr>
        <p:spPr>
          <a:xfrm>
            <a:off x="1141413" y="1524001"/>
            <a:ext cx="9905998" cy="4267200"/>
          </a:xfrm>
        </p:spPr>
        <p:txBody>
          <a:bodyPr anchor="t" anchorCtr="0"/>
          <a:lstStyle/>
          <a:p>
            <a:pPr marL="0" indent="0">
              <a:buNone/>
            </a:pPr>
            <a:r>
              <a:rPr lang="en-US" dirty="0"/>
              <a:t>In order to conclude whether or not gun law strictness has any influence over firearm mortality rates within the United States, we must assess and compare these two variables and see if there exists any correlation.</a:t>
            </a:r>
          </a:p>
          <a:p>
            <a:pPr marL="0" indent="0">
              <a:buNone/>
            </a:pPr>
            <a:r>
              <a:rPr lang="en-US" dirty="0"/>
              <a:t>To do this, we will:</a:t>
            </a:r>
          </a:p>
          <a:p>
            <a:r>
              <a:rPr lang="en-US" sz="1800" dirty="0"/>
              <a:t>Map firearm mortality and gun law strictness throughout the country and look for any </a:t>
            </a:r>
            <a:r>
              <a:rPr lang="en-US" sz="1800" b="1" u="sng" dirty="0"/>
              <a:t>visual indicators</a:t>
            </a:r>
          </a:p>
          <a:p>
            <a:r>
              <a:rPr lang="en-US" sz="1800" dirty="0"/>
              <a:t>Produce a heatmap comparing gun law strictness to mortality to see if a </a:t>
            </a:r>
            <a:r>
              <a:rPr lang="en-US" sz="1800" b="1" u="sng" dirty="0"/>
              <a:t>trend</a:t>
            </a:r>
            <a:r>
              <a:rPr lang="en-US" sz="1800" dirty="0"/>
              <a:t> between the two variables is noticeable</a:t>
            </a:r>
          </a:p>
          <a:p>
            <a:r>
              <a:rPr lang="en-US" sz="1800" dirty="0"/>
              <a:t>And plot out relative law quantity and quality vs mortality rates on a scatterplot to display </a:t>
            </a:r>
            <a:r>
              <a:rPr lang="en-US" sz="1800" b="1" u="sng" dirty="0"/>
              <a:t>actual correlation</a:t>
            </a:r>
            <a:r>
              <a:rPr lang="en-US" sz="1800" dirty="0"/>
              <a:t>, if any exists</a:t>
            </a:r>
          </a:p>
        </p:txBody>
      </p:sp>
    </p:spTree>
    <p:extLst>
      <p:ext uri="{BB962C8B-B14F-4D97-AF65-F5344CB8AC3E}">
        <p14:creationId xmlns:p14="http://schemas.microsoft.com/office/powerpoint/2010/main" val="7621169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0073D-3C49-2AF0-851B-98EB837584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88BB3-1602-4131-96C3-0CB08D99244B}"/>
              </a:ext>
            </a:extLst>
          </p:cNvPr>
          <p:cNvSpPr>
            <a:spLocks noGrp="1"/>
          </p:cNvSpPr>
          <p:nvPr>
            <p:ph type="title"/>
          </p:nvPr>
        </p:nvSpPr>
        <p:spPr>
          <a:xfrm>
            <a:off x="1141413" y="609600"/>
            <a:ext cx="9905998" cy="914400"/>
          </a:xfrm>
        </p:spPr>
        <p:txBody>
          <a:bodyPr>
            <a:noAutofit/>
          </a:bodyPr>
          <a:lstStyle/>
          <a:p>
            <a:pPr algn="ctr"/>
            <a:r>
              <a:rPr lang="en-US" dirty="0"/>
              <a:t>States with </a:t>
            </a:r>
            <a:r>
              <a:rPr lang="en-US" b="1" u="sng" dirty="0">
                <a:solidFill>
                  <a:srgbClr val="FF0000"/>
                </a:solidFill>
              </a:rPr>
              <a:t>high mortality</a:t>
            </a:r>
            <a:r>
              <a:rPr lang="en-US" dirty="0"/>
              <a:t> seem to typically have more </a:t>
            </a:r>
            <a:r>
              <a:rPr lang="en-US" b="1" u="sng" dirty="0">
                <a:solidFill>
                  <a:srgbClr val="3B60FF"/>
                </a:solidFill>
              </a:rPr>
              <a:t>lax gun laws </a:t>
            </a:r>
            <a:r>
              <a:rPr lang="en-US" dirty="0"/>
              <a:t>and vice versa</a:t>
            </a:r>
          </a:p>
        </p:txBody>
      </p:sp>
      <p:pic>
        <p:nvPicPr>
          <p:cNvPr id="2056" name="Picture 8">
            <a:extLst>
              <a:ext uri="{FF2B5EF4-FFF2-40B4-BE49-F238E27FC236}">
                <a16:creationId xmlns:a16="http://schemas.microsoft.com/office/drawing/2014/main" id="{D43FDAC5-3665-5CBD-21E2-01B3F914A1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948" y="1596887"/>
            <a:ext cx="5802464" cy="414461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fov="2700000">
              <a:rot lat="21594003" lon="0" rev="21593989"/>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A31835B7-E0E0-E0DF-85AA-5CCBB62BB3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4412" y="1611796"/>
            <a:ext cx="5802464" cy="4144617"/>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21594000" lon="0" rev="21594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
        <p:nvSpPr>
          <p:cNvPr id="16" name="Speech Bubble: Rectangle with Corners Rounded 15">
            <a:extLst>
              <a:ext uri="{FF2B5EF4-FFF2-40B4-BE49-F238E27FC236}">
                <a16:creationId xmlns:a16="http://schemas.microsoft.com/office/drawing/2014/main" id="{D4D6A59B-5005-D703-02D6-B51C9BAADA42}"/>
              </a:ext>
            </a:extLst>
          </p:cNvPr>
          <p:cNvSpPr/>
          <p:nvPr/>
        </p:nvSpPr>
        <p:spPr>
          <a:xfrm>
            <a:off x="5348977" y="1719471"/>
            <a:ext cx="2254458" cy="954156"/>
          </a:xfrm>
          <a:prstGeom prst="wedgeRoundRectCallout">
            <a:avLst>
              <a:gd name="adj1" fmla="val -85579"/>
              <a:gd name="adj2" fmla="val 68006"/>
              <a:gd name="adj3" fmla="val 16667"/>
            </a:avLst>
          </a:prstGeom>
          <a:pattFill prst="pct90">
            <a:fgClr>
              <a:schemeClr val="tx1">
                <a:lumMod val="8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New York</a:t>
            </a:r>
          </a:p>
          <a:p>
            <a:pPr algn="ctr"/>
            <a:r>
              <a:rPr lang="en-US" b="1" dirty="0">
                <a:solidFill>
                  <a:schemeClr val="bg1"/>
                </a:solidFill>
              </a:rPr>
              <a:t>Low Mortality</a:t>
            </a:r>
          </a:p>
          <a:p>
            <a:pPr algn="ctr"/>
            <a:r>
              <a:rPr lang="en-US" b="1" dirty="0">
                <a:solidFill>
                  <a:schemeClr val="bg1"/>
                </a:solidFill>
              </a:rPr>
              <a:t>Strict Gun Laws</a:t>
            </a:r>
          </a:p>
        </p:txBody>
      </p:sp>
      <p:sp>
        <p:nvSpPr>
          <p:cNvPr id="17" name="Speech Bubble: Rectangle with Corners Rounded 16">
            <a:extLst>
              <a:ext uri="{FF2B5EF4-FFF2-40B4-BE49-F238E27FC236}">
                <a16:creationId xmlns:a16="http://schemas.microsoft.com/office/drawing/2014/main" id="{3D2740DE-E07A-6CAD-15B9-0C1148125009}"/>
              </a:ext>
            </a:extLst>
          </p:cNvPr>
          <p:cNvSpPr/>
          <p:nvPr/>
        </p:nvSpPr>
        <p:spPr>
          <a:xfrm>
            <a:off x="4708766" y="4670565"/>
            <a:ext cx="2254458" cy="954156"/>
          </a:xfrm>
          <a:prstGeom prst="wedgeRoundRectCallout">
            <a:avLst>
              <a:gd name="adj1" fmla="val 99144"/>
              <a:gd name="adj2" fmla="val -48661"/>
              <a:gd name="adj3" fmla="val 16667"/>
            </a:avLst>
          </a:prstGeom>
          <a:pattFill prst="pct90">
            <a:fgClr>
              <a:schemeClr val="tx1">
                <a:lumMod val="85000"/>
              </a:schemeClr>
            </a:fgClr>
            <a:bgClr>
              <a:schemeClr val="bg1"/>
            </a:bgClr>
          </a:patt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Alaska</a:t>
            </a:r>
          </a:p>
          <a:p>
            <a:pPr algn="ctr"/>
            <a:r>
              <a:rPr lang="en-US" b="1" dirty="0">
                <a:solidFill>
                  <a:schemeClr val="bg1"/>
                </a:solidFill>
              </a:rPr>
              <a:t>High Mortality</a:t>
            </a:r>
          </a:p>
          <a:p>
            <a:pPr algn="ctr"/>
            <a:r>
              <a:rPr lang="en-US" b="1" dirty="0">
                <a:solidFill>
                  <a:schemeClr val="bg1"/>
                </a:solidFill>
              </a:rPr>
              <a:t>Lax Gun Laws</a:t>
            </a:r>
          </a:p>
        </p:txBody>
      </p:sp>
    </p:spTree>
    <p:extLst>
      <p:ext uri="{BB962C8B-B14F-4D97-AF65-F5344CB8AC3E}">
        <p14:creationId xmlns:p14="http://schemas.microsoft.com/office/powerpoint/2010/main" val="27484932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9B748-B8AB-C767-3C21-FA9599A5A9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422B1-1173-1C28-09A6-5F25E4F7BB71}"/>
              </a:ext>
            </a:extLst>
          </p:cNvPr>
          <p:cNvSpPr>
            <a:spLocks noGrp="1"/>
          </p:cNvSpPr>
          <p:nvPr>
            <p:ph type="title"/>
          </p:nvPr>
        </p:nvSpPr>
        <p:spPr>
          <a:xfrm>
            <a:off x="1141413" y="609600"/>
            <a:ext cx="9905998" cy="914400"/>
          </a:xfrm>
        </p:spPr>
        <p:txBody>
          <a:bodyPr>
            <a:noAutofit/>
          </a:bodyPr>
          <a:lstStyle/>
          <a:p>
            <a:pPr algn="ctr"/>
            <a:r>
              <a:rPr lang="en-US" dirty="0"/>
              <a:t>A clear connection Is seen when comparing </a:t>
            </a:r>
            <a:r>
              <a:rPr lang="en-US" b="1" u="sng" dirty="0">
                <a:solidFill>
                  <a:srgbClr val="3B60FF"/>
                </a:solidFill>
              </a:rPr>
              <a:t>law strictness </a:t>
            </a:r>
            <a:r>
              <a:rPr lang="en-US" dirty="0"/>
              <a:t>to </a:t>
            </a:r>
            <a:r>
              <a:rPr lang="en-US" b="1" u="sng" dirty="0">
                <a:solidFill>
                  <a:srgbClr val="FF0000"/>
                </a:solidFill>
              </a:rPr>
              <a:t>mortality</a:t>
            </a:r>
          </a:p>
        </p:txBody>
      </p:sp>
      <p:pic>
        <p:nvPicPr>
          <p:cNvPr id="3076" name="Picture 4">
            <a:extLst>
              <a:ext uri="{FF2B5EF4-FFF2-40B4-BE49-F238E27FC236}">
                <a16:creationId xmlns:a16="http://schemas.microsoft.com/office/drawing/2014/main" id="{EB72415E-6E7E-D431-4605-77057B56AE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2158" y="1611796"/>
            <a:ext cx="5904507" cy="421750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cxnSp>
        <p:nvCxnSpPr>
          <p:cNvPr id="4" name="Straight Arrow Connector 3">
            <a:extLst>
              <a:ext uri="{FF2B5EF4-FFF2-40B4-BE49-F238E27FC236}">
                <a16:creationId xmlns:a16="http://schemas.microsoft.com/office/drawing/2014/main" id="{6FA70602-2CCF-4B35-72AF-F2928EE3C441}"/>
              </a:ext>
            </a:extLst>
          </p:cNvPr>
          <p:cNvCxnSpPr/>
          <p:nvPr/>
        </p:nvCxnSpPr>
        <p:spPr>
          <a:xfrm>
            <a:off x="4890052" y="2186609"/>
            <a:ext cx="2951922" cy="2216426"/>
          </a:xfrm>
          <a:prstGeom prst="straightConnector1">
            <a:avLst/>
          </a:prstGeom>
          <a:ln w="38100">
            <a:solidFill>
              <a:schemeClr val="bg2"/>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7" name="Arrow: Down 6">
            <a:extLst>
              <a:ext uri="{FF2B5EF4-FFF2-40B4-BE49-F238E27FC236}">
                <a16:creationId xmlns:a16="http://schemas.microsoft.com/office/drawing/2014/main" id="{54D222D0-538B-12BB-F26F-003BEEE2AFBF}"/>
              </a:ext>
            </a:extLst>
          </p:cNvPr>
          <p:cNvSpPr/>
          <p:nvPr/>
        </p:nvSpPr>
        <p:spPr>
          <a:xfrm>
            <a:off x="9356034" y="2577548"/>
            <a:ext cx="2286000" cy="2286000"/>
          </a:xfrm>
          <a:prstGeom prst="downArrow">
            <a:avLst/>
          </a:prstGeom>
          <a:gradFill>
            <a:gsLst>
              <a:gs pos="25000">
                <a:srgbClr val="FC7878"/>
              </a:gs>
              <a:gs pos="0">
                <a:schemeClr val="accent1">
                  <a:lumMod val="5000"/>
                  <a:lumOff val="95000"/>
                </a:schemeClr>
              </a:gs>
              <a:gs pos="100000">
                <a:srgbClr val="FF0000"/>
              </a:gs>
            </a:gsLst>
            <a:lin ang="16200000" scaled="0"/>
          </a:gra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dirty="0"/>
          </a:p>
          <a:p>
            <a:pPr algn="ctr"/>
            <a:r>
              <a:rPr lang="en-US" b="1" dirty="0"/>
              <a:t>Mortality tends DOWN</a:t>
            </a:r>
          </a:p>
        </p:txBody>
      </p:sp>
      <p:sp>
        <p:nvSpPr>
          <p:cNvPr id="9" name="Arrow: Up 8">
            <a:extLst>
              <a:ext uri="{FF2B5EF4-FFF2-40B4-BE49-F238E27FC236}">
                <a16:creationId xmlns:a16="http://schemas.microsoft.com/office/drawing/2014/main" id="{05C60D4B-BF88-58DC-0CFB-4A36CDC557B2}"/>
              </a:ext>
            </a:extLst>
          </p:cNvPr>
          <p:cNvSpPr/>
          <p:nvPr/>
        </p:nvSpPr>
        <p:spPr>
          <a:xfrm>
            <a:off x="549966" y="2577548"/>
            <a:ext cx="2286000" cy="2286000"/>
          </a:xfrm>
          <a:prstGeom prst="upArrow">
            <a:avLst/>
          </a:prstGeom>
          <a:gradFill flip="none" rotWithShape="1">
            <a:gsLst>
              <a:gs pos="25000">
                <a:srgbClr val="92A6FC"/>
              </a:gs>
              <a:gs pos="0">
                <a:schemeClr val="accent1">
                  <a:lumMod val="5000"/>
                  <a:lumOff val="95000"/>
                </a:schemeClr>
              </a:gs>
              <a:gs pos="100000">
                <a:srgbClr val="3B60FF"/>
              </a:gs>
            </a:gsLst>
            <a:lin ang="16200000" scaled="0"/>
            <a:tileRect/>
          </a:gradFill>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b="1" dirty="0"/>
              <a:t>As Law Strictness goes UP</a:t>
            </a:r>
          </a:p>
          <a:p>
            <a:pPr algn="ctr"/>
            <a:endParaRPr lang="en-US" dirty="0"/>
          </a:p>
        </p:txBody>
      </p:sp>
    </p:spTree>
    <p:extLst>
      <p:ext uri="{BB962C8B-B14F-4D97-AF65-F5344CB8AC3E}">
        <p14:creationId xmlns:p14="http://schemas.microsoft.com/office/powerpoint/2010/main" val="34164207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2216A-2947-ADBF-2C85-F834A8DEF2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0D43BE-C9AB-1B14-4D79-8192EC71FD13}"/>
              </a:ext>
            </a:extLst>
          </p:cNvPr>
          <p:cNvSpPr>
            <a:spLocks noGrp="1"/>
          </p:cNvSpPr>
          <p:nvPr>
            <p:ph type="title"/>
          </p:nvPr>
        </p:nvSpPr>
        <p:spPr>
          <a:xfrm>
            <a:off x="1141413" y="609600"/>
            <a:ext cx="9905998" cy="914400"/>
          </a:xfrm>
        </p:spPr>
        <p:txBody>
          <a:bodyPr>
            <a:noAutofit/>
          </a:bodyPr>
          <a:lstStyle/>
          <a:p>
            <a:pPr algn="ctr"/>
            <a:r>
              <a:rPr lang="en-US" b="1" u="sng" dirty="0">
                <a:solidFill>
                  <a:srgbClr val="3B60FF"/>
                </a:solidFill>
              </a:rPr>
              <a:t>higher counts of restrictive gun laws </a:t>
            </a:r>
            <a:r>
              <a:rPr lang="en-US" dirty="0"/>
              <a:t>are correlated with </a:t>
            </a:r>
            <a:r>
              <a:rPr lang="en-US" b="1" u="sng" dirty="0">
                <a:solidFill>
                  <a:srgbClr val="FF0000"/>
                </a:solidFill>
              </a:rPr>
              <a:t>lower mortality rates</a:t>
            </a:r>
          </a:p>
        </p:txBody>
      </p:sp>
      <p:cxnSp>
        <p:nvCxnSpPr>
          <p:cNvPr id="4" name="Straight Arrow Connector 3">
            <a:extLst>
              <a:ext uri="{FF2B5EF4-FFF2-40B4-BE49-F238E27FC236}">
                <a16:creationId xmlns:a16="http://schemas.microsoft.com/office/drawing/2014/main" id="{932C1268-C66F-CA0E-7400-ED8FF8FC1DE2}"/>
              </a:ext>
            </a:extLst>
          </p:cNvPr>
          <p:cNvCxnSpPr/>
          <p:nvPr/>
        </p:nvCxnSpPr>
        <p:spPr>
          <a:xfrm>
            <a:off x="4890052" y="2186609"/>
            <a:ext cx="2951922" cy="2216426"/>
          </a:xfrm>
          <a:prstGeom prst="straightConnector1">
            <a:avLst/>
          </a:prstGeom>
          <a:ln w="38100">
            <a:solidFill>
              <a:schemeClr val="bg2"/>
            </a:solidFill>
            <a:prstDash val="dashDot"/>
            <a:tailEnd type="triangle"/>
          </a:ln>
        </p:spPr>
        <p:style>
          <a:lnRef idx="1">
            <a:schemeClr val="accent1"/>
          </a:lnRef>
          <a:fillRef idx="0">
            <a:schemeClr val="accent1"/>
          </a:fillRef>
          <a:effectRef idx="0">
            <a:schemeClr val="accent1"/>
          </a:effectRef>
          <a:fontRef idx="minor">
            <a:schemeClr val="tx1"/>
          </a:fontRef>
        </p:style>
      </p:cxnSp>
      <p:pic>
        <p:nvPicPr>
          <p:cNvPr id="4098" name="Picture 2">
            <a:extLst>
              <a:ext uri="{FF2B5EF4-FFF2-40B4-BE49-F238E27FC236}">
                <a16:creationId xmlns:a16="http://schemas.microsoft.com/office/drawing/2014/main" id="{226AE405-71C0-B0EA-D848-0BEFDDBC80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746" y="1611795"/>
            <a:ext cx="5904507" cy="421750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1278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D4642-9A8C-D393-9891-D5637577B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9E90F0-D0CC-B268-0F34-DCF0061D32A7}"/>
              </a:ext>
            </a:extLst>
          </p:cNvPr>
          <p:cNvSpPr>
            <a:spLocks noGrp="1"/>
          </p:cNvSpPr>
          <p:nvPr>
            <p:ph type="title"/>
          </p:nvPr>
        </p:nvSpPr>
        <p:spPr>
          <a:xfrm>
            <a:off x="1141413" y="609600"/>
            <a:ext cx="9905998" cy="914400"/>
          </a:xfrm>
        </p:spPr>
        <p:txBody>
          <a:bodyPr/>
          <a:lstStyle/>
          <a:p>
            <a:r>
              <a:rPr lang="en-US" dirty="0"/>
              <a:t>CONCLUSION</a:t>
            </a:r>
          </a:p>
        </p:txBody>
      </p:sp>
      <p:sp>
        <p:nvSpPr>
          <p:cNvPr id="3" name="Content Placeholder 2">
            <a:extLst>
              <a:ext uri="{FF2B5EF4-FFF2-40B4-BE49-F238E27FC236}">
                <a16:creationId xmlns:a16="http://schemas.microsoft.com/office/drawing/2014/main" id="{19989A90-04EE-7DF5-5CE3-A703025541DE}"/>
              </a:ext>
            </a:extLst>
          </p:cNvPr>
          <p:cNvSpPr>
            <a:spLocks noGrp="1"/>
          </p:cNvSpPr>
          <p:nvPr>
            <p:ph idx="1"/>
          </p:nvPr>
        </p:nvSpPr>
        <p:spPr>
          <a:xfrm>
            <a:off x="1141413" y="1524001"/>
            <a:ext cx="9905998" cy="4267200"/>
          </a:xfrm>
        </p:spPr>
        <p:txBody>
          <a:bodyPr anchor="t" anchorCtr="0"/>
          <a:lstStyle/>
          <a:p>
            <a:r>
              <a:rPr lang="en-US" dirty="0"/>
              <a:t>When comparing maps displaying statewide firearm mortalities and gun law strictness, we were able to clearly see how states that were high on the mortality scale were low on the law strictness scale, which indicated a possible relationship</a:t>
            </a:r>
          </a:p>
          <a:p>
            <a:r>
              <a:rPr lang="en-US" dirty="0"/>
              <a:t>Taking it one step further, through the use of a heatmap comparing these two categorical variables, we saw an obvious trend downward supporting what the map was showing us</a:t>
            </a:r>
          </a:p>
          <a:p>
            <a:r>
              <a:rPr lang="en-US" dirty="0"/>
              <a:t>Finally, we plotted out the actual numerical values for mortality rate and numbers and quality of gun laws and were able to determine that, indeed, </a:t>
            </a:r>
            <a:r>
              <a:rPr lang="en-US" b="1" u="sng" dirty="0"/>
              <a:t>there exists a correlation between gun law strictness and firearm mortality</a:t>
            </a:r>
          </a:p>
          <a:p>
            <a:r>
              <a:rPr lang="en-US" dirty="0"/>
              <a:t>However, further investigation is needed in order to see if the restrictions in place actually reduce overall mortality or if humanity simply finds alternatives to firearms</a:t>
            </a:r>
          </a:p>
        </p:txBody>
      </p:sp>
    </p:spTree>
    <p:extLst>
      <p:ext uri="{BB962C8B-B14F-4D97-AF65-F5344CB8AC3E}">
        <p14:creationId xmlns:p14="http://schemas.microsoft.com/office/powerpoint/2010/main" val="2769964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4C6AD-669B-355A-5724-2FB961B9C7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1555C-7DC1-68E4-4202-21AAE197BA05}"/>
              </a:ext>
            </a:extLst>
          </p:cNvPr>
          <p:cNvSpPr>
            <a:spLocks noGrp="1"/>
          </p:cNvSpPr>
          <p:nvPr>
            <p:ph type="title"/>
          </p:nvPr>
        </p:nvSpPr>
        <p:spPr>
          <a:xfrm>
            <a:off x="1141413" y="609600"/>
            <a:ext cx="9905998" cy="914400"/>
          </a:xfrm>
        </p:spPr>
        <p:txBody>
          <a:bodyPr/>
          <a:lstStyle/>
          <a:p>
            <a:r>
              <a:rPr lang="en-US" dirty="0"/>
              <a:t>sources</a:t>
            </a:r>
          </a:p>
        </p:txBody>
      </p:sp>
      <p:sp>
        <p:nvSpPr>
          <p:cNvPr id="3" name="Content Placeholder 2">
            <a:extLst>
              <a:ext uri="{FF2B5EF4-FFF2-40B4-BE49-F238E27FC236}">
                <a16:creationId xmlns:a16="http://schemas.microsoft.com/office/drawing/2014/main" id="{5429BDEC-236F-BFB2-652D-2F56A8CAE5B6}"/>
              </a:ext>
            </a:extLst>
          </p:cNvPr>
          <p:cNvSpPr>
            <a:spLocks noGrp="1"/>
          </p:cNvSpPr>
          <p:nvPr>
            <p:ph idx="1"/>
          </p:nvPr>
        </p:nvSpPr>
        <p:spPr>
          <a:xfrm>
            <a:off x="1141413" y="1524001"/>
            <a:ext cx="9905998" cy="4267200"/>
          </a:xfrm>
        </p:spPr>
        <p:txBody>
          <a:bodyPr anchor="t" anchorCtr="0"/>
          <a:lstStyle/>
          <a:p>
            <a:pPr marL="0" indent="0">
              <a:buNone/>
            </a:pPr>
            <a:r>
              <a:rPr lang="it-IT" dirty="0"/>
              <a:t>CDC FA Mortality:</a:t>
            </a:r>
          </a:p>
          <a:p>
            <a:pPr marL="0" indent="0">
              <a:buNone/>
            </a:pPr>
            <a:r>
              <a:rPr lang="it-IT" dirty="0"/>
              <a:t>(https://data.cdc.gov/Injury-Violence/Mapping-Injury-Overdose-and-Violence-State/fpsi-y8tj/about_data)</a:t>
            </a:r>
          </a:p>
          <a:p>
            <a:pPr marL="0" indent="0">
              <a:buNone/>
            </a:pPr>
            <a:r>
              <a:rPr lang="it-IT" dirty="0"/>
              <a:t>Rand FA Laws:</a:t>
            </a:r>
          </a:p>
          <a:p>
            <a:pPr marL="0" indent="0">
              <a:buNone/>
            </a:pPr>
            <a:r>
              <a:rPr lang="it-IT" dirty="0"/>
              <a:t>(https://www.rand.org/research/gun-policy/law-navigator.html#minimum-age-for-possession)</a:t>
            </a:r>
            <a:endParaRPr lang="en-US" dirty="0"/>
          </a:p>
        </p:txBody>
      </p:sp>
    </p:spTree>
    <p:extLst>
      <p:ext uri="{BB962C8B-B14F-4D97-AF65-F5344CB8AC3E}">
        <p14:creationId xmlns:p14="http://schemas.microsoft.com/office/powerpoint/2010/main" val="25142018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Mesh</Template>
  <TotalTime>198</TotalTime>
  <Words>499</Words>
  <Application>Microsoft Office PowerPoint</Application>
  <PresentationFormat>Widescreen</PresentationFormat>
  <Paragraphs>37</Paragraphs>
  <Slides>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Century Gothic</vt:lpstr>
      <vt:lpstr>Mesh</vt:lpstr>
      <vt:lpstr>DATA608 Assignment 3</vt:lpstr>
      <vt:lpstr>Prompt</vt:lpstr>
      <vt:lpstr>Prelude</vt:lpstr>
      <vt:lpstr>States with high mortality seem to typically have more lax gun laws and vice versa</vt:lpstr>
      <vt:lpstr>A clear connection Is seen when comparing law strictness to mortality</vt:lpstr>
      <vt:lpstr>higher counts of restrictive gun laws are correlated with lower mortality rates</vt:lpstr>
      <vt:lpstr>CONCLUSION</vt:lpstr>
      <vt:lpstr>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Steven Gonzalez</dc:creator>
  <cp:lastModifiedBy>Steven Gonzalez</cp:lastModifiedBy>
  <cp:revision>5</cp:revision>
  <dcterms:created xsi:type="dcterms:W3CDTF">2026-05-26T01:31:53Z</dcterms:created>
  <dcterms:modified xsi:type="dcterms:W3CDTF">2026-05-26T04:50:11Z</dcterms:modified>
</cp:coreProperties>
</file>