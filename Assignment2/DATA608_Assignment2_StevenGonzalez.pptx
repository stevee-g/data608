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8" r:id="rId3"/>
    <p:sldId id="260" r:id="rId4"/>
    <p:sldId id="259" r:id="rId5"/>
    <p:sldId id="261" r:id="rId6"/>
    <p:sldId id="262" r:id="rId7"/>
    <p:sldId id="263" r:id="rId8"/>
    <p:sldId id="26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9" d="100"/>
          <a:sy n="79" d="100"/>
        </p:scale>
        <p:origin x="82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4128529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2003420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24037726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3113054-4EF8-4D20-BFDB-E91F8AB0AFE9}"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326172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3113054-4EF8-4D20-BFDB-E91F8AB0AFE9}" type="datetimeFigureOut">
              <a:rPr lang="en-US" smtClean="0"/>
              <a:t>5/18/2026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19634224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2363397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37375039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22764987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3113054-4EF8-4D20-BFDB-E91F8AB0AFE9}"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21499374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3113054-4EF8-4D20-BFDB-E91F8AB0AFE9}"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255399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15583285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0284023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31362559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101715247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16832053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40007996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3113054-4EF8-4D20-BFDB-E91F8AB0AFE9}"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BE9134F-EC86-4D3D-86AE-86A5824E3D6B}" type="slidenum">
              <a:rPr lang="en-US" smtClean="0"/>
              <a:t>‹#›</a:t>
            </a:fld>
            <a:endParaRPr lang="en-US"/>
          </a:p>
        </p:txBody>
      </p:sp>
    </p:spTree>
    <p:extLst>
      <p:ext uri="{BB962C8B-B14F-4D97-AF65-F5344CB8AC3E}">
        <p14:creationId xmlns:p14="http://schemas.microsoft.com/office/powerpoint/2010/main" val="26187481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F3113054-4EF8-4D20-BFDB-E91F8AB0AFE9}" type="datetimeFigureOut">
              <a:rPr lang="en-US" smtClean="0"/>
              <a:t>5/18/2026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1BE9134F-EC86-4D3D-86AE-86A5824E3D6B}" type="slidenum">
              <a:rPr lang="en-US" smtClean="0"/>
              <a:t>‹#›</a:t>
            </a:fld>
            <a:endParaRPr lang="en-US"/>
          </a:p>
        </p:txBody>
      </p:sp>
    </p:spTree>
    <p:extLst>
      <p:ext uri="{BB962C8B-B14F-4D97-AF65-F5344CB8AC3E}">
        <p14:creationId xmlns:p14="http://schemas.microsoft.com/office/powerpoint/2010/main" val="1217602875"/>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82CE69-6328-48B4-6061-BB6860F371FD}"/>
              </a:ext>
            </a:extLst>
          </p:cNvPr>
          <p:cNvSpPr>
            <a:spLocks noGrp="1"/>
          </p:cNvSpPr>
          <p:nvPr>
            <p:ph type="ctrTitle"/>
          </p:nvPr>
        </p:nvSpPr>
        <p:spPr/>
        <p:txBody>
          <a:bodyPr/>
          <a:lstStyle/>
          <a:p>
            <a:r>
              <a:rPr lang="en-US" dirty="0"/>
              <a:t>DATA608 Assignment 2</a:t>
            </a:r>
          </a:p>
        </p:txBody>
      </p:sp>
      <p:sp>
        <p:nvSpPr>
          <p:cNvPr id="3" name="Subtitle 2">
            <a:extLst>
              <a:ext uri="{FF2B5EF4-FFF2-40B4-BE49-F238E27FC236}">
                <a16:creationId xmlns:a16="http://schemas.microsoft.com/office/drawing/2014/main" id="{FFA5041E-5390-9063-F664-7414F2E7EBA4}"/>
              </a:ext>
            </a:extLst>
          </p:cNvPr>
          <p:cNvSpPr>
            <a:spLocks noGrp="1"/>
          </p:cNvSpPr>
          <p:nvPr>
            <p:ph type="subTitle" idx="1"/>
          </p:nvPr>
        </p:nvSpPr>
        <p:spPr/>
        <p:txBody>
          <a:bodyPr/>
          <a:lstStyle/>
          <a:p>
            <a:r>
              <a:rPr lang="en-US" dirty="0"/>
              <a:t>Steven Gonzalez</a:t>
            </a:r>
          </a:p>
        </p:txBody>
      </p:sp>
    </p:spTree>
    <p:extLst>
      <p:ext uri="{BB962C8B-B14F-4D97-AF65-F5344CB8AC3E}">
        <p14:creationId xmlns:p14="http://schemas.microsoft.com/office/powerpoint/2010/main" val="36990019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BD09A-D25A-0B34-49DD-B03E880DEE27}"/>
              </a:ext>
            </a:extLst>
          </p:cNvPr>
          <p:cNvSpPr>
            <a:spLocks noGrp="1"/>
          </p:cNvSpPr>
          <p:nvPr>
            <p:ph type="title"/>
          </p:nvPr>
        </p:nvSpPr>
        <p:spPr>
          <a:xfrm>
            <a:off x="646111" y="452718"/>
            <a:ext cx="9404723" cy="1016159"/>
          </a:xfrm>
        </p:spPr>
        <p:txBody>
          <a:bodyPr/>
          <a:lstStyle/>
          <a:p>
            <a:r>
              <a:rPr lang="en-US" dirty="0"/>
              <a:t>Prompt</a:t>
            </a:r>
          </a:p>
        </p:txBody>
      </p:sp>
      <p:sp>
        <p:nvSpPr>
          <p:cNvPr id="3" name="Content Placeholder 2">
            <a:extLst>
              <a:ext uri="{FF2B5EF4-FFF2-40B4-BE49-F238E27FC236}">
                <a16:creationId xmlns:a16="http://schemas.microsoft.com/office/drawing/2014/main" id="{B57B414D-A92F-161B-2368-23580298970F}"/>
              </a:ext>
            </a:extLst>
          </p:cNvPr>
          <p:cNvSpPr>
            <a:spLocks noGrp="1"/>
          </p:cNvSpPr>
          <p:nvPr>
            <p:ph idx="1"/>
          </p:nvPr>
        </p:nvSpPr>
        <p:spPr>
          <a:xfrm>
            <a:off x="1103312" y="1468878"/>
            <a:ext cx="8946541" cy="4779522"/>
          </a:xfrm>
        </p:spPr>
        <p:txBody>
          <a:bodyPr>
            <a:noAutofit/>
          </a:bodyPr>
          <a:lstStyle/>
          <a:p>
            <a:pPr marL="0" indent="0">
              <a:buNone/>
            </a:pPr>
            <a:r>
              <a:rPr lang="en-US" sz="2400" dirty="0">
                <a:latin typeface="+mn-lt"/>
              </a:rPr>
              <a:t>The Federal Reserve's mandate from Congress is to control inflation and to maintain low unemployment. These seem to be contradictory objectives.</a:t>
            </a:r>
          </a:p>
          <a:p>
            <a:pPr marL="0" indent="0">
              <a:buNone/>
            </a:pPr>
            <a:r>
              <a:rPr lang="en-US" sz="2400" dirty="0">
                <a:latin typeface="+mn-lt"/>
              </a:rPr>
              <a:t>For this story you will need to source the following data for the last 25 years;</a:t>
            </a:r>
          </a:p>
          <a:p>
            <a:pPr lvl="1"/>
            <a:r>
              <a:rPr lang="en-US" sz="2000" dirty="0">
                <a:latin typeface="+mn-lt"/>
              </a:rPr>
              <a:t>The Consumer Price Index (CPI) (Bureau of Labor Statistics)</a:t>
            </a:r>
          </a:p>
          <a:p>
            <a:pPr lvl="1"/>
            <a:r>
              <a:rPr lang="en-US" sz="2000" dirty="0">
                <a:latin typeface="+mn-lt"/>
              </a:rPr>
              <a:t>The FED Funds Rate (FRED) (Federal Reserve Board)</a:t>
            </a:r>
          </a:p>
          <a:p>
            <a:pPr lvl="1"/>
            <a:r>
              <a:rPr lang="en-US" sz="2000" dirty="0">
                <a:latin typeface="+mn-lt"/>
              </a:rPr>
              <a:t>Unemployment Rate (Bureau of Labor Statistics)</a:t>
            </a:r>
          </a:p>
          <a:p>
            <a:pPr marL="0" indent="0">
              <a:buNone/>
            </a:pPr>
            <a:r>
              <a:rPr lang="en-US" sz="2400" dirty="0">
                <a:latin typeface="+mn-lt"/>
              </a:rPr>
              <a:t>Your Data Visualizations should be designed to answer the question "Has the FED been able to fulfill the mandate given to it by Congress?"</a:t>
            </a:r>
          </a:p>
        </p:txBody>
      </p:sp>
    </p:spTree>
    <p:extLst>
      <p:ext uri="{BB962C8B-B14F-4D97-AF65-F5344CB8AC3E}">
        <p14:creationId xmlns:p14="http://schemas.microsoft.com/office/powerpoint/2010/main" val="25139954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788A-49FD-8DF6-7CD6-1814ED8B65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3CBBDE-3FD8-FD80-C8C7-B2C9E2A86B0C}"/>
              </a:ext>
            </a:extLst>
          </p:cNvPr>
          <p:cNvSpPr>
            <a:spLocks noGrp="1"/>
          </p:cNvSpPr>
          <p:nvPr>
            <p:ph type="title"/>
          </p:nvPr>
        </p:nvSpPr>
        <p:spPr>
          <a:xfrm>
            <a:off x="646111" y="452718"/>
            <a:ext cx="9404723" cy="1016159"/>
          </a:xfrm>
        </p:spPr>
        <p:txBody>
          <a:bodyPr/>
          <a:lstStyle/>
          <a:p>
            <a:r>
              <a:rPr lang="en-US" dirty="0"/>
              <a:t>Prelude</a:t>
            </a:r>
          </a:p>
        </p:txBody>
      </p:sp>
      <p:sp>
        <p:nvSpPr>
          <p:cNvPr id="3" name="Content Placeholder 2">
            <a:extLst>
              <a:ext uri="{FF2B5EF4-FFF2-40B4-BE49-F238E27FC236}">
                <a16:creationId xmlns:a16="http://schemas.microsoft.com/office/drawing/2014/main" id="{A04C2FD4-1C20-C321-AF52-764C902C363E}"/>
              </a:ext>
            </a:extLst>
          </p:cNvPr>
          <p:cNvSpPr>
            <a:spLocks noGrp="1"/>
          </p:cNvSpPr>
          <p:nvPr>
            <p:ph idx="1"/>
          </p:nvPr>
        </p:nvSpPr>
        <p:spPr>
          <a:xfrm>
            <a:off x="1103312" y="1468878"/>
            <a:ext cx="8946541" cy="4779522"/>
          </a:xfrm>
        </p:spPr>
        <p:txBody>
          <a:bodyPr>
            <a:noAutofit/>
          </a:bodyPr>
          <a:lstStyle/>
          <a:p>
            <a:pPr marL="0" indent="0">
              <a:buNone/>
            </a:pPr>
            <a:r>
              <a:rPr lang="en-US" sz="2400" dirty="0">
                <a:latin typeface="+mn-lt"/>
              </a:rPr>
              <a:t>The Federal Reserve is the central banking system responsible for managing monetary policy within the U.S. Its main objectives include overseeing and influencing inflation and unemployment which directly impact the American consumer. One of the ways it attempts to do this is through the adjustment of its fed funds rate which affects all other borrowing and savings rates throughout the country. This in turn is meant to either encourage or deter consumer spending in hopes of driving inflation and unemployment in a more favorable direction. Therefore, changes in the fed rate are always in response to economic conditions and its effects are seen afterwards.</a:t>
            </a:r>
          </a:p>
        </p:txBody>
      </p:sp>
    </p:spTree>
    <p:extLst>
      <p:ext uri="{BB962C8B-B14F-4D97-AF65-F5344CB8AC3E}">
        <p14:creationId xmlns:p14="http://schemas.microsoft.com/office/powerpoint/2010/main" val="8264074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DDEF52-8998-EE8D-3A12-8FB0D2E51A5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19CCB3-A335-6CE7-7399-8B005C3218C0}"/>
              </a:ext>
            </a:extLst>
          </p:cNvPr>
          <p:cNvSpPr>
            <a:spLocks noGrp="1"/>
          </p:cNvSpPr>
          <p:nvPr>
            <p:ph idx="1"/>
          </p:nvPr>
        </p:nvSpPr>
        <p:spPr>
          <a:xfrm>
            <a:off x="6686988" y="531159"/>
            <a:ext cx="4433989" cy="5795682"/>
          </a:xfrm>
        </p:spPr>
        <p:txBody>
          <a:bodyPr>
            <a:noAutofit/>
          </a:bodyPr>
          <a:lstStyle/>
          <a:p>
            <a:pPr marL="0" indent="0">
              <a:buNone/>
            </a:pPr>
            <a:r>
              <a:rPr lang="en-US" sz="2400" dirty="0">
                <a:latin typeface="+mn-lt"/>
              </a:rPr>
              <a:t>To the left is a line plot displaying the fluctuations in CPI, unemployment, and the fed rate over the past 25 years. As can be seen, there were several peaks and troughs for each of these measures with the fed rate responding to a mixture of the other two. We will zoom in on portions of this chart to get a better understanding of how the Federal Reserve handled the last 25 years of monetary policy.</a:t>
            </a:r>
          </a:p>
        </p:txBody>
      </p:sp>
      <p:pic>
        <p:nvPicPr>
          <p:cNvPr id="1026" name="Picture 2">
            <a:extLst>
              <a:ext uri="{FF2B5EF4-FFF2-40B4-BE49-F238E27FC236}">
                <a16:creationId xmlns:a16="http://schemas.microsoft.com/office/drawing/2014/main" id="{4E448BD7-EA75-4168-F62A-18E5F349E2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8400" y="1044104"/>
            <a:ext cx="6008588" cy="4769792"/>
          </a:xfrm>
          <a:prstGeom prst="rect">
            <a:avLst/>
          </a:prstGeom>
          <a:ln w="19050">
            <a:solidFill>
              <a:schemeClr val="accent1"/>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35500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450D8-BA2C-049E-F1EE-B7C868ABD1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B281A7-8A85-A9F3-6947-1FA742533FFD}"/>
              </a:ext>
            </a:extLst>
          </p:cNvPr>
          <p:cNvSpPr>
            <a:spLocks noGrp="1"/>
          </p:cNvSpPr>
          <p:nvPr>
            <p:ph idx="1"/>
          </p:nvPr>
        </p:nvSpPr>
        <p:spPr>
          <a:xfrm>
            <a:off x="6686988" y="531159"/>
            <a:ext cx="4433989" cy="5795682"/>
          </a:xfrm>
        </p:spPr>
        <p:txBody>
          <a:bodyPr>
            <a:noAutofit/>
          </a:bodyPr>
          <a:lstStyle/>
          <a:p>
            <a:pPr marL="0" indent="0">
              <a:buNone/>
            </a:pPr>
            <a:r>
              <a:rPr lang="en-US" sz="2400" dirty="0">
                <a:latin typeface="+mn-lt"/>
              </a:rPr>
              <a:t>2000 – 2010</a:t>
            </a:r>
          </a:p>
          <a:p>
            <a:pPr lvl="1"/>
            <a:r>
              <a:rPr lang="en-US" sz="2000" dirty="0">
                <a:latin typeface="+mn-lt"/>
              </a:rPr>
              <a:t>2001 dotcom bubble</a:t>
            </a:r>
          </a:p>
          <a:p>
            <a:pPr lvl="1"/>
            <a:r>
              <a:rPr lang="en-US" sz="2000" dirty="0">
                <a:latin typeface="+mn-lt"/>
              </a:rPr>
              <a:t>2008 great recession</a:t>
            </a:r>
          </a:p>
          <a:p>
            <a:pPr marL="0" indent="0">
              <a:buNone/>
            </a:pPr>
            <a:r>
              <a:rPr lang="en-US" sz="2400" dirty="0">
                <a:latin typeface="+mn-lt"/>
              </a:rPr>
              <a:t>2001 dotcom bubble</a:t>
            </a:r>
          </a:p>
          <a:p>
            <a:pPr lvl="1"/>
            <a:r>
              <a:rPr lang="en-US" sz="2000" dirty="0">
                <a:latin typeface="+mn-lt"/>
              </a:rPr>
              <a:t>Fed lowered rates to deter unemployment</a:t>
            </a:r>
          </a:p>
          <a:p>
            <a:pPr lvl="1"/>
            <a:r>
              <a:rPr lang="en-US" sz="2000" dirty="0">
                <a:latin typeface="+mn-lt"/>
              </a:rPr>
              <a:t>Later raised rates to fight inflation</a:t>
            </a:r>
          </a:p>
          <a:p>
            <a:pPr marL="0" indent="0">
              <a:buNone/>
            </a:pPr>
            <a:r>
              <a:rPr lang="en-US" sz="2400" dirty="0">
                <a:latin typeface="+mn-lt"/>
              </a:rPr>
              <a:t>2008 great recession</a:t>
            </a:r>
          </a:p>
          <a:p>
            <a:pPr lvl="1"/>
            <a:r>
              <a:rPr lang="en-US" sz="2000" dirty="0"/>
              <a:t>Fed lowered rates to fight unemployment and stimulate economy</a:t>
            </a:r>
          </a:p>
          <a:p>
            <a:pPr lvl="1"/>
            <a:r>
              <a:rPr lang="en-US" sz="2000" dirty="0">
                <a:latin typeface="+mn-lt"/>
              </a:rPr>
              <a:t>Rates remained low to assist in recovery</a:t>
            </a:r>
          </a:p>
        </p:txBody>
      </p:sp>
      <p:pic>
        <p:nvPicPr>
          <p:cNvPr id="2050" name="Picture 2">
            <a:extLst>
              <a:ext uri="{FF2B5EF4-FFF2-40B4-BE49-F238E27FC236}">
                <a16:creationId xmlns:a16="http://schemas.microsoft.com/office/drawing/2014/main" id="{6DCC5D4E-E96A-EBC5-3207-CEE0EF7B1E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8400" y="1044104"/>
            <a:ext cx="6008588" cy="4769791"/>
          </a:xfrm>
          <a:prstGeom prst="rect">
            <a:avLst/>
          </a:prstGeom>
          <a:ln w="19050">
            <a:solidFill>
              <a:schemeClr val="accent1"/>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68231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CD176-BB23-58BF-9909-B78E36BDB56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FFB652-2895-F3B8-DA16-64D2995EDCD8}"/>
              </a:ext>
            </a:extLst>
          </p:cNvPr>
          <p:cNvSpPr>
            <a:spLocks noGrp="1"/>
          </p:cNvSpPr>
          <p:nvPr>
            <p:ph idx="1"/>
          </p:nvPr>
        </p:nvSpPr>
        <p:spPr>
          <a:xfrm>
            <a:off x="6686988" y="531159"/>
            <a:ext cx="4433989" cy="5795682"/>
          </a:xfrm>
        </p:spPr>
        <p:txBody>
          <a:bodyPr>
            <a:noAutofit/>
          </a:bodyPr>
          <a:lstStyle/>
          <a:p>
            <a:pPr marL="0" indent="0">
              <a:buNone/>
            </a:pPr>
            <a:r>
              <a:rPr lang="en-US" sz="2400" dirty="0"/>
              <a:t>2010-2020</a:t>
            </a:r>
          </a:p>
          <a:p>
            <a:pPr lvl="1"/>
            <a:r>
              <a:rPr lang="en-US" sz="2000" dirty="0"/>
              <a:t>Post recession recovery</a:t>
            </a:r>
          </a:p>
          <a:p>
            <a:pPr lvl="1"/>
            <a:r>
              <a:rPr lang="en-US" sz="2000" dirty="0"/>
              <a:t>Pre pandemic policy</a:t>
            </a:r>
          </a:p>
          <a:p>
            <a:pPr marL="0" indent="0">
              <a:buNone/>
            </a:pPr>
            <a:r>
              <a:rPr lang="en-US" sz="2400" dirty="0"/>
              <a:t>Post recession recovery</a:t>
            </a:r>
          </a:p>
          <a:p>
            <a:pPr lvl="1"/>
            <a:r>
              <a:rPr lang="en-US" sz="2000" dirty="0"/>
              <a:t>Rates remained low up until 2016 to assist in economic recovery</a:t>
            </a:r>
          </a:p>
          <a:p>
            <a:pPr marL="0" indent="0">
              <a:buNone/>
            </a:pPr>
            <a:r>
              <a:rPr lang="en-US" sz="2400" dirty="0"/>
              <a:t>Pre pandemic policy</a:t>
            </a:r>
          </a:p>
          <a:p>
            <a:pPr lvl="1"/>
            <a:r>
              <a:rPr lang="en-US" sz="2000" dirty="0"/>
              <a:t>Fed raised rates to handle inflation now that  unemployment had become acceptable</a:t>
            </a:r>
          </a:p>
          <a:p>
            <a:pPr lvl="1"/>
            <a:r>
              <a:rPr lang="en-US" sz="2000" dirty="0"/>
              <a:t>Rates continued to increase up until late 2019</a:t>
            </a:r>
          </a:p>
          <a:p>
            <a:pPr marL="0" indent="0">
              <a:buNone/>
            </a:pPr>
            <a:endParaRPr lang="en-US" sz="2400" dirty="0">
              <a:latin typeface="+mn-lt"/>
            </a:endParaRPr>
          </a:p>
        </p:txBody>
      </p:sp>
      <p:pic>
        <p:nvPicPr>
          <p:cNvPr id="3074" name="Picture 2">
            <a:extLst>
              <a:ext uri="{FF2B5EF4-FFF2-40B4-BE49-F238E27FC236}">
                <a16:creationId xmlns:a16="http://schemas.microsoft.com/office/drawing/2014/main" id="{28020BF1-BC91-F2CC-FF10-642F1C2C9A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8400" y="1044104"/>
            <a:ext cx="6008588" cy="4769791"/>
          </a:xfrm>
          <a:prstGeom prst="rect">
            <a:avLst/>
          </a:prstGeom>
          <a:ln w="19050">
            <a:solidFill>
              <a:schemeClr val="accent1"/>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62468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B68F4-3E32-1447-D64F-68F91B5C6BF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B4BA356-1567-F823-DEEB-C3B78B8775BA}"/>
              </a:ext>
            </a:extLst>
          </p:cNvPr>
          <p:cNvSpPr>
            <a:spLocks noGrp="1"/>
          </p:cNvSpPr>
          <p:nvPr>
            <p:ph idx="1"/>
          </p:nvPr>
        </p:nvSpPr>
        <p:spPr>
          <a:xfrm>
            <a:off x="6686988" y="531159"/>
            <a:ext cx="4433989" cy="5795682"/>
          </a:xfrm>
        </p:spPr>
        <p:txBody>
          <a:bodyPr>
            <a:noAutofit/>
          </a:bodyPr>
          <a:lstStyle/>
          <a:p>
            <a:pPr marL="0" indent="0">
              <a:buNone/>
            </a:pPr>
            <a:r>
              <a:rPr lang="en-US" sz="2400" dirty="0"/>
              <a:t>2020 – 2026</a:t>
            </a:r>
          </a:p>
          <a:p>
            <a:pPr lvl="1"/>
            <a:r>
              <a:rPr lang="en-US" sz="2000" dirty="0"/>
              <a:t>Pandemic</a:t>
            </a:r>
          </a:p>
          <a:p>
            <a:pPr lvl="1"/>
            <a:r>
              <a:rPr lang="en-US" sz="2000" dirty="0"/>
              <a:t>Post pandemic to present</a:t>
            </a:r>
          </a:p>
          <a:p>
            <a:pPr marL="0" indent="0">
              <a:buNone/>
            </a:pPr>
            <a:r>
              <a:rPr lang="en-US" sz="2400" dirty="0"/>
              <a:t>Pandemic</a:t>
            </a:r>
          </a:p>
          <a:p>
            <a:pPr lvl="1"/>
            <a:r>
              <a:rPr lang="en-US" sz="2000" dirty="0"/>
              <a:t>Unemployment shoots up in 2020 and Fed lowers rates to stimulate economy</a:t>
            </a:r>
          </a:p>
          <a:p>
            <a:pPr lvl="1"/>
            <a:r>
              <a:rPr lang="en-US" sz="2000" dirty="0"/>
              <a:t>Unemployment drops and inflation kicks up in 2021 so Fed raises rates sharply in 2022</a:t>
            </a:r>
          </a:p>
          <a:p>
            <a:pPr marL="0" indent="0">
              <a:buNone/>
            </a:pPr>
            <a:r>
              <a:rPr lang="en-US" sz="2400" dirty="0"/>
              <a:t>Post pandemic to present</a:t>
            </a:r>
          </a:p>
          <a:p>
            <a:pPr lvl="1"/>
            <a:r>
              <a:rPr lang="en-US" sz="2000" dirty="0"/>
              <a:t>Inflation lowered sharply in 2022 then steadily since 2023 and Feds lower rates slowly starting in 2024</a:t>
            </a:r>
            <a:endParaRPr lang="en-US" sz="2400" dirty="0">
              <a:latin typeface="+mn-lt"/>
            </a:endParaRPr>
          </a:p>
        </p:txBody>
      </p:sp>
      <p:pic>
        <p:nvPicPr>
          <p:cNvPr id="4098" name="Picture 2">
            <a:extLst>
              <a:ext uri="{FF2B5EF4-FFF2-40B4-BE49-F238E27FC236}">
                <a16:creationId xmlns:a16="http://schemas.microsoft.com/office/drawing/2014/main" id="{CC14B193-73EE-366B-7DAB-813DFAD858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8400" y="1044104"/>
            <a:ext cx="6008588" cy="4769791"/>
          </a:xfrm>
          <a:prstGeom prst="rect">
            <a:avLst/>
          </a:prstGeom>
          <a:ln w="19050">
            <a:solidFill>
              <a:schemeClr val="accent1"/>
            </a:solid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9248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78B44-02B9-3F2E-2DC5-E49719EFA4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2A36D2-846B-3D1C-303B-BD35B55B08D8}"/>
              </a:ext>
            </a:extLst>
          </p:cNvPr>
          <p:cNvSpPr>
            <a:spLocks noGrp="1"/>
          </p:cNvSpPr>
          <p:nvPr>
            <p:ph type="title"/>
          </p:nvPr>
        </p:nvSpPr>
        <p:spPr>
          <a:xfrm>
            <a:off x="646111" y="452718"/>
            <a:ext cx="9404723" cy="1016159"/>
          </a:xfrm>
        </p:spPr>
        <p:txBody>
          <a:bodyPr/>
          <a:lstStyle/>
          <a:p>
            <a:r>
              <a:rPr lang="en-US" dirty="0"/>
              <a:t>Conclusion</a:t>
            </a:r>
          </a:p>
        </p:txBody>
      </p:sp>
      <p:sp>
        <p:nvSpPr>
          <p:cNvPr id="3" name="Content Placeholder 2">
            <a:extLst>
              <a:ext uri="{FF2B5EF4-FFF2-40B4-BE49-F238E27FC236}">
                <a16:creationId xmlns:a16="http://schemas.microsoft.com/office/drawing/2014/main" id="{DE894862-B907-33E7-3F59-70F9D41C2F15}"/>
              </a:ext>
            </a:extLst>
          </p:cNvPr>
          <p:cNvSpPr>
            <a:spLocks noGrp="1"/>
          </p:cNvSpPr>
          <p:nvPr>
            <p:ph idx="1"/>
          </p:nvPr>
        </p:nvSpPr>
        <p:spPr>
          <a:xfrm>
            <a:off x="1103312" y="1468878"/>
            <a:ext cx="8946541" cy="4779522"/>
          </a:xfrm>
        </p:spPr>
        <p:txBody>
          <a:bodyPr>
            <a:noAutofit/>
          </a:bodyPr>
          <a:lstStyle/>
          <a:p>
            <a:pPr marL="0" indent="0">
              <a:buNone/>
            </a:pPr>
            <a:r>
              <a:rPr lang="en-US" sz="2400" dirty="0">
                <a:latin typeface="+mn-lt"/>
              </a:rPr>
              <a:t>The years 2000 to 2026 have been filled with several unprecedented economic events; each one affecting unemployment and inflation in its own way. In every one of them the Federal Reserve has responded in kind attempting to mitigate these two measures by adjusting the fed funds rate. As seen in the previous slides, through the use of these adjustments, the Fed has been able to lower both unemployment and inflation when these measures would get out of line. Given this, although not always a pleasant experience at the time for the average person, we can say that the Federal Reserve has been able to fulfill the mandate given to it by Congress.</a:t>
            </a:r>
          </a:p>
        </p:txBody>
      </p:sp>
    </p:spTree>
    <p:extLst>
      <p:ext uri="{BB962C8B-B14F-4D97-AF65-F5344CB8AC3E}">
        <p14:creationId xmlns:p14="http://schemas.microsoft.com/office/powerpoint/2010/main" val="59588171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156</TotalTime>
  <Words>566</Words>
  <Application>Microsoft Office PowerPoint</Application>
  <PresentationFormat>Widescreen</PresentationFormat>
  <Paragraphs>39</Paragraphs>
  <Slides>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Century Gothic</vt:lpstr>
      <vt:lpstr>Wingdings 3</vt:lpstr>
      <vt:lpstr>Ion</vt:lpstr>
      <vt:lpstr>DATA608 Assignment 2</vt:lpstr>
      <vt:lpstr>Prompt</vt:lpstr>
      <vt:lpstr>Prelude</vt:lpstr>
      <vt:lpstr>PowerPoint Presentation</vt:lpstr>
      <vt:lpstr>PowerPoint Presentation</vt:lpstr>
      <vt:lpstr>PowerPoint Presentation</vt:lpstr>
      <vt:lpstr>PowerPoint Presentation</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Steven Gonzalez</dc:creator>
  <cp:lastModifiedBy>Steven Gonzalez</cp:lastModifiedBy>
  <cp:revision>4</cp:revision>
  <dcterms:created xsi:type="dcterms:W3CDTF">2026-05-18T14:19:42Z</dcterms:created>
  <dcterms:modified xsi:type="dcterms:W3CDTF">2026-05-18T21:52:56Z</dcterms:modified>
</cp:coreProperties>
</file>