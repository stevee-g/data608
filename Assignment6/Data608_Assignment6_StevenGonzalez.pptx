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6"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754"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5/27/2026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15730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5/27/2026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9156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5/27/2026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29978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5/27/2026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1564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5/27/2026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60085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5/27/2026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29308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5/27/2026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2974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5/27/2026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38358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5/27/2026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35643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5/27/2026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36921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5/27/2026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86412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5/27/2026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477964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9FD1C6-2451-65D4-D165-F7E4837D7A11}"/>
              </a:ext>
            </a:extLst>
          </p:cNvPr>
          <p:cNvSpPr>
            <a:spLocks noGrp="1"/>
          </p:cNvSpPr>
          <p:nvPr>
            <p:ph type="ctrTitle"/>
          </p:nvPr>
        </p:nvSpPr>
        <p:spPr>
          <a:xfrm>
            <a:off x="7736091" y="1177348"/>
            <a:ext cx="3732974" cy="3441068"/>
          </a:xfrm>
        </p:spPr>
        <p:txBody>
          <a:bodyPr>
            <a:normAutofit/>
          </a:bodyPr>
          <a:lstStyle/>
          <a:p>
            <a:r>
              <a:rPr lang="en-US" sz="4200"/>
              <a:t>DATA608 Assignment 6</a:t>
            </a:r>
          </a:p>
        </p:txBody>
      </p:sp>
      <p:sp>
        <p:nvSpPr>
          <p:cNvPr id="3" name="Subtitle 2">
            <a:extLst>
              <a:ext uri="{FF2B5EF4-FFF2-40B4-BE49-F238E27FC236}">
                <a16:creationId xmlns:a16="http://schemas.microsoft.com/office/drawing/2014/main" id="{DA34771D-70E5-C934-1762-669D0E867F79}"/>
              </a:ext>
            </a:extLst>
          </p:cNvPr>
          <p:cNvSpPr>
            <a:spLocks noGrp="1"/>
          </p:cNvSpPr>
          <p:nvPr>
            <p:ph type="subTitle" idx="1"/>
          </p:nvPr>
        </p:nvSpPr>
        <p:spPr>
          <a:xfrm>
            <a:off x="8209280" y="4754942"/>
            <a:ext cx="3259785" cy="925710"/>
          </a:xfrm>
        </p:spPr>
        <p:txBody>
          <a:bodyPr>
            <a:normAutofit/>
          </a:bodyPr>
          <a:lstStyle/>
          <a:p>
            <a:r>
              <a:rPr lang="en-US" dirty="0"/>
              <a:t>Steven Gonzalez</a:t>
            </a:r>
            <a:endParaRPr lang="en-US"/>
          </a:p>
        </p:txBody>
      </p:sp>
      <p:cxnSp>
        <p:nvCxnSpPr>
          <p:cNvPr id="1042" name="Straight Connector 104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028" name="Picture 4">
            <a:extLst>
              <a:ext uri="{FF2B5EF4-FFF2-40B4-BE49-F238E27FC236}">
                <a16:creationId xmlns:a16="http://schemas.microsoft.com/office/drawing/2014/main" id="{ECA88876-775C-C489-1535-94CC7AD2A0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9749" y="863602"/>
            <a:ext cx="6846342" cy="5134757"/>
          </a:xfrm>
          <a:prstGeom prst="rect">
            <a:avLst/>
          </a:prstGeom>
          <a:noFill/>
          <a:extLst>
            <a:ext uri="{909E8E84-426E-40DD-AFC4-6F175D3DCCD1}">
              <a14:hiddenFill xmlns:a14="http://schemas.microsoft.com/office/drawing/2010/main">
                <a:solidFill>
                  <a:srgbClr val="FFFFFF"/>
                </a:solidFill>
              </a14:hiddenFill>
            </a:ext>
          </a:extLst>
        </p:spPr>
      </p:pic>
      <p:cxnSp>
        <p:nvCxnSpPr>
          <p:cNvPr id="1044" name="Straight Connector 1043">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1428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84293-5A77-9DD1-3F63-1D01A4A1CFBE}"/>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4D6FF88E-174F-4C82-AFD5-C546F9346DFE}"/>
              </a:ext>
            </a:extLst>
          </p:cNvPr>
          <p:cNvSpPr>
            <a:spLocks noGrp="1"/>
          </p:cNvSpPr>
          <p:nvPr>
            <p:ph idx="1"/>
          </p:nvPr>
        </p:nvSpPr>
        <p:spPr/>
        <p:txBody>
          <a:bodyPr/>
          <a:lstStyle/>
          <a:p>
            <a:pPr marL="0" indent="0">
              <a:buNone/>
            </a:pPr>
            <a:r>
              <a:rPr lang="en-US" dirty="0"/>
              <a:t>The United Nations Food and Agriculture Organization publication, The State of Food Security and Nutrition in the World 2022 (https://www.fao.org/documents/card/en/c/cc0639en) might lead one to the conclusion that it’s an elsewhere problem. That the people who are suffering malnutrition and starvation are “elsewhere”, not in our backyard. For this assignment you will need to take a closer look here at home (the US).</a:t>
            </a:r>
          </a:p>
        </p:txBody>
      </p:sp>
    </p:spTree>
    <p:extLst>
      <p:ext uri="{BB962C8B-B14F-4D97-AF65-F5344CB8AC3E}">
        <p14:creationId xmlns:p14="http://schemas.microsoft.com/office/powerpoint/2010/main" val="954487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159E4-5844-54E1-0F1A-6EFF4FDA4DB6}"/>
              </a:ext>
            </a:extLst>
          </p:cNvPr>
          <p:cNvSpPr>
            <a:spLocks noGrp="1"/>
          </p:cNvSpPr>
          <p:nvPr>
            <p:ph type="title"/>
          </p:nvPr>
        </p:nvSpPr>
        <p:spPr/>
        <p:txBody>
          <a:bodyPr/>
          <a:lstStyle/>
          <a:p>
            <a:r>
              <a:rPr lang="en-US" dirty="0"/>
              <a:t>prelude</a:t>
            </a:r>
          </a:p>
        </p:txBody>
      </p:sp>
      <p:sp>
        <p:nvSpPr>
          <p:cNvPr id="3" name="Content Placeholder 2">
            <a:extLst>
              <a:ext uri="{FF2B5EF4-FFF2-40B4-BE49-F238E27FC236}">
                <a16:creationId xmlns:a16="http://schemas.microsoft.com/office/drawing/2014/main" id="{022B03A4-677F-EA15-807A-789EEDC22F85}"/>
              </a:ext>
            </a:extLst>
          </p:cNvPr>
          <p:cNvSpPr>
            <a:spLocks noGrp="1"/>
          </p:cNvSpPr>
          <p:nvPr>
            <p:ph idx="1"/>
          </p:nvPr>
        </p:nvSpPr>
        <p:spPr/>
        <p:txBody>
          <a:bodyPr/>
          <a:lstStyle/>
          <a:p>
            <a:pPr marL="0" indent="0">
              <a:buNone/>
            </a:pPr>
            <a:r>
              <a:rPr lang="en-US" dirty="0"/>
              <a:t>Food security concerns exist all over the globe. Even in well-developed countries, not all inhabitants have access or enjoy a safe, secure, and nutritious supply of food. In this story, we will peer into food security stats throughout the United States in order to better understand which communities and demographics are most affected.</a:t>
            </a:r>
          </a:p>
          <a:p>
            <a:pPr marL="0" indent="0">
              <a:buNone/>
            </a:pPr>
            <a:r>
              <a:rPr lang="en-US" dirty="0"/>
              <a:t>To do this, we will assess:</a:t>
            </a:r>
          </a:p>
          <a:p>
            <a:r>
              <a:rPr lang="en-US" sz="1800" dirty="0"/>
              <a:t>Food security by state</a:t>
            </a:r>
          </a:p>
          <a:p>
            <a:r>
              <a:rPr lang="en-US" sz="1800" dirty="0"/>
              <a:t>Household composition</a:t>
            </a:r>
          </a:p>
          <a:p>
            <a:r>
              <a:rPr lang="en-US" sz="1800" dirty="0"/>
              <a:t>Child household food security type</a:t>
            </a:r>
          </a:p>
          <a:p>
            <a:r>
              <a:rPr lang="en-US" sz="1800" dirty="0"/>
              <a:t>Employment, education, and disability status</a:t>
            </a:r>
          </a:p>
        </p:txBody>
      </p:sp>
    </p:spTree>
    <p:extLst>
      <p:ext uri="{BB962C8B-B14F-4D97-AF65-F5344CB8AC3E}">
        <p14:creationId xmlns:p14="http://schemas.microsoft.com/office/powerpoint/2010/main" val="2760997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04AEE2-1C19-4BFC-6216-D638130ED6E0}"/>
            </a:ext>
          </a:extLst>
        </p:cNvPr>
        <p:cNvGrpSpPr/>
        <p:nvPr/>
      </p:nvGrpSpPr>
      <p:grpSpPr>
        <a:xfrm>
          <a:off x="0" y="0"/>
          <a:ext cx="0" cy="0"/>
          <a:chOff x="0" y="0"/>
          <a:chExt cx="0" cy="0"/>
        </a:xfrm>
      </p:grpSpPr>
      <p:cxnSp>
        <p:nvCxnSpPr>
          <p:cNvPr id="2057" name="Straight Connector 205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61" name="Rectangle 2060">
            <a:extLst>
              <a:ext uri="{FF2B5EF4-FFF2-40B4-BE49-F238E27FC236}">
                <a16:creationId xmlns:a16="http://schemas.microsoft.com/office/drawing/2014/main" id="{3FA22337-4CA0-428A-90ED-6242E231D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A8D35C-A410-CF73-7095-849C35AE8563}"/>
              </a:ext>
            </a:extLst>
          </p:cNvPr>
          <p:cNvSpPr>
            <a:spLocks noGrp="1"/>
          </p:cNvSpPr>
          <p:nvPr>
            <p:ph type="title"/>
          </p:nvPr>
        </p:nvSpPr>
        <p:spPr>
          <a:xfrm>
            <a:off x="8021865" y="921797"/>
            <a:ext cx="3455902" cy="3808544"/>
          </a:xfrm>
        </p:spPr>
        <p:txBody>
          <a:bodyPr vert="horz" lIns="91440" tIns="45720" rIns="91440" bIns="45720" rtlCol="0" anchor="t">
            <a:normAutofit/>
          </a:bodyPr>
          <a:lstStyle/>
          <a:p>
            <a:r>
              <a:rPr lang="en-US" sz="2000" b="1" dirty="0">
                <a:solidFill>
                  <a:srgbClr val="FF0000"/>
                </a:solidFill>
              </a:rPr>
              <a:t>South central us</a:t>
            </a:r>
            <a:r>
              <a:rPr lang="en-US" sz="2000" b="1" dirty="0"/>
              <a:t> </a:t>
            </a:r>
            <a:r>
              <a:rPr lang="en-US" sz="2000" dirty="0"/>
              <a:t>shows </a:t>
            </a:r>
            <a:r>
              <a:rPr lang="en-US" sz="2000" b="1" dirty="0">
                <a:solidFill>
                  <a:srgbClr val="FF0000"/>
                </a:solidFill>
              </a:rPr>
              <a:t>greatest signs of food insecurity</a:t>
            </a:r>
            <a:r>
              <a:rPr lang="en-US" sz="2000" b="1" dirty="0"/>
              <a:t> </a:t>
            </a:r>
            <a:r>
              <a:rPr lang="en-US" sz="2000" dirty="0"/>
              <a:t>with coastal regions showing the least</a:t>
            </a:r>
          </a:p>
        </p:txBody>
      </p:sp>
      <p:pic>
        <p:nvPicPr>
          <p:cNvPr id="2050" name="Picture 2">
            <a:extLst>
              <a:ext uri="{FF2B5EF4-FFF2-40B4-BE49-F238E27FC236}">
                <a16:creationId xmlns:a16="http://schemas.microsoft.com/office/drawing/2014/main" id="{AFCF94E0-A006-78BF-43D4-BAC3088CF8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8056" b="16385"/>
          <a:stretch>
            <a:fillRect/>
          </a:stretch>
        </p:blipFill>
        <p:spPr bwMode="auto">
          <a:xfrm>
            <a:off x="20" y="10"/>
            <a:ext cx="7315180" cy="3428990"/>
          </a:xfrm>
          <a:prstGeom prst="rect">
            <a:avLst/>
          </a:prstGeom>
          <a:noFill/>
          <a:extLst>
            <a:ext uri="{909E8E84-426E-40DD-AFC4-6F175D3DCCD1}">
              <a14:hiddenFill xmlns:a14="http://schemas.microsoft.com/office/drawing/2010/main">
                <a:solidFill>
                  <a:srgbClr val="FFFFFF"/>
                </a:solidFill>
              </a14:hiddenFill>
            </a:ext>
          </a:extLst>
        </p:spPr>
      </p:pic>
      <p:cxnSp>
        <p:nvCxnSpPr>
          <p:cNvPr id="2063" name="Straight Connector 2062">
            <a:extLst>
              <a:ext uri="{FF2B5EF4-FFF2-40B4-BE49-F238E27FC236}">
                <a16:creationId xmlns:a16="http://schemas.microsoft.com/office/drawing/2014/main" id="{8AF9D138-2A50-4B26-B7AB-6D62CE1A9D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15300" y="747238"/>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2052" name="Picture 4">
            <a:extLst>
              <a:ext uri="{FF2B5EF4-FFF2-40B4-BE49-F238E27FC236}">
                <a16:creationId xmlns:a16="http://schemas.microsoft.com/office/drawing/2014/main" id="{0035C385-9A38-EB08-CD4F-8964B8CAE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7965" b="16475"/>
          <a:stretch>
            <a:fillRect/>
          </a:stretch>
        </p:blipFill>
        <p:spPr bwMode="auto">
          <a:xfrm>
            <a:off x="20" y="3429000"/>
            <a:ext cx="7315180"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32C94C21-D9F4-F904-01BD-B23D18B1A2D4}"/>
              </a:ext>
            </a:extLst>
          </p:cNvPr>
          <p:cNvSpPr/>
          <p:nvPr/>
        </p:nvSpPr>
        <p:spPr>
          <a:xfrm rot="19738209">
            <a:off x="2288444" y="1555256"/>
            <a:ext cx="2552700" cy="1033706"/>
          </a:xfrm>
          <a:prstGeom prst="ellipse">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09715B6-B427-FD43-8A33-BF55D6B07F5D}"/>
              </a:ext>
            </a:extLst>
          </p:cNvPr>
          <p:cNvSpPr/>
          <p:nvPr/>
        </p:nvSpPr>
        <p:spPr>
          <a:xfrm rot="19738209">
            <a:off x="2288443" y="4984248"/>
            <a:ext cx="2552700" cy="1033706"/>
          </a:xfrm>
          <a:prstGeom prst="ellipse">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8258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81E43-8C6E-2B2F-55D5-AE22160AA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EBA94-B0CB-1B0C-A28D-549E113506B6}"/>
              </a:ext>
            </a:extLst>
          </p:cNvPr>
          <p:cNvSpPr>
            <a:spLocks noGrp="1"/>
          </p:cNvSpPr>
          <p:nvPr>
            <p:ph type="title"/>
          </p:nvPr>
        </p:nvSpPr>
        <p:spPr>
          <a:xfrm>
            <a:off x="7270115" y="4342140"/>
            <a:ext cx="4570083" cy="1830060"/>
          </a:xfrm>
        </p:spPr>
        <p:txBody>
          <a:bodyPr>
            <a:normAutofit/>
          </a:bodyPr>
          <a:lstStyle/>
          <a:p>
            <a:r>
              <a:rPr lang="en-US" sz="2000" dirty="0"/>
              <a:t>Household compositions with highest food insecurity:</a:t>
            </a:r>
            <a:br>
              <a:rPr lang="en-US" sz="2000" dirty="0"/>
            </a:br>
            <a:r>
              <a:rPr lang="en-US" sz="1800" b="1" dirty="0">
                <a:solidFill>
                  <a:srgbClr val="FF0000"/>
                </a:solidFill>
              </a:rPr>
              <a:t>With children &lt; 18; Black non-Hispanic</a:t>
            </a:r>
            <a:br>
              <a:rPr lang="en-US" sz="1800" b="1" dirty="0">
                <a:solidFill>
                  <a:srgbClr val="FF0000"/>
                </a:solidFill>
              </a:rPr>
            </a:br>
            <a:r>
              <a:rPr lang="en-US" sz="1800" b="1" dirty="0">
                <a:solidFill>
                  <a:srgbClr val="FF0000"/>
                </a:solidFill>
              </a:rPr>
              <a:t>income-poverty ratio &lt; 1;</a:t>
            </a:r>
            <a:br>
              <a:rPr lang="en-US" sz="1800" b="1" dirty="0">
                <a:solidFill>
                  <a:srgbClr val="FF0000"/>
                </a:solidFill>
              </a:rPr>
            </a:br>
            <a:r>
              <a:rPr lang="en-US" sz="1800" b="1" dirty="0">
                <a:solidFill>
                  <a:srgbClr val="FF0000"/>
                </a:solidFill>
              </a:rPr>
              <a:t>outside metro area; southern US</a:t>
            </a:r>
            <a:endParaRPr lang="en-US" sz="2000" b="1" dirty="0"/>
          </a:p>
        </p:txBody>
      </p:sp>
      <p:pic>
        <p:nvPicPr>
          <p:cNvPr id="3074" name="Picture 2">
            <a:extLst>
              <a:ext uri="{FF2B5EF4-FFF2-40B4-BE49-F238E27FC236}">
                <a16:creationId xmlns:a16="http://schemas.microsoft.com/office/drawing/2014/main" id="{27F0424F-A439-9659-5D27-99E3B38EE9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1471"/>
          <a:stretch>
            <a:fillRect/>
          </a:stretch>
        </p:blipFill>
        <p:spPr bwMode="auto">
          <a:xfrm>
            <a:off x="809470" y="685800"/>
            <a:ext cx="3077205" cy="27432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3AB6CBBA-62F6-7B24-70F3-ECE91FE621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010" t="39111" b="49420"/>
          <a:stretch>
            <a:fillRect/>
          </a:stretch>
        </p:blipFill>
        <p:spPr bwMode="auto">
          <a:xfrm>
            <a:off x="7270115" y="3432740"/>
            <a:ext cx="2154238" cy="78653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99F98833-64DE-3FED-6425-6DB0914E51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1471"/>
          <a:stretch>
            <a:fillRect/>
          </a:stretch>
        </p:blipFill>
        <p:spPr bwMode="auto">
          <a:xfrm>
            <a:off x="4174832" y="685800"/>
            <a:ext cx="3077205" cy="27432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AAD43AD2-A7DA-3869-3CC5-5D69198587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1471"/>
          <a:stretch>
            <a:fillRect/>
          </a:stretch>
        </p:blipFill>
        <p:spPr bwMode="auto">
          <a:xfrm>
            <a:off x="7536478" y="685800"/>
            <a:ext cx="3077205" cy="27432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8B33C9D3-892A-986C-220E-B059F686F6D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21471"/>
          <a:stretch>
            <a:fillRect/>
          </a:stretch>
        </p:blipFill>
        <p:spPr bwMode="auto">
          <a:xfrm>
            <a:off x="831264" y="3429000"/>
            <a:ext cx="3077205" cy="274320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18FB6C8C-A102-B693-CCA6-E13DF33F88C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2394"/>
          <a:stretch>
            <a:fillRect/>
          </a:stretch>
        </p:blipFill>
        <p:spPr bwMode="auto">
          <a:xfrm>
            <a:off x="4192910" y="3429000"/>
            <a:ext cx="3041051" cy="2743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5DAEEFE-E6DE-614D-1F19-61B6CFDBCA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010" t="50580" b="40741"/>
          <a:stretch>
            <a:fillRect/>
          </a:stretch>
        </p:blipFill>
        <p:spPr bwMode="auto">
          <a:xfrm>
            <a:off x="8941899" y="3746915"/>
            <a:ext cx="2154238" cy="5952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2BD1EE8E-5BEB-3B9F-FBC1-42FC4F0761BB}"/>
              </a:ext>
            </a:extLst>
          </p:cNvPr>
          <p:cNvSpPr/>
          <p:nvPr/>
        </p:nvSpPr>
        <p:spPr>
          <a:xfrm>
            <a:off x="1143000" y="914400"/>
            <a:ext cx="807720" cy="2240280"/>
          </a:xfrm>
          <a:prstGeom prst="roundRect">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20C8CDF-4003-5344-BF1B-E18AFDD7A20C}"/>
              </a:ext>
            </a:extLst>
          </p:cNvPr>
          <p:cNvSpPr/>
          <p:nvPr/>
        </p:nvSpPr>
        <p:spPr>
          <a:xfrm>
            <a:off x="5836920" y="3680460"/>
            <a:ext cx="617220" cy="2217420"/>
          </a:xfrm>
          <a:prstGeom prst="roundRect">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2E1C54A3-2B89-5D4E-7915-EC3A704CFA1C}"/>
              </a:ext>
            </a:extLst>
          </p:cNvPr>
          <p:cNvSpPr/>
          <p:nvPr/>
        </p:nvSpPr>
        <p:spPr>
          <a:xfrm>
            <a:off x="2500212" y="3649980"/>
            <a:ext cx="1158240" cy="2247900"/>
          </a:xfrm>
          <a:prstGeom prst="roundRect">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D401D02-52E6-A442-E139-3FC59FEB024F}"/>
              </a:ext>
            </a:extLst>
          </p:cNvPr>
          <p:cNvSpPr/>
          <p:nvPr/>
        </p:nvSpPr>
        <p:spPr>
          <a:xfrm>
            <a:off x="8919038" y="894848"/>
            <a:ext cx="482455" cy="2240280"/>
          </a:xfrm>
          <a:prstGeom prst="roundRect">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2C4A2BC-AE82-E645-C7E9-059C111175F9}"/>
              </a:ext>
            </a:extLst>
          </p:cNvPr>
          <p:cNvSpPr/>
          <p:nvPr/>
        </p:nvSpPr>
        <p:spPr>
          <a:xfrm>
            <a:off x="4503211" y="914400"/>
            <a:ext cx="594569" cy="2240280"/>
          </a:xfrm>
          <a:prstGeom prst="roundRect">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618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ECE2D4-85E3-7765-D8E2-BBC85DCEC1C9}"/>
            </a:ext>
          </a:extLst>
        </p:cNvPr>
        <p:cNvGrpSpPr/>
        <p:nvPr/>
      </p:nvGrpSpPr>
      <p:grpSpPr>
        <a:xfrm>
          <a:off x="0" y="0"/>
          <a:ext cx="0" cy="0"/>
          <a:chOff x="0" y="0"/>
          <a:chExt cx="0" cy="0"/>
        </a:xfrm>
      </p:grpSpPr>
      <p:cxnSp>
        <p:nvCxnSpPr>
          <p:cNvPr id="4103" name="Straight Connector 410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05" name="Straight Connector 410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107" name="Rectangle 4106">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F9C846-C857-2362-AE11-A5ACB8013D61}"/>
              </a:ext>
            </a:extLst>
          </p:cNvPr>
          <p:cNvSpPr>
            <a:spLocks noGrp="1"/>
          </p:cNvSpPr>
          <p:nvPr>
            <p:ph type="title"/>
          </p:nvPr>
        </p:nvSpPr>
        <p:spPr>
          <a:xfrm>
            <a:off x="8138159" y="1177348"/>
            <a:ext cx="3330906" cy="3441068"/>
          </a:xfrm>
        </p:spPr>
        <p:txBody>
          <a:bodyPr vert="horz" lIns="91440" tIns="45720" rIns="91440" bIns="45720" rtlCol="0" anchor="t">
            <a:normAutofit/>
          </a:bodyPr>
          <a:lstStyle/>
          <a:p>
            <a:r>
              <a:rPr lang="en-US" sz="2000" b="1" dirty="0">
                <a:solidFill>
                  <a:srgbClr val="FF0000"/>
                </a:solidFill>
              </a:rPr>
              <a:t>Children from low food security households </a:t>
            </a:r>
            <a:r>
              <a:rPr lang="en-US" sz="2000" dirty="0"/>
              <a:t>suffer </a:t>
            </a:r>
            <a:r>
              <a:rPr lang="en-US" sz="2000" b="1" dirty="0">
                <a:solidFill>
                  <a:srgbClr val="FF0000"/>
                </a:solidFill>
              </a:rPr>
              <a:t>lower food security overall; </a:t>
            </a:r>
            <a:r>
              <a:rPr lang="en-US" sz="2000" b="1" u="sng" dirty="0"/>
              <a:t>indicating impact even outside of the household</a:t>
            </a:r>
          </a:p>
        </p:txBody>
      </p:sp>
      <p:cxnSp>
        <p:nvCxnSpPr>
          <p:cNvPr id="4109" name="Straight Connector 4108">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098" name="Picture 2">
            <a:extLst>
              <a:ext uri="{FF2B5EF4-FFF2-40B4-BE49-F238E27FC236}">
                <a16:creationId xmlns:a16="http://schemas.microsoft.com/office/drawing/2014/main" id="{0886EAF1-59BE-4EFC-6B59-0718DAA9040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611"/>
          <a:stretch>
            <a:fillRect/>
          </a:stretch>
        </p:blipFill>
        <p:spPr bwMode="auto">
          <a:xfrm>
            <a:off x="722935" y="1462470"/>
            <a:ext cx="7179970" cy="3937021"/>
          </a:xfrm>
          <a:prstGeom prst="rect">
            <a:avLst/>
          </a:prstGeom>
          <a:noFill/>
          <a:extLst>
            <a:ext uri="{909E8E84-426E-40DD-AFC4-6F175D3DCCD1}">
              <a14:hiddenFill xmlns:a14="http://schemas.microsoft.com/office/drawing/2010/main">
                <a:solidFill>
                  <a:srgbClr val="FFFFFF"/>
                </a:solidFill>
              </a14:hiddenFill>
            </a:ext>
          </a:extLst>
        </p:spPr>
      </p:pic>
      <p:cxnSp>
        <p:nvCxnSpPr>
          <p:cNvPr id="4111" name="Straight Connector 4110">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8A3113FA-D963-8164-F2A8-FD2185288007}"/>
              </a:ext>
            </a:extLst>
          </p:cNvPr>
          <p:cNvSpPr/>
          <p:nvPr/>
        </p:nvSpPr>
        <p:spPr>
          <a:xfrm rot="5400000">
            <a:off x="4548791" y="1773902"/>
            <a:ext cx="1425636" cy="4716781"/>
          </a:xfrm>
          <a:prstGeom prst="roundRect">
            <a:avLst>
              <a:gd name="adj" fmla="val 7981"/>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a:extLst>
              <a:ext uri="{FF2B5EF4-FFF2-40B4-BE49-F238E27FC236}">
                <a16:creationId xmlns:a16="http://schemas.microsoft.com/office/drawing/2014/main" id="{2A903FA7-8914-93AB-E8BF-7941F160DC6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000" t="37222" r="333" b="39306"/>
          <a:stretch>
            <a:fillRect/>
          </a:stretch>
        </p:blipFill>
        <p:spPr bwMode="auto">
          <a:xfrm>
            <a:off x="7731455" y="4813068"/>
            <a:ext cx="3607442" cy="1313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008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4F6E5-A134-5C0E-7746-3F35078159B2}"/>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F9034105-74E5-718C-DA6D-996B8A251D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028"/>
          <a:stretch>
            <a:fillRect/>
          </a:stretch>
        </p:blipFill>
        <p:spPr bwMode="auto">
          <a:xfrm>
            <a:off x="463646" y="685800"/>
            <a:ext cx="5025705" cy="27432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BDE41892-AED1-0A71-565D-2C82EAF7F6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056"/>
          <a:stretch>
            <a:fillRect/>
          </a:stretch>
        </p:blipFill>
        <p:spPr bwMode="auto">
          <a:xfrm>
            <a:off x="462652" y="3429000"/>
            <a:ext cx="4972575" cy="27432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A1C285B5-3F88-ABAD-36BF-781045A48E9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056"/>
          <a:stretch>
            <a:fillRect/>
          </a:stretch>
        </p:blipFill>
        <p:spPr bwMode="auto">
          <a:xfrm>
            <a:off x="5489351" y="685800"/>
            <a:ext cx="4972572"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FD5859D3-A136-A19F-B154-E268113A6C51}"/>
              </a:ext>
            </a:extLst>
          </p:cNvPr>
          <p:cNvSpPr>
            <a:spLocks noGrp="1"/>
          </p:cNvSpPr>
          <p:nvPr>
            <p:ph type="title"/>
          </p:nvPr>
        </p:nvSpPr>
        <p:spPr>
          <a:xfrm>
            <a:off x="7270115" y="4342140"/>
            <a:ext cx="4570083" cy="1830060"/>
          </a:xfrm>
        </p:spPr>
        <p:txBody>
          <a:bodyPr>
            <a:normAutofit/>
          </a:bodyPr>
          <a:lstStyle/>
          <a:p>
            <a:r>
              <a:rPr lang="en-US" sz="2000" dirty="0"/>
              <a:t>Individual status with highest food insecurity:</a:t>
            </a:r>
            <a:br>
              <a:rPr lang="en-US" sz="2000" dirty="0"/>
            </a:br>
            <a:r>
              <a:rPr lang="en-US" sz="1800" b="1" dirty="0">
                <a:solidFill>
                  <a:srgbClr val="FF0000"/>
                </a:solidFill>
              </a:rPr>
              <a:t>disabled;</a:t>
            </a:r>
            <a:br>
              <a:rPr lang="en-US" sz="1800" b="1" dirty="0">
                <a:solidFill>
                  <a:srgbClr val="FF0000"/>
                </a:solidFill>
              </a:rPr>
            </a:br>
            <a:r>
              <a:rPr lang="en-US" sz="1800" b="1" dirty="0">
                <a:solidFill>
                  <a:srgbClr val="FF0000"/>
                </a:solidFill>
              </a:rPr>
              <a:t>not working because of disability;</a:t>
            </a:r>
            <a:br>
              <a:rPr lang="en-US" sz="1800" b="1" dirty="0">
                <a:solidFill>
                  <a:srgbClr val="FF0000"/>
                </a:solidFill>
              </a:rPr>
            </a:br>
            <a:r>
              <a:rPr lang="en-US" sz="1800" b="1" dirty="0">
                <a:solidFill>
                  <a:srgbClr val="FF0000"/>
                </a:solidFill>
              </a:rPr>
              <a:t>has less than a high school degree</a:t>
            </a:r>
            <a:endParaRPr lang="en-US" sz="2000" b="1" dirty="0"/>
          </a:p>
        </p:txBody>
      </p:sp>
      <p:pic>
        <p:nvPicPr>
          <p:cNvPr id="6" name="Picture 2">
            <a:extLst>
              <a:ext uri="{FF2B5EF4-FFF2-40B4-BE49-F238E27FC236}">
                <a16:creationId xmlns:a16="http://schemas.microsoft.com/office/drawing/2014/main" id="{9733547D-B7A2-DA28-EAF1-379C1F07EC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596" t="92415" r="14999" b="1792"/>
          <a:stretch>
            <a:fillRect/>
          </a:stretch>
        </p:blipFill>
        <p:spPr bwMode="auto">
          <a:xfrm>
            <a:off x="5489351" y="3714120"/>
            <a:ext cx="4972573" cy="3429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38AF3874-B535-2FEC-345A-D75BB1CD2C1D}"/>
              </a:ext>
            </a:extLst>
          </p:cNvPr>
          <p:cNvSpPr/>
          <p:nvPr/>
        </p:nvSpPr>
        <p:spPr>
          <a:xfrm rot="5400000">
            <a:off x="3311058" y="1177458"/>
            <a:ext cx="304800" cy="3619163"/>
          </a:xfrm>
          <a:prstGeom prst="roundRect">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1997BD7-A713-ECA1-C8BF-FD75470C6FB3}"/>
              </a:ext>
            </a:extLst>
          </p:cNvPr>
          <p:cNvSpPr/>
          <p:nvPr/>
        </p:nvSpPr>
        <p:spPr>
          <a:xfrm rot="5400000">
            <a:off x="8275320" y="533399"/>
            <a:ext cx="472440" cy="3520442"/>
          </a:xfrm>
          <a:prstGeom prst="roundRect">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21E14B9C-625D-9022-8ACC-CF6FFDC5F6AD}"/>
              </a:ext>
            </a:extLst>
          </p:cNvPr>
          <p:cNvSpPr/>
          <p:nvPr/>
        </p:nvSpPr>
        <p:spPr>
          <a:xfrm rot="5400000">
            <a:off x="3055619" y="2560319"/>
            <a:ext cx="472440" cy="3825241"/>
          </a:xfrm>
          <a:prstGeom prst="roundRect">
            <a:avLst/>
          </a:prstGeom>
          <a:noFill/>
          <a:ln w="12700" cap="flat" cmpd="sng" algn="ctr">
            <a:solidFill>
              <a:srgbClr val="FF0000"/>
            </a:solidFill>
            <a:prstDash val="solid"/>
            <a:miter lim="800000"/>
          </a:ln>
          <a:effectLst>
            <a:glow rad="635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9229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73729-F71D-C168-3B5B-DB5DB08DB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D008C-8CED-5C4C-B7F0-F9A4DF548CCF}"/>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CAEEEC0-9CDE-33B1-8D4B-A42CE2911B62}"/>
              </a:ext>
            </a:extLst>
          </p:cNvPr>
          <p:cNvSpPr>
            <a:spLocks noGrp="1"/>
          </p:cNvSpPr>
          <p:nvPr>
            <p:ph idx="1"/>
          </p:nvPr>
        </p:nvSpPr>
        <p:spPr/>
        <p:txBody>
          <a:bodyPr>
            <a:noAutofit/>
          </a:bodyPr>
          <a:lstStyle/>
          <a:p>
            <a:r>
              <a:rPr lang="en-US" dirty="0"/>
              <a:t>Although developed countries, like the United States, boast in their advances in technology and way of living, they too, like all other nations, have not been able to quash the issue that is food insecurity</a:t>
            </a:r>
          </a:p>
          <a:p>
            <a:r>
              <a:rPr lang="en-US" dirty="0"/>
              <a:t>As we saw, there are specific individuals who suffer from food insecurity more than others; and these are the people assistance programs should be targeted towards</a:t>
            </a:r>
          </a:p>
          <a:p>
            <a:pPr lvl="1"/>
            <a:r>
              <a:rPr lang="en-US" dirty="0"/>
              <a:t>The south-central US</a:t>
            </a:r>
          </a:p>
          <a:p>
            <a:pPr lvl="1"/>
            <a:r>
              <a:rPr lang="en-US" dirty="0"/>
              <a:t>Black non-Hispanic impoverished households outside of metro areas with children under 18</a:t>
            </a:r>
          </a:p>
          <a:p>
            <a:pPr lvl="1"/>
            <a:r>
              <a:rPr lang="en-US" dirty="0"/>
              <a:t>Children who live in a food insecure household</a:t>
            </a:r>
          </a:p>
          <a:p>
            <a:pPr lvl="1"/>
            <a:r>
              <a:rPr lang="en-US" dirty="0"/>
              <a:t>Disabled individuals who do not work due to their disability</a:t>
            </a:r>
          </a:p>
          <a:p>
            <a:pPr lvl="1"/>
            <a:r>
              <a:rPr lang="en-US" dirty="0"/>
              <a:t>And those without a high school degree</a:t>
            </a:r>
          </a:p>
        </p:txBody>
      </p:sp>
    </p:spTree>
    <p:extLst>
      <p:ext uri="{BB962C8B-B14F-4D97-AF65-F5344CB8AC3E}">
        <p14:creationId xmlns:p14="http://schemas.microsoft.com/office/powerpoint/2010/main" val="3411048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75DEFB-9753-C688-F0CC-0E7FCAA42CEA}"/>
            </a:ext>
          </a:extLst>
        </p:cNvPr>
        <p:cNvGrpSpPr/>
        <p:nvPr/>
      </p:nvGrpSpPr>
      <p:grpSpPr>
        <a:xfrm>
          <a:off x="0" y="0"/>
          <a:ext cx="0" cy="0"/>
          <a:chOff x="0" y="0"/>
          <a:chExt cx="0" cy="0"/>
        </a:xfrm>
      </p:grpSpPr>
      <p:cxnSp>
        <p:nvCxnSpPr>
          <p:cNvPr id="6151" name="Straight Connector 615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53" name="Straight Connector 615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6155" name="Rectangle 615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E04DF8-1859-73A5-03C0-E93B0E15B21B}"/>
              </a:ext>
            </a:extLst>
          </p:cNvPr>
          <p:cNvSpPr>
            <a:spLocks noGrp="1"/>
          </p:cNvSpPr>
          <p:nvPr>
            <p:ph type="title"/>
          </p:nvPr>
        </p:nvSpPr>
        <p:spPr>
          <a:xfrm>
            <a:off x="8138159" y="1177348"/>
            <a:ext cx="3330906" cy="3441068"/>
          </a:xfrm>
        </p:spPr>
        <p:txBody>
          <a:bodyPr vert="horz" lIns="91440" tIns="45720" rIns="91440" bIns="45720" rtlCol="0" anchor="t">
            <a:normAutofit/>
          </a:bodyPr>
          <a:lstStyle/>
          <a:p>
            <a:r>
              <a:rPr lang="en-US" sz="4200"/>
              <a:t>Thank you for your attention and support</a:t>
            </a:r>
          </a:p>
        </p:txBody>
      </p:sp>
      <p:cxnSp>
        <p:nvCxnSpPr>
          <p:cNvPr id="6157" name="Straight Connector 615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8E0E9E3F-E197-CD20-AAB4-EFBF18D5281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2935" y="909016"/>
            <a:ext cx="7179970" cy="5043928"/>
          </a:xfrm>
          <a:prstGeom prst="rect">
            <a:avLst/>
          </a:prstGeom>
          <a:noFill/>
          <a:extLst>
            <a:ext uri="{909E8E84-426E-40DD-AFC4-6F175D3DCCD1}">
              <a14:hiddenFill xmlns:a14="http://schemas.microsoft.com/office/drawing/2010/main">
                <a:solidFill>
                  <a:srgbClr val="FFFFFF"/>
                </a:solidFill>
              </a14:hiddenFill>
            </a:ext>
          </a:extLst>
        </p:spPr>
      </p:pic>
      <p:cxnSp>
        <p:nvCxnSpPr>
          <p:cNvPr id="6159" name="Straight Connector 6158">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6795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DDE11-AB1E-213B-58BD-0C1E6D61D8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948BB-FF40-FFC5-9DDC-107D187BA82B}"/>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F774F8A6-5994-E2DA-B877-B25C4A7FDC55}"/>
              </a:ext>
            </a:extLst>
          </p:cNvPr>
          <p:cNvSpPr>
            <a:spLocks noGrp="1"/>
          </p:cNvSpPr>
          <p:nvPr>
            <p:ph idx="1"/>
          </p:nvPr>
        </p:nvSpPr>
        <p:spPr/>
        <p:txBody>
          <a:bodyPr/>
          <a:lstStyle/>
          <a:p>
            <a:pPr marL="0" indent="0">
              <a:buNone/>
            </a:pPr>
            <a:r>
              <a:rPr lang="en-US" dirty="0"/>
              <a:t>Food Insecurity Data:</a:t>
            </a:r>
          </a:p>
          <a:p>
            <a:pPr marL="0" indent="0">
              <a:buNone/>
            </a:pPr>
            <a:r>
              <a:rPr lang="en-US" dirty="0"/>
              <a:t>https://www.ers.usda.gov/topics/food-nutrition-assistance/food-security-in-the-us/interactive-charts-and-highlights#States</a:t>
            </a:r>
          </a:p>
        </p:txBody>
      </p:sp>
    </p:spTree>
    <p:extLst>
      <p:ext uri="{BB962C8B-B14F-4D97-AF65-F5344CB8AC3E}">
        <p14:creationId xmlns:p14="http://schemas.microsoft.com/office/powerpoint/2010/main" val="221787245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83</TotalTime>
  <Words>407</Words>
  <Application>Microsoft Office PowerPoint</Application>
  <PresentationFormat>Widescreen</PresentationFormat>
  <Paragraphs>27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Calisto MT</vt:lpstr>
      <vt:lpstr>Univers Condensed</vt:lpstr>
      <vt:lpstr>ChronicleVTI</vt:lpstr>
      <vt:lpstr>DATA608 Assignment 6</vt:lpstr>
      <vt:lpstr>Prompt</vt:lpstr>
      <vt:lpstr>prelude</vt:lpstr>
      <vt:lpstr>South central us shows greatest signs of food insecurity with coastal regions showing the least</vt:lpstr>
      <vt:lpstr>Household compositions with highest food insecurity: With children &lt; 18; Black non-Hispanic income-poverty ratio &lt; 1; outside metro area; southern US</vt:lpstr>
      <vt:lpstr>Children from low food security households suffer lower food security overall; indicating impact even outside of the household</vt:lpstr>
      <vt:lpstr>Individual status with highest food insecurity: disabled; not working because of disability; has less than a high school degree</vt:lpstr>
      <vt:lpstr>Conclusion</vt:lpstr>
      <vt:lpstr>Thank you for your attention and support</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Gonzalez</dc:creator>
  <cp:lastModifiedBy>Steven Gonzalez</cp:lastModifiedBy>
  <cp:revision>2</cp:revision>
  <dcterms:created xsi:type="dcterms:W3CDTF">2026-05-27T10:09:11Z</dcterms:created>
  <dcterms:modified xsi:type="dcterms:W3CDTF">2026-05-27T11:33:06Z</dcterms:modified>
</cp:coreProperties>
</file>